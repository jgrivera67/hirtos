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5" r:id="rId4"/>
  </p:sldMasterIdLst>
  <p:notesMasterIdLst>
    <p:notesMasterId r:id="rId34"/>
  </p:notesMasterIdLst>
  <p:handoutMasterIdLst>
    <p:handoutMasterId r:id="rId35"/>
  </p:handoutMasterIdLst>
  <p:sldIdLst>
    <p:sldId id="267" r:id="rId5"/>
    <p:sldId id="259" r:id="rId6"/>
    <p:sldId id="275" r:id="rId7"/>
    <p:sldId id="276" r:id="rId8"/>
    <p:sldId id="281" r:id="rId9"/>
    <p:sldId id="285" r:id="rId10"/>
    <p:sldId id="286" r:id="rId11"/>
    <p:sldId id="296" r:id="rId12"/>
    <p:sldId id="316" r:id="rId13"/>
    <p:sldId id="310" r:id="rId14"/>
    <p:sldId id="311" r:id="rId15"/>
    <p:sldId id="312" r:id="rId16"/>
    <p:sldId id="306" r:id="rId17"/>
    <p:sldId id="309" r:id="rId18"/>
    <p:sldId id="315" r:id="rId19"/>
    <p:sldId id="307" r:id="rId20"/>
    <p:sldId id="298" r:id="rId21"/>
    <p:sldId id="299" r:id="rId22"/>
    <p:sldId id="300" r:id="rId23"/>
    <p:sldId id="301" r:id="rId24"/>
    <p:sldId id="302" r:id="rId25"/>
    <p:sldId id="303" r:id="rId26"/>
    <p:sldId id="279" r:id="rId27"/>
    <p:sldId id="287" r:id="rId28"/>
    <p:sldId id="288" r:id="rId29"/>
    <p:sldId id="313" r:id="rId30"/>
    <p:sldId id="314" r:id="rId31"/>
    <p:sldId id="308" r:id="rId32"/>
    <p:sldId id="305" r:id="rId33"/>
  </p:sldIdLst>
  <p:sldSz cx="24387175"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g Zhang （张婧）" initials="JZ（" lastIdx="1" clrIdx="0">
    <p:extLst>
      <p:ext uri="{19B8F6BF-5375-455C-9EA6-DF929625EA0E}">
        <p15:presenceInfo xmlns:p15="http://schemas.microsoft.com/office/powerpoint/2012/main" userId="S::jingzh@tesla.com::7d4a7a3f-165d-4d9a-96ec-4cba4ea122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6"/>
    <p:restoredTop sz="69955"/>
  </p:normalViewPr>
  <p:slideViewPr>
    <p:cSldViewPr snapToObjects="1">
      <p:cViewPr varScale="1">
        <p:scale>
          <a:sx n="39" d="100"/>
          <a:sy n="39" d="100"/>
        </p:scale>
        <p:origin x="1392" y="192"/>
      </p:cViewPr>
      <p:guideLst/>
    </p:cSldViewPr>
  </p:slideViewPr>
  <p:notesTextViewPr>
    <p:cViewPr>
      <p:scale>
        <a:sx n="1" d="1"/>
        <a:sy n="1" d="1"/>
      </p:scale>
      <p:origin x="0" y="0"/>
    </p:cViewPr>
  </p:notesTextViewPr>
  <p:sorterViewPr>
    <p:cViewPr>
      <p:scale>
        <a:sx n="66" d="100"/>
        <a:sy n="66" d="100"/>
      </p:scale>
      <p:origin x="0" y="0"/>
    </p:cViewPr>
  </p:sorterViewPr>
  <p:notesViewPr>
    <p:cSldViewPr snapToObjects="1">
      <p:cViewPr varScale="1">
        <p:scale>
          <a:sx n="107" d="100"/>
          <a:sy n="107" d="100"/>
        </p:scale>
        <p:origin x="48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0B8F60-1C85-0946-B2B9-6621BFE027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a:extLst>
              <a:ext uri="{FF2B5EF4-FFF2-40B4-BE49-F238E27FC236}">
                <a16:creationId xmlns:a16="http://schemas.microsoft.com/office/drawing/2014/main" id="{0C6EBD8F-60F6-D44A-90A7-DAA50E99C4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18D0FC-A7DE-D341-A6DA-50355FD0D858}" type="datetimeFigureOut">
              <a:rPr lang="en-NL" smtClean="0"/>
              <a:t>6/12/24</a:t>
            </a:fld>
            <a:endParaRPr lang="en-NL"/>
          </a:p>
        </p:txBody>
      </p:sp>
      <p:sp>
        <p:nvSpPr>
          <p:cNvPr id="4" name="Footer Placeholder 3">
            <a:extLst>
              <a:ext uri="{FF2B5EF4-FFF2-40B4-BE49-F238E27FC236}">
                <a16:creationId xmlns:a16="http://schemas.microsoft.com/office/drawing/2014/main" id="{C103E688-94C3-E542-93BA-DE77F63567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5" name="Slide Number Placeholder 4">
            <a:extLst>
              <a:ext uri="{FF2B5EF4-FFF2-40B4-BE49-F238E27FC236}">
                <a16:creationId xmlns:a16="http://schemas.microsoft.com/office/drawing/2014/main" id="{2E0E650E-A42F-124F-AB07-C68B849A99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714DBC-D057-CF46-BED6-EA0E02C46362}" type="slidenum">
              <a:rPr lang="en-NL" smtClean="0"/>
              <a:t>‹#›</a:t>
            </a:fld>
            <a:endParaRPr lang="en-NL"/>
          </a:p>
        </p:txBody>
      </p:sp>
    </p:spTree>
    <p:extLst>
      <p:ext uri="{BB962C8B-B14F-4D97-AF65-F5344CB8AC3E}">
        <p14:creationId xmlns:p14="http://schemas.microsoft.com/office/powerpoint/2010/main" val="18052829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9B897-F909-0C4C-A47A-C951516157B7}" type="datetimeFigureOut">
              <a:rPr lang="en-US" smtClean="0"/>
              <a:t>6/12/24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7EE7F3-C707-8046-A269-67A9724BD78E}" type="slidenum">
              <a:rPr lang="en-US" smtClean="0"/>
              <a:t>‹#›</a:t>
            </a:fld>
            <a:endParaRPr lang="en-US"/>
          </a:p>
        </p:txBody>
      </p:sp>
    </p:spTree>
    <p:extLst>
      <p:ext uri="{BB962C8B-B14F-4D97-AF65-F5344CB8AC3E}">
        <p14:creationId xmlns:p14="http://schemas.microsoft.com/office/powerpoint/2010/main" val="1263633392"/>
      </p:ext>
    </p:extLst>
  </p:cSld>
  <p:clrMap bg1="lt1" tx1="dk1" bg2="lt2" tx2="dk2" accent1="accent1" accent2="accent2" accent3="accent3" accent4="accent4" accent5="accent5" accent6="accent6" hlink="hlink" folHlink="folHlink"/>
  <p:notesStyle>
    <a:lvl1pPr marL="0" algn="l" defTabSz="1828519" rtl="0" eaLnBrk="1" latinLnBrk="0" hangingPunct="1">
      <a:defRPr sz="2400" kern="1200">
        <a:solidFill>
          <a:schemeClr val="tx1"/>
        </a:solidFill>
        <a:latin typeface="+mn-lt"/>
        <a:ea typeface="+mn-ea"/>
        <a:cs typeface="+mn-cs"/>
      </a:defRPr>
    </a:lvl1pPr>
    <a:lvl2pPr marL="914260" algn="l" defTabSz="1828519" rtl="0" eaLnBrk="1" latinLnBrk="0" hangingPunct="1">
      <a:defRPr sz="2400" kern="1200">
        <a:solidFill>
          <a:schemeClr val="tx1"/>
        </a:solidFill>
        <a:latin typeface="+mn-lt"/>
        <a:ea typeface="+mn-ea"/>
        <a:cs typeface="+mn-cs"/>
      </a:defRPr>
    </a:lvl2pPr>
    <a:lvl3pPr marL="1828519" algn="l" defTabSz="1828519" rtl="0" eaLnBrk="1" latinLnBrk="0" hangingPunct="1">
      <a:defRPr sz="2400" kern="1200">
        <a:solidFill>
          <a:schemeClr val="tx1"/>
        </a:solidFill>
        <a:latin typeface="+mn-lt"/>
        <a:ea typeface="+mn-ea"/>
        <a:cs typeface="+mn-cs"/>
      </a:defRPr>
    </a:lvl3pPr>
    <a:lvl4pPr marL="2742781" algn="l" defTabSz="1828519" rtl="0" eaLnBrk="1" latinLnBrk="0" hangingPunct="1">
      <a:defRPr sz="2400" kern="1200">
        <a:solidFill>
          <a:schemeClr val="tx1"/>
        </a:solidFill>
        <a:latin typeface="+mn-lt"/>
        <a:ea typeface="+mn-ea"/>
        <a:cs typeface="+mn-cs"/>
      </a:defRPr>
    </a:lvl4pPr>
    <a:lvl5pPr marL="3657041" algn="l" defTabSz="1828519" rtl="0" eaLnBrk="1" latinLnBrk="0" hangingPunct="1">
      <a:defRPr sz="2400" kern="1200">
        <a:solidFill>
          <a:schemeClr val="tx1"/>
        </a:solidFill>
        <a:latin typeface="+mn-lt"/>
        <a:ea typeface="+mn-ea"/>
        <a:cs typeface="+mn-cs"/>
      </a:defRPr>
    </a:lvl5pPr>
    <a:lvl6pPr marL="4571301" algn="l" defTabSz="1828519" rtl="0" eaLnBrk="1" latinLnBrk="0" hangingPunct="1">
      <a:defRPr sz="2400" kern="1200">
        <a:solidFill>
          <a:schemeClr val="tx1"/>
        </a:solidFill>
        <a:latin typeface="+mn-lt"/>
        <a:ea typeface="+mn-ea"/>
        <a:cs typeface="+mn-cs"/>
      </a:defRPr>
    </a:lvl6pPr>
    <a:lvl7pPr marL="5485562" algn="l" defTabSz="1828519" rtl="0" eaLnBrk="1" latinLnBrk="0" hangingPunct="1">
      <a:defRPr sz="2400" kern="1200">
        <a:solidFill>
          <a:schemeClr val="tx1"/>
        </a:solidFill>
        <a:latin typeface="+mn-lt"/>
        <a:ea typeface="+mn-ea"/>
        <a:cs typeface="+mn-cs"/>
      </a:defRPr>
    </a:lvl7pPr>
    <a:lvl8pPr marL="6399822" algn="l" defTabSz="1828519" rtl="0" eaLnBrk="1" latinLnBrk="0" hangingPunct="1">
      <a:defRPr sz="2400" kern="1200">
        <a:solidFill>
          <a:schemeClr val="tx1"/>
        </a:solidFill>
        <a:latin typeface="+mn-lt"/>
        <a:ea typeface="+mn-ea"/>
        <a:cs typeface="+mn-cs"/>
      </a:defRPr>
    </a:lvl8pPr>
    <a:lvl9pPr marL="7314082" algn="l" defTabSz="1828519"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6</a:t>
            </a:fld>
            <a:endParaRPr lang="en-US"/>
          </a:p>
        </p:txBody>
      </p:sp>
    </p:spTree>
    <p:extLst>
      <p:ext uri="{BB962C8B-B14F-4D97-AF65-F5344CB8AC3E}">
        <p14:creationId xmlns:p14="http://schemas.microsoft.com/office/powerpoint/2010/main" val="44017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7</a:t>
            </a:fld>
            <a:endParaRPr lang="en-US"/>
          </a:p>
        </p:txBody>
      </p:sp>
    </p:spTree>
    <p:extLst>
      <p:ext uri="{BB962C8B-B14F-4D97-AF65-F5344CB8AC3E}">
        <p14:creationId xmlns:p14="http://schemas.microsoft.com/office/powerpoint/2010/main" val="1668174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8</a:t>
            </a:fld>
            <a:endParaRPr lang="en-US"/>
          </a:p>
        </p:txBody>
      </p:sp>
    </p:spTree>
    <p:extLst>
      <p:ext uri="{BB962C8B-B14F-4D97-AF65-F5344CB8AC3E}">
        <p14:creationId xmlns:p14="http://schemas.microsoft.com/office/powerpoint/2010/main" val="3994117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9</a:t>
            </a:fld>
            <a:endParaRPr lang="en-US"/>
          </a:p>
        </p:txBody>
      </p:sp>
    </p:spTree>
    <p:extLst>
      <p:ext uri="{BB962C8B-B14F-4D97-AF65-F5344CB8AC3E}">
        <p14:creationId xmlns:p14="http://schemas.microsoft.com/office/powerpoint/2010/main" val="3757200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10</a:t>
            </a:fld>
            <a:endParaRPr lang="en-US"/>
          </a:p>
        </p:txBody>
      </p:sp>
    </p:spTree>
    <p:extLst>
      <p:ext uri="{BB962C8B-B14F-4D97-AF65-F5344CB8AC3E}">
        <p14:creationId xmlns:p14="http://schemas.microsoft.com/office/powerpoint/2010/main" val="3419377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11</a:t>
            </a:fld>
            <a:endParaRPr lang="en-US"/>
          </a:p>
        </p:txBody>
      </p:sp>
    </p:spTree>
    <p:extLst>
      <p:ext uri="{BB962C8B-B14F-4D97-AF65-F5344CB8AC3E}">
        <p14:creationId xmlns:p14="http://schemas.microsoft.com/office/powerpoint/2010/main" val="3406479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12</a:t>
            </a:fld>
            <a:endParaRPr lang="en-US"/>
          </a:p>
        </p:txBody>
      </p:sp>
    </p:spTree>
    <p:extLst>
      <p:ext uri="{BB962C8B-B14F-4D97-AF65-F5344CB8AC3E}">
        <p14:creationId xmlns:p14="http://schemas.microsoft.com/office/powerpoint/2010/main" val="305907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13</a:t>
            </a:fld>
            <a:endParaRPr lang="en-US"/>
          </a:p>
        </p:txBody>
      </p:sp>
    </p:spTree>
    <p:extLst>
      <p:ext uri="{BB962C8B-B14F-4D97-AF65-F5344CB8AC3E}">
        <p14:creationId xmlns:p14="http://schemas.microsoft.com/office/powerpoint/2010/main" val="3374479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14</a:t>
            </a:fld>
            <a:endParaRPr lang="en-US"/>
          </a:p>
        </p:txBody>
      </p:sp>
    </p:spTree>
    <p:extLst>
      <p:ext uri="{BB962C8B-B14F-4D97-AF65-F5344CB8AC3E}">
        <p14:creationId xmlns:p14="http://schemas.microsoft.com/office/powerpoint/2010/main" val="2052702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15</a:t>
            </a:fld>
            <a:endParaRPr lang="en-US"/>
          </a:p>
        </p:txBody>
      </p:sp>
    </p:spTree>
    <p:extLst>
      <p:ext uri="{BB962C8B-B14F-4D97-AF65-F5344CB8AC3E}">
        <p14:creationId xmlns:p14="http://schemas.microsoft.com/office/powerpoint/2010/main" val="2362137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16</a:t>
            </a:fld>
            <a:endParaRPr lang="en-US"/>
          </a:p>
        </p:txBody>
      </p:sp>
    </p:spTree>
    <p:extLst>
      <p:ext uri="{BB962C8B-B14F-4D97-AF65-F5344CB8AC3E}">
        <p14:creationId xmlns:p14="http://schemas.microsoft.com/office/powerpoint/2010/main" val="2325189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17</a:t>
            </a:fld>
            <a:endParaRPr lang="en-US"/>
          </a:p>
        </p:txBody>
      </p:sp>
    </p:spTree>
    <p:extLst>
      <p:ext uri="{BB962C8B-B14F-4D97-AF65-F5344CB8AC3E}">
        <p14:creationId xmlns:p14="http://schemas.microsoft.com/office/powerpoint/2010/main" val="349467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18</a:t>
            </a:fld>
            <a:endParaRPr lang="en-US"/>
          </a:p>
        </p:txBody>
      </p:sp>
    </p:spTree>
    <p:extLst>
      <p:ext uri="{BB962C8B-B14F-4D97-AF65-F5344CB8AC3E}">
        <p14:creationId xmlns:p14="http://schemas.microsoft.com/office/powerpoint/2010/main" val="3726030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19</a:t>
            </a:fld>
            <a:endParaRPr lang="en-US"/>
          </a:p>
        </p:txBody>
      </p:sp>
    </p:spTree>
    <p:extLst>
      <p:ext uri="{BB962C8B-B14F-4D97-AF65-F5344CB8AC3E}">
        <p14:creationId xmlns:p14="http://schemas.microsoft.com/office/powerpoint/2010/main" val="1510023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20</a:t>
            </a:fld>
            <a:endParaRPr lang="en-US"/>
          </a:p>
        </p:txBody>
      </p:sp>
    </p:spTree>
    <p:extLst>
      <p:ext uri="{BB962C8B-B14F-4D97-AF65-F5344CB8AC3E}">
        <p14:creationId xmlns:p14="http://schemas.microsoft.com/office/powerpoint/2010/main" val="1558043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21</a:t>
            </a:fld>
            <a:endParaRPr lang="en-US"/>
          </a:p>
        </p:txBody>
      </p:sp>
    </p:spTree>
    <p:extLst>
      <p:ext uri="{BB962C8B-B14F-4D97-AF65-F5344CB8AC3E}">
        <p14:creationId xmlns:p14="http://schemas.microsoft.com/office/powerpoint/2010/main" val="3315475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22</a:t>
            </a:fld>
            <a:endParaRPr lang="en-US"/>
          </a:p>
        </p:txBody>
      </p:sp>
    </p:spTree>
    <p:extLst>
      <p:ext uri="{BB962C8B-B14F-4D97-AF65-F5344CB8AC3E}">
        <p14:creationId xmlns:p14="http://schemas.microsoft.com/office/powerpoint/2010/main" val="512994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25</a:t>
            </a:fld>
            <a:endParaRPr lang="en-US"/>
          </a:p>
        </p:txBody>
      </p:sp>
    </p:spTree>
    <p:extLst>
      <p:ext uri="{BB962C8B-B14F-4D97-AF65-F5344CB8AC3E}">
        <p14:creationId xmlns:p14="http://schemas.microsoft.com/office/powerpoint/2010/main" val="2231328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26</a:t>
            </a:fld>
            <a:endParaRPr lang="en-US"/>
          </a:p>
        </p:txBody>
      </p:sp>
    </p:spTree>
    <p:extLst>
      <p:ext uri="{BB962C8B-B14F-4D97-AF65-F5344CB8AC3E}">
        <p14:creationId xmlns:p14="http://schemas.microsoft.com/office/powerpoint/2010/main" val="40099668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27</a:t>
            </a:fld>
            <a:endParaRPr lang="en-US"/>
          </a:p>
        </p:txBody>
      </p:sp>
    </p:spTree>
    <p:extLst>
      <p:ext uri="{BB962C8B-B14F-4D97-AF65-F5344CB8AC3E}">
        <p14:creationId xmlns:p14="http://schemas.microsoft.com/office/powerpoint/2010/main" val="2978557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28</a:t>
            </a:fld>
            <a:endParaRPr lang="en-US"/>
          </a:p>
        </p:txBody>
      </p:sp>
    </p:spTree>
    <p:extLst>
      <p:ext uri="{BB962C8B-B14F-4D97-AF65-F5344CB8AC3E}">
        <p14:creationId xmlns:p14="http://schemas.microsoft.com/office/powerpoint/2010/main" val="1433755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42FC140C-6FEA-3947-8BF0-FE2059DBDB1B}"/>
              </a:ext>
            </a:extLst>
          </p:cNvPr>
          <p:cNvSpPr txBox="1">
            <a:spLocks/>
          </p:cNvSpPr>
          <p:nvPr userDrawn="1"/>
        </p:nvSpPr>
        <p:spPr>
          <a:xfrm>
            <a:off x="23299914" y="12978551"/>
            <a:ext cx="1453069" cy="698500"/>
          </a:xfrm>
          <a:prstGeom prst="rect">
            <a:avLst/>
          </a:prstGeom>
        </p:spPr>
        <p:txBody>
          <a:bodyPr vert="horz" lIns="182880" tIns="91440" rIns="182880" bIns="9144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82D5D8DC-9473-3845-81D6-4BCA6EEE8B1B}" type="slidenum">
              <a:rPr lang="en-US" sz="1600" smtClean="0">
                <a:latin typeface="Helvetica" pitchFamily="2" charset="0"/>
                <a:ea typeface="Helvetica Neue" panose="02000503000000020004" pitchFamily="2" charset="0"/>
                <a:cs typeface="Helvetica Neue" panose="02000503000000020004" pitchFamily="2" charset="0"/>
              </a:rPr>
              <a:pPr algn="l"/>
              <a:t>‹#›</a:t>
            </a:fld>
            <a:endParaRPr lang="en-US" sz="1600" dirty="0">
              <a:latin typeface="Helvetica" pitchFamily="2" charset="0"/>
              <a:ea typeface="Helvetica Neue" panose="02000503000000020004" pitchFamily="2" charset="0"/>
              <a:cs typeface="Helvetica Neue" panose="02000503000000020004" pitchFamily="2" charset="0"/>
            </a:endParaRPr>
          </a:p>
        </p:txBody>
      </p:sp>
      <p:sp>
        <p:nvSpPr>
          <p:cNvPr id="2" name="Slide Number Placeholder 5">
            <a:extLst>
              <a:ext uri="{FF2B5EF4-FFF2-40B4-BE49-F238E27FC236}">
                <a16:creationId xmlns:a16="http://schemas.microsoft.com/office/drawing/2014/main" id="{6178B08E-65B1-F289-9453-306B71851766}"/>
              </a:ext>
            </a:extLst>
          </p:cNvPr>
          <p:cNvSpPr txBox="1">
            <a:spLocks/>
          </p:cNvSpPr>
          <p:nvPr userDrawn="1"/>
        </p:nvSpPr>
        <p:spPr>
          <a:xfrm>
            <a:off x="8993187" y="13017500"/>
            <a:ext cx="8225871" cy="698500"/>
          </a:xfrm>
          <a:prstGeom prst="rect">
            <a:avLst/>
          </a:prstGeom>
        </p:spPr>
        <p:txBody>
          <a:bodyPr vert="horz" lIns="182880" tIns="91440" rIns="182880" bIns="9144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dirty="0" err="1">
                <a:latin typeface="Helvetica" pitchFamily="2" charset="0"/>
                <a:ea typeface="Helvetica Neue" panose="02000503000000020004" pitchFamily="2" charset="0"/>
                <a:cs typeface="Helvetica Neue" panose="02000503000000020004" pitchFamily="2" charset="0"/>
              </a:rPr>
              <a:t>HiRTOS</a:t>
            </a:r>
            <a:r>
              <a:rPr lang="en-US" sz="1600" dirty="0">
                <a:latin typeface="Helvetica" pitchFamily="2" charset="0"/>
                <a:ea typeface="Helvetica Neue" panose="02000503000000020004" pitchFamily="2" charset="0"/>
                <a:cs typeface="Helvetica Neue" panose="02000503000000020004" pitchFamily="2" charset="0"/>
              </a:rPr>
              <a:t>: A Multi-Core RTOS written in SPARK Ada - ©️ J. Germán Rivera </a:t>
            </a:r>
          </a:p>
        </p:txBody>
      </p:sp>
    </p:spTree>
    <p:extLst>
      <p:ext uri="{BB962C8B-B14F-4D97-AF65-F5344CB8AC3E}">
        <p14:creationId xmlns:p14="http://schemas.microsoft.com/office/powerpoint/2010/main" val="3062529340"/>
      </p:ext>
    </p:extLst>
  </p:cSld>
  <p:clrMapOvr>
    <a:masterClrMapping/>
  </p:clrMapOvr>
  <p:extLst>
    <p:ext uri="{DCECCB84-F9BA-43D5-87BE-67443E8EF086}">
      <p15:sldGuideLst xmlns:p15="http://schemas.microsoft.com/office/powerpoint/2012/main">
        <p15:guide id="7" orient="horz" pos="8112" userDrawn="1">
          <p15:clr>
            <a:srgbClr val="FBAE40"/>
          </p15:clr>
        </p15:guide>
        <p15:guide id="10" orient="horz" pos="480" userDrawn="1">
          <p15:clr>
            <a:srgbClr val="FBAE40"/>
          </p15:clr>
        </p15:guide>
        <p15:guide id="11" pos="14929" userDrawn="1">
          <p15:clr>
            <a:srgbClr val="FBAE40"/>
          </p15:clr>
        </p15:guide>
        <p15:guide id="12" pos="4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id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18A1-DFF2-EF4B-AC0E-CDDD3C2394E3}"/>
              </a:ext>
            </a:extLst>
          </p:cNvPr>
          <p:cNvSpPr/>
          <p:nvPr userDrawn="1"/>
        </p:nvSpPr>
        <p:spPr>
          <a:xfrm>
            <a:off x="9901006"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6498325-F377-7040-A81C-7C377EAF1785}"/>
              </a:ext>
            </a:extLst>
          </p:cNvPr>
          <p:cNvSpPr/>
          <p:nvPr userDrawn="1"/>
        </p:nvSpPr>
        <p:spPr>
          <a:xfrm>
            <a:off x="14489143" y="48125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1533AF2-3076-E644-B0C2-D63461A337E4}"/>
              </a:ext>
            </a:extLst>
          </p:cNvPr>
          <p:cNvSpPr/>
          <p:nvPr userDrawn="1"/>
        </p:nvSpPr>
        <p:spPr>
          <a:xfrm>
            <a:off x="9896784" y="8873078"/>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26605E1-1213-C940-8DCB-9B2E378D250C}"/>
              </a:ext>
            </a:extLst>
          </p:cNvPr>
          <p:cNvSpPr/>
          <p:nvPr userDrawn="1"/>
        </p:nvSpPr>
        <p:spPr>
          <a:xfrm>
            <a:off x="5327292" y="480876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950B0DD-A8BE-C240-BD4E-8EF473B38828}"/>
              </a:ext>
            </a:extLst>
          </p:cNvPr>
          <p:cNvSpPr/>
          <p:nvPr userDrawn="1"/>
        </p:nvSpPr>
        <p:spPr>
          <a:xfrm>
            <a:off x="5327292"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5F515C5-1AE4-954A-8273-B7F57BD2C43E}"/>
              </a:ext>
            </a:extLst>
          </p:cNvPr>
          <p:cNvSpPr/>
          <p:nvPr userDrawn="1"/>
        </p:nvSpPr>
        <p:spPr>
          <a:xfrm>
            <a:off x="9901007" y="480876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BD6935D-1E56-3E4F-B567-BF61568AA972}"/>
              </a:ext>
            </a:extLst>
          </p:cNvPr>
          <p:cNvSpPr/>
          <p:nvPr userDrawn="1"/>
        </p:nvSpPr>
        <p:spPr>
          <a:xfrm>
            <a:off x="14474721"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F83DD17-6AED-EC42-B12F-8C27D14CEF90}"/>
              </a:ext>
            </a:extLst>
          </p:cNvPr>
          <p:cNvSpPr/>
          <p:nvPr userDrawn="1"/>
        </p:nvSpPr>
        <p:spPr>
          <a:xfrm>
            <a:off x="5327292"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93B2EB-BB8D-2A41-9490-178E57EB18FA}"/>
              </a:ext>
            </a:extLst>
          </p:cNvPr>
          <p:cNvSpPr/>
          <p:nvPr userDrawn="1"/>
        </p:nvSpPr>
        <p:spPr>
          <a:xfrm>
            <a:off x="14474721"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755CF9E-68BD-184C-BA4C-352088E2EF8F}"/>
              </a:ext>
            </a:extLst>
          </p:cNvPr>
          <p:cNvSpPr/>
          <p:nvPr userDrawn="1"/>
        </p:nvSpPr>
        <p:spPr>
          <a:xfrm>
            <a:off x="19048436"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5E9A80-B07B-7F49-93E8-78E183A8550B}"/>
              </a:ext>
            </a:extLst>
          </p:cNvPr>
          <p:cNvSpPr/>
          <p:nvPr userDrawn="1"/>
        </p:nvSpPr>
        <p:spPr>
          <a:xfrm>
            <a:off x="19062858" y="4814029"/>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2FE489-AD8C-E642-9C9B-457DB02C0A18}"/>
              </a:ext>
            </a:extLst>
          </p:cNvPr>
          <p:cNvSpPr/>
          <p:nvPr userDrawn="1"/>
        </p:nvSpPr>
        <p:spPr>
          <a:xfrm>
            <a:off x="19048436"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499D8D3-87FC-FF42-A248-6EB970232E38}"/>
              </a:ext>
            </a:extLst>
          </p:cNvPr>
          <p:cNvSpPr/>
          <p:nvPr userDrawn="1"/>
        </p:nvSpPr>
        <p:spPr>
          <a:xfrm>
            <a:off x="753577" y="480876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54377B0-06EE-4047-A0F1-F2ED23C54C30}"/>
              </a:ext>
            </a:extLst>
          </p:cNvPr>
          <p:cNvSpPr/>
          <p:nvPr userDrawn="1"/>
        </p:nvSpPr>
        <p:spPr>
          <a:xfrm>
            <a:off x="753577"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2EFA87-3792-0541-B9E2-F8DC3F848F3E}"/>
              </a:ext>
            </a:extLst>
          </p:cNvPr>
          <p:cNvSpPr/>
          <p:nvPr userDrawn="1"/>
        </p:nvSpPr>
        <p:spPr>
          <a:xfrm>
            <a:off x="754888"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FE9CEE-93A4-2842-8AC4-72936C59B4A2}"/>
              </a:ext>
            </a:extLst>
          </p:cNvPr>
          <p:cNvSpPr>
            <a:spLocks/>
          </p:cNvSpPr>
          <p:nvPr userDrawn="1"/>
        </p:nvSpPr>
        <p:spPr>
          <a:xfrm>
            <a:off x="781851" y="8734347"/>
            <a:ext cx="22869144"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4D0CD70-D010-D34E-B767-3F2A02CDBE75}"/>
              </a:ext>
            </a:extLst>
          </p:cNvPr>
          <p:cNvSpPr>
            <a:spLocks/>
          </p:cNvSpPr>
          <p:nvPr userDrawn="1"/>
        </p:nvSpPr>
        <p:spPr>
          <a:xfrm rot="5400000">
            <a:off x="-748897"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9FBA68-07D2-9347-ADD0-31CE4CD1E7A2}"/>
              </a:ext>
            </a:extLst>
          </p:cNvPr>
          <p:cNvSpPr>
            <a:spLocks/>
          </p:cNvSpPr>
          <p:nvPr userDrawn="1"/>
        </p:nvSpPr>
        <p:spPr>
          <a:xfrm rot="5400000">
            <a:off x="3829041"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416E9F1-49EB-5B4B-9E24-48658C9C7868}"/>
              </a:ext>
            </a:extLst>
          </p:cNvPr>
          <p:cNvSpPr>
            <a:spLocks/>
          </p:cNvSpPr>
          <p:nvPr userDrawn="1"/>
        </p:nvSpPr>
        <p:spPr>
          <a:xfrm rot="5400000">
            <a:off x="8402755"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81D336C-A3D7-C148-B216-75C86B6CA864}"/>
              </a:ext>
            </a:extLst>
          </p:cNvPr>
          <p:cNvSpPr>
            <a:spLocks/>
          </p:cNvSpPr>
          <p:nvPr userDrawn="1"/>
        </p:nvSpPr>
        <p:spPr>
          <a:xfrm rot="5400000">
            <a:off x="12968026"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1F2DE52-8E31-D840-BC26-CD8F8BCB8F1E}"/>
              </a:ext>
            </a:extLst>
          </p:cNvPr>
          <p:cNvSpPr>
            <a:spLocks/>
          </p:cNvSpPr>
          <p:nvPr userDrawn="1"/>
        </p:nvSpPr>
        <p:spPr>
          <a:xfrm>
            <a:off x="781851" y="4680747"/>
            <a:ext cx="22869144"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08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mple Text Siz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F53CCAD-C123-6E42-B15C-143D51011A96}"/>
              </a:ext>
            </a:extLst>
          </p:cNvPr>
          <p:cNvSpPr>
            <a:spLocks noGrp="1"/>
          </p:cNvSpPr>
          <p:nvPr>
            <p:ph type="body" sz="quarter" idx="10" hasCustomPrompt="1"/>
          </p:nvPr>
        </p:nvSpPr>
        <p:spPr>
          <a:xfrm>
            <a:off x="14184576" y="4572000"/>
            <a:ext cx="9288083" cy="7537450"/>
          </a:xfrm>
          <a:prstGeom prst="rect">
            <a:avLst/>
          </a:prstGeom>
        </p:spPr>
        <p:txBody>
          <a:bodyPr/>
          <a:lstStyle>
            <a:lvl1pPr marL="0" indent="0">
              <a:lnSpc>
                <a:spcPts val="3000"/>
              </a:lnSpc>
              <a:spcBef>
                <a:spcPts val="0"/>
              </a:spcBef>
              <a:buNone/>
              <a:defRPr sz="2400" b="0" i="0">
                <a:latin typeface="Helvetica" pitchFamily="2" charset="0"/>
                <a:ea typeface="Helvetica Neue" panose="02000503000000020004" pitchFamily="2" charset="0"/>
                <a:cs typeface="Helvetica Neue" panose="02000503000000020004" pitchFamily="2" charset="0"/>
              </a:defRPr>
            </a:lvl1pPr>
            <a:lvl2pPr marL="914326"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2pPr>
            <a:lvl3pPr marL="1828652"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3pPr>
            <a:lvl4pPr marL="2742978"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4pPr>
            <a:lvl5pPr marL="3657304"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More Copy</a:t>
            </a:r>
            <a:br>
              <a:rPr lang="en-US" dirty="0"/>
            </a:br>
            <a:r>
              <a:rPr lang="en-US" dirty="0"/>
              <a:t>2</a:t>
            </a:r>
            <a:r>
              <a:rPr lang="en-US" altLang="zh-CN" dirty="0"/>
              <a:t>4</a:t>
            </a:r>
            <a:r>
              <a:rPr lang="en-US" dirty="0"/>
              <a:t>pt</a:t>
            </a:r>
          </a:p>
        </p:txBody>
      </p:sp>
      <p:sp>
        <p:nvSpPr>
          <p:cNvPr id="23" name="Slide Number Placeholder 5">
            <a:extLst>
              <a:ext uri="{FF2B5EF4-FFF2-40B4-BE49-F238E27FC236}">
                <a16:creationId xmlns:a16="http://schemas.microsoft.com/office/drawing/2014/main" id="{36240C17-081F-C54C-A1EE-DE56E8686CE0}"/>
              </a:ext>
            </a:extLst>
          </p:cNvPr>
          <p:cNvSpPr txBox="1">
            <a:spLocks/>
          </p:cNvSpPr>
          <p:nvPr userDrawn="1"/>
        </p:nvSpPr>
        <p:spPr>
          <a:xfrm>
            <a:off x="23299914" y="12978551"/>
            <a:ext cx="1453069" cy="698500"/>
          </a:xfrm>
          <a:prstGeom prst="rect">
            <a:avLst/>
          </a:prstGeom>
        </p:spPr>
        <p:txBody>
          <a:bodyPr vert="horz" lIns="182880" tIns="91440" rIns="182880" bIns="9144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82D5D8DC-9473-3845-81D6-4BCA6EEE8B1B}" type="slidenum">
              <a:rPr lang="en-US" sz="1600" smtClean="0">
                <a:latin typeface="Helvetica" pitchFamily="2" charset="0"/>
                <a:ea typeface="Helvetica Neue" panose="02000503000000020004" pitchFamily="2" charset="0"/>
                <a:cs typeface="Helvetica Neue" panose="02000503000000020004" pitchFamily="2" charset="0"/>
              </a:rPr>
              <a:pPr algn="l"/>
              <a:t>‹#›</a:t>
            </a:fld>
            <a:endParaRPr lang="en-US" sz="1600" dirty="0">
              <a:latin typeface="Helvetica" pitchFamily="2" charset="0"/>
              <a:ea typeface="Helvetica Neue" panose="02000503000000020004" pitchFamily="2" charset="0"/>
              <a:cs typeface="Helvetica Neue" panose="02000503000000020004" pitchFamily="2" charset="0"/>
            </a:endParaRPr>
          </a:p>
        </p:txBody>
      </p:sp>
      <p:sp>
        <p:nvSpPr>
          <p:cNvPr id="29" name="Text Placeholder 17">
            <a:extLst>
              <a:ext uri="{FF2B5EF4-FFF2-40B4-BE49-F238E27FC236}">
                <a16:creationId xmlns:a16="http://schemas.microsoft.com/office/drawing/2014/main" id="{C7F7C291-7F55-A44C-8D5D-CD04E93C40C4}"/>
              </a:ext>
            </a:extLst>
          </p:cNvPr>
          <p:cNvSpPr>
            <a:spLocks noGrp="1"/>
          </p:cNvSpPr>
          <p:nvPr>
            <p:ph type="body" sz="quarter" idx="11" hasCustomPrompt="1"/>
          </p:nvPr>
        </p:nvSpPr>
        <p:spPr>
          <a:xfrm>
            <a:off x="7524904" y="4572000"/>
            <a:ext cx="6455654" cy="7537450"/>
          </a:xfrm>
          <a:prstGeom prst="rect">
            <a:avLst/>
          </a:prstGeom>
        </p:spPr>
        <p:txBody>
          <a:bodyPr/>
          <a:lstStyle>
            <a:lvl1pPr marL="0" indent="0">
              <a:lnSpc>
                <a:spcPts val="4000"/>
              </a:lnSpc>
              <a:spcBef>
                <a:spcPts val="0"/>
              </a:spcBef>
              <a:buNone/>
              <a:defRPr sz="3200" b="0" i="0">
                <a:latin typeface="Helvetica" pitchFamily="2" charset="0"/>
                <a:ea typeface="Helvetica Neue" panose="02000503000000020004" pitchFamily="2" charset="0"/>
                <a:cs typeface="Helvetica Neue" panose="02000503000000020004" pitchFamily="2" charset="0"/>
              </a:defRPr>
            </a:lvl1pPr>
            <a:lvl2pPr marL="914326"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2pPr>
            <a:lvl3pPr marL="1828652"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3pPr>
            <a:lvl4pPr marL="2742978"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4pPr>
            <a:lvl5pPr marL="3657304"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Less Copy</a:t>
            </a:r>
            <a:br>
              <a:rPr lang="en-US" dirty="0"/>
            </a:br>
            <a:r>
              <a:rPr lang="en-US" altLang="zh-CN" dirty="0"/>
              <a:t>32</a:t>
            </a:r>
            <a:r>
              <a:rPr lang="en-US" dirty="0"/>
              <a:t>pt</a:t>
            </a:r>
          </a:p>
        </p:txBody>
      </p:sp>
      <p:sp>
        <p:nvSpPr>
          <p:cNvPr id="30" name="Text Placeholder 17">
            <a:extLst>
              <a:ext uri="{FF2B5EF4-FFF2-40B4-BE49-F238E27FC236}">
                <a16:creationId xmlns:a16="http://schemas.microsoft.com/office/drawing/2014/main" id="{91818B47-F733-9A4D-9972-2B690168F64C}"/>
              </a:ext>
            </a:extLst>
          </p:cNvPr>
          <p:cNvSpPr>
            <a:spLocks noGrp="1"/>
          </p:cNvSpPr>
          <p:nvPr>
            <p:ph type="body" sz="quarter" idx="12" hasCustomPrompt="1"/>
          </p:nvPr>
        </p:nvSpPr>
        <p:spPr>
          <a:xfrm>
            <a:off x="763588" y="4572000"/>
            <a:ext cx="6631873" cy="7537450"/>
          </a:xfrm>
          <a:prstGeom prst="rect">
            <a:avLst/>
          </a:prstGeom>
        </p:spPr>
        <p:txBody>
          <a:bodyPr/>
          <a:lstStyle>
            <a:lvl1pPr marL="0" indent="0">
              <a:lnSpc>
                <a:spcPts val="5000"/>
              </a:lnSpc>
              <a:spcBef>
                <a:spcPts val="0"/>
              </a:spcBef>
              <a:buNone/>
              <a:defRPr sz="4000" b="0" i="0">
                <a:latin typeface="Helvetica" pitchFamily="2" charset="0"/>
                <a:ea typeface="Helvetica Neue" panose="02000503000000020004" pitchFamily="2" charset="0"/>
                <a:cs typeface="Helvetica Neue" panose="02000503000000020004" pitchFamily="2" charset="0"/>
              </a:defRPr>
            </a:lvl1pPr>
            <a:lvl2pPr marL="914326"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2pPr>
            <a:lvl3pPr marL="1828652"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3pPr>
            <a:lvl4pPr marL="2742978"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4pPr>
            <a:lvl5pPr marL="3657304"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Title</a:t>
            </a:r>
            <a:br>
              <a:rPr lang="en-US" dirty="0"/>
            </a:br>
            <a:r>
              <a:rPr lang="en-US" altLang="zh-CN" dirty="0"/>
              <a:t>4</a:t>
            </a:r>
            <a:r>
              <a:rPr lang="en-US" dirty="0"/>
              <a:t>0pt</a:t>
            </a:r>
          </a:p>
        </p:txBody>
      </p:sp>
      <p:sp>
        <p:nvSpPr>
          <p:cNvPr id="31" name="Rectangle 30">
            <a:extLst>
              <a:ext uri="{FF2B5EF4-FFF2-40B4-BE49-F238E27FC236}">
                <a16:creationId xmlns:a16="http://schemas.microsoft.com/office/drawing/2014/main" id="{34D7D8FB-CE15-0C4F-B594-C9D32EDDF362}"/>
              </a:ext>
            </a:extLst>
          </p:cNvPr>
          <p:cNvSpPr/>
          <p:nvPr userDrawn="1"/>
        </p:nvSpPr>
        <p:spPr>
          <a:xfrm>
            <a:off x="763588" y="762000"/>
            <a:ext cx="7499056" cy="707886"/>
          </a:xfrm>
          <a:prstGeom prst="rect">
            <a:avLst/>
          </a:prstGeom>
        </p:spPr>
        <p:txBody>
          <a:bodyPr wrap="square">
            <a:spAutoFit/>
          </a:bodyPr>
          <a:lstStyle/>
          <a:p>
            <a:pPr lvl="0"/>
            <a:r>
              <a:rPr lang="en-US" sz="4000" b="0" i="0" dirty="0">
                <a:latin typeface="Helvetica" pitchFamily="2" charset="0"/>
                <a:ea typeface="Helvetica Neue" panose="02000503000000020004" pitchFamily="2" charset="0"/>
                <a:cs typeface="Helvetica Neue" panose="02000503000000020004" pitchFamily="2" charset="0"/>
              </a:rPr>
              <a:t>Font Size Guide Examples</a:t>
            </a:r>
          </a:p>
        </p:txBody>
      </p:sp>
      <p:sp>
        <p:nvSpPr>
          <p:cNvPr id="32" name="Rectangle 31">
            <a:extLst>
              <a:ext uri="{FF2B5EF4-FFF2-40B4-BE49-F238E27FC236}">
                <a16:creationId xmlns:a16="http://schemas.microsoft.com/office/drawing/2014/main" id="{5ABE7F04-BA46-674A-B943-AB6D08AF9169}"/>
              </a:ext>
            </a:extLst>
          </p:cNvPr>
          <p:cNvSpPr/>
          <p:nvPr userDrawn="1"/>
        </p:nvSpPr>
        <p:spPr>
          <a:xfrm>
            <a:off x="765961" y="1509074"/>
            <a:ext cx="11046626" cy="1323439"/>
          </a:xfrm>
          <a:prstGeom prst="rect">
            <a:avLst/>
          </a:prstGeom>
        </p:spPr>
        <p:txBody>
          <a:bodyPr wrap="square">
            <a:spAutoFit/>
          </a:bodyPr>
          <a:lstStyle/>
          <a:p>
            <a:pPr lvl="0"/>
            <a:r>
              <a:rPr lang="en-US" sz="4000" b="0" i="0" dirty="0">
                <a:solidFill>
                  <a:schemeClr val="accent3"/>
                </a:solidFill>
                <a:latin typeface="Helvetica" pitchFamily="2" charset="0"/>
                <a:ea typeface="Helvetica Neue" panose="02000503000000020004" pitchFamily="2" charset="0"/>
                <a:cs typeface="Helvetica Neue" panose="02000503000000020004" pitchFamily="2" charset="0"/>
              </a:rPr>
              <a:t>Please sample the text sizes below to use </a:t>
            </a:r>
            <a:br>
              <a:rPr lang="en-US" sz="4000" b="0" i="0" dirty="0">
                <a:solidFill>
                  <a:schemeClr val="accent3"/>
                </a:solidFill>
                <a:latin typeface="Helvetica" pitchFamily="2" charset="0"/>
                <a:ea typeface="Helvetica Neue" panose="02000503000000020004" pitchFamily="2" charset="0"/>
                <a:cs typeface="Helvetica Neue" panose="02000503000000020004" pitchFamily="2" charset="0"/>
              </a:rPr>
            </a:br>
            <a:r>
              <a:rPr lang="en-US" sz="4000" b="0" i="0" dirty="0">
                <a:solidFill>
                  <a:schemeClr val="accent3"/>
                </a:solidFill>
                <a:latin typeface="Helvetica" pitchFamily="2" charset="0"/>
                <a:ea typeface="Helvetica Neue" panose="02000503000000020004" pitchFamily="2" charset="0"/>
                <a:cs typeface="Helvetica Neue" panose="02000503000000020004" pitchFamily="2" charset="0"/>
              </a:rPr>
              <a:t>in your own presentation</a:t>
            </a:r>
          </a:p>
        </p:txBody>
      </p:sp>
    </p:spTree>
    <p:extLst>
      <p:ext uri="{BB962C8B-B14F-4D97-AF65-F5344CB8AC3E}">
        <p14:creationId xmlns:p14="http://schemas.microsoft.com/office/powerpoint/2010/main" val="1320302003"/>
      </p:ext>
    </p:extLst>
  </p:cSld>
  <p:clrMapOvr>
    <a:masterClrMapping/>
  </p:clrMapOvr>
  <p:extLst>
    <p:ext uri="{DCECCB84-F9BA-43D5-87BE-67443E8EF086}">
      <p15:sldGuideLst xmlns:p15="http://schemas.microsoft.com/office/powerpoint/2012/main">
        <p15:guide id="3" pos="481" userDrawn="1">
          <p15:clr>
            <a:srgbClr val="FBAE40"/>
          </p15:clr>
        </p15:guide>
        <p15:guide id="7" orient="horz" pos="8112" userDrawn="1">
          <p15:clr>
            <a:srgbClr val="FBAE40"/>
          </p15:clr>
        </p15:guide>
        <p15:guide id="8" orient="horz" pos="480" userDrawn="1">
          <p15:clr>
            <a:srgbClr val="FBAE40"/>
          </p15:clr>
        </p15:guide>
        <p15:guide id="10" pos="1492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248997" y="4260852"/>
            <a:ext cx="20729099" cy="1140883"/>
          </a:xfrm>
        </p:spPr>
        <p:txBody>
          <a:bodyPr>
            <a:normAutofit/>
          </a:bodyPr>
          <a:lstStyle>
            <a:lvl1pPr algn="l">
              <a:defRPr sz="9600" b="1" i="0">
                <a:latin typeface="Helvetica" pitchFamily="2" charset="0"/>
              </a:defRPr>
            </a:lvl1pPr>
          </a:lstStyle>
          <a:p>
            <a:r>
              <a:rPr lang="en-US" dirty="0"/>
              <a:t>Title</a:t>
            </a:r>
          </a:p>
        </p:txBody>
      </p:sp>
      <p:sp>
        <p:nvSpPr>
          <p:cNvPr id="3" name="Subtitle 2"/>
          <p:cNvSpPr>
            <a:spLocks noGrp="1"/>
          </p:cNvSpPr>
          <p:nvPr>
            <p:ph type="subTitle" idx="1"/>
          </p:nvPr>
        </p:nvSpPr>
        <p:spPr>
          <a:xfrm>
            <a:off x="1248997" y="5435600"/>
            <a:ext cx="20729099" cy="3048000"/>
          </a:xfrm>
        </p:spPr>
        <p:txBody>
          <a:bodyPr>
            <a:noAutofit/>
          </a:bodyPr>
          <a:lstStyle>
            <a:lvl1pPr marL="0" indent="0" algn="l">
              <a:buNone/>
              <a:defRPr sz="4800">
                <a:solidFill>
                  <a:schemeClr val="tx1"/>
                </a:solidFill>
                <a:latin typeface="Helvetica" pitchFamily="2" charset="0"/>
              </a:defRPr>
            </a:lvl1pPr>
            <a:lvl2pPr marL="1219215" indent="0" algn="ctr">
              <a:buNone/>
              <a:defRPr>
                <a:solidFill>
                  <a:schemeClr val="tx1">
                    <a:tint val="75000"/>
                  </a:schemeClr>
                </a:solidFill>
              </a:defRPr>
            </a:lvl2pPr>
            <a:lvl3pPr marL="2438430" indent="0" algn="ctr">
              <a:buNone/>
              <a:defRPr>
                <a:solidFill>
                  <a:schemeClr val="tx1">
                    <a:tint val="75000"/>
                  </a:schemeClr>
                </a:solidFill>
              </a:defRPr>
            </a:lvl3pPr>
            <a:lvl4pPr marL="3657646" indent="0" algn="ctr">
              <a:buNone/>
              <a:defRPr>
                <a:solidFill>
                  <a:schemeClr val="tx1">
                    <a:tint val="75000"/>
                  </a:schemeClr>
                </a:solidFill>
              </a:defRPr>
            </a:lvl4pPr>
            <a:lvl5pPr marL="4876861" indent="0" algn="ctr">
              <a:buNone/>
              <a:defRPr>
                <a:solidFill>
                  <a:schemeClr val="tx1">
                    <a:tint val="75000"/>
                  </a:schemeClr>
                </a:solidFill>
              </a:defRPr>
            </a:lvl5pPr>
            <a:lvl6pPr marL="6096076" indent="0" algn="ctr">
              <a:buNone/>
              <a:defRPr>
                <a:solidFill>
                  <a:schemeClr val="tx1">
                    <a:tint val="75000"/>
                  </a:schemeClr>
                </a:solidFill>
              </a:defRPr>
            </a:lvl6pPr>
            <a:lvl7pPr marL="7315291" indent="0" algn="ctr">
              <a:buNone/>
              <a:defRPr>
                <a:solidFill>
                  <a:schemeClr val="tx1">
                    <a:tint val="75000"/>
                  </a:schemeClr>
                </a:solidFill>
              </a:defRPr>
            </a:lvl7pPr>
            <a:lvl8pPr marL="8534507" indent="0" algn="ctr">
              <a:buNone/>
              <a:defRPr>
                <a:solidFill>
                  <a:schemeClr val="tx1">
                    <a:tint val="75000"/>
                  </a:schemeClr>
                </a:solidFill>
              </a:defRPr>
            </a:lvl8pPr>
            <a:lvl9pPr marL="9753722" indent="0" algn="ctr">
              <a:buNone/>
              <a:defRPr>
                <a:solidFill>
                  <a:schemeClr val="tx1">
                    <a:tint val="75000"/>
                  </a:schemeClr>
                </a:solidFill>
              </a:defRPr>
            </a:lvl9pPr>
          </a:lstStyle>
          <a:p>
            <a:r>
              <a:rPr lang="en-US" dirty="0"/>
              <a:t>Click to edit Master subtitle style</a:t>
            </a:r>
          </a:p>
        </p:txBody>
      </p:sp>
      <p:sp>
        <p:nvSpPr>
          <p:cNvPr id="8" name="Subtitle 2"/>
          <p:cNvSpPr txBox="1">
            <a:spLocks/>
          </p:cNvSpPr>
          <p:nvPr userDrawn="1"/>
        </p:nvSpPr>
        <p:spPr>
          <a:xfrm>
            <a:off x="1896780" y="6333067"/>
            <a:ext cx="20729099" cy="609600"/>
          </a:xfrm>
          <a:prstGeom prst="rect">
            <a:avLst/>
          </a:prstGeom>
        </p:spPr>
        <p:txBody>
          <a:bodyPr vert="horz" lIns="243840" tIns="121920" rIns="243840" bIns="121920" rtlCol="0">
            <a:normAutofit fontScale="92500" lnSpcReduction="20000"/>
          </a:bodyPr>
          <a:lstStyle>
            <a:lvl1pPr marL="0" indent="0" algn="l" defTabSz="457200" rtl="0" eaLnBrk="1" latinLnBrk="0" hangingPunct="1">
              <a:spcBef>
                <a:spcPct val="20000"/>
              </a:spcBef>
              <a:buFont typeface="Arial"/>
              <a:buNone/>
              <a:defRPr sz="1800" kern="1200">
                <a:solidFill>
                  <a:schemeClr val="tx1"/>
                </a:solidFill>
                <a:latin typeface="Century Gothic" panose="020B0502020202020204" pitchFamily="34" charset="0"/>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Helvetica" pitchFamily="34" charset="0"/>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Helvetica" pitchFamily="34" charset="0"/>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Helvetica" pitchFamily="34" charset="0"/>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Helvetica" pitchFamily="34"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3200" dirty="0"/>
          </a:p>
        </p:txBody>
      </p:sp>
    </p:spTree>
    <p:extLst>
      <p:ext uri="{BB962C8B-B14F-4D97-AF65-F5344CB8AC3E}">
        <p14:creationId xmlns:p14="http://schemas.microsoft.com/office/powerpoint/2010/main" val="12686809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8414351"/>
      </p:ext>
    </p:extLst>
  </p:cSld>
  <p:clrMap bg1="lt1" tx1="dk1" bg2="lt2" tx2="dk2" accent1="accent1" accent2="accent2" accent3="accent3" accent4="accent4" accent5="accent5" accent6="accent6" hlink="hlink" folHlink="folHlink"/>
  <p:sldLayoutIdLst>
    <p:sldLayoutId id="2147483667" r:id="rId1"/>
    <p:sldLayoutId id="2147483672" r:id="rId2"/>
    <p:sldLayoutId id="2147483650" r:id="rId3"/>
    <p:sldLayoutId id="2147483673" r:id="rId4"/>
  </p:sldLayoutIdLst>
  <p:hf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alire.ada.dev/crates/hirtos_separation_kernel" TargetMode="External"/><Relationship Id="rId2" Type="http://schemas.openxmlformats.org/officeDocument/2006/relationships/hyperlink" Target="https://alire.ada.dev/crates/hirtos" TargetMode="External"/><Relationship Id="rId1" Type="http://schemas.openxmlformats.org/officeDocument/2006/relationships/slideLayout" Target="../slideLayouts/slideLayout1.xml"/><Relationship Id="rId4" Type="http://schemas.openxmlformats.org/officeDocument/2006/relationships/hyperlink" Target="https://github.com/jgrivera67/HiRTO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830387" y="1931405"/>
            <a:ext cx="20726400" cy="4821088"/>
          </a:xfrm>
        </p:spPr>
        <p:txBody>
          <a:bodyPr>
            <a:normAutofit/>
          </a:bodyPr>
          <a:lstStyle/>
          <a:p>
            <a:pPr algn="ctr"/>
            <a:r>
              <a:rPr lang="en-US" dirty="0" err="1">
                <a:solidFill>
                  <a:schemeClr val="bg1">
                    <a:lumMod val="65000"/>
                  </a:schemeClr>
                </a:solidFill>
                <a:latin typeface="Helvetica"/>
                <a:cs typeface="Helvetica"/>
              </a:rPr>
              <a:t>HiRTOS</a:t>
            </a:r>
            <a:r>
              <a:rPr lang="en-US" dirty="0">
                <a:solidFill>
                  <a:schemeClr val="bg1">
                    <a:lumMod val="65000"/>
                  </a:schemeClr>
                </a:solidFill>
                <a:latin typeface="Helvetica"/>
                <a:cs typeface="Helvetica"/>
              </a:rPr>
              <a:t>: A Multi-Core RTOS written in SPARK Ada</a:t>
            </a:r>
            <a:br>
              <a:rPr lang="en-US" dirty="0">
                <a:solidFill>
                  <a:schemeClr val="bg1">
                    <a:lumMod val="65000"/>
                  </a:schemeClr>
                </a:solidFill>
                <a:latin typeface="Helvetica"/>
                <a:cs typeface="Helvetica"/>
              </a:rPr>
            </a:br>
            <a:r>
              <a:rPr lang="en-US" dirty="0">
                <a:solidFill>
                  <a:schemeClr val="bg1">
                    <a:lumMod val="65000"/>
                  </a:schemeClr>
                </a:solidFill>
                <a:latin typeface="Helvetica"/>
                <a:cs typeface="Helvetica"/>
              </a:rPr>
              <a:t> </a:t>
            </a:r>
            <a:endParaRPr lang="en-US" dirty="0">
              <a:solidFill>
                <a:schemeClr val="bg1">
                  <a:lumMod val="65000"/>
                </a:schemeClr>
              </a:solidFill>
              <a:latin typeface="Helvetica" panose="020B0604020202020204" pitchFamily="34" charset="0"/>
              <a:cs typeface="Helvetica" panose="020B0604020202020204" pitchFamily="34" charset="0"/>
            </a:endParaRPr>
          </a:p>
        </p:txBody>
      </p:sp>
      <p:sp>
        <p:nvSpPr>
          <p:cNvPr id="6" name="Subtitle 5"/>
          <p:cNvSpPr>
            <a:spLocks noGrp="1"/>
          </p:cNvSpPr>
          <p:nvPr>
            <p:ph type="subTitle" idx="1"/>
          </p:nvPr>
        </p:nvSpPr>
        <p:spPr>
          <a:xfrm>
            <a:off x="1830387" y="7182453"/>
            <a:ext cx="20726400" cy="3048000"/>
          </a:xfrm>
        </p:spPr>
        <p:txBody>
          <a:bodyPr vert="horz" lIns="243840" tIns="121920" rIns="243840" bIns="121920" rtlCol="0" anchor="t">
            <a:noAutofit/>
          </a:bodyPr>
          <a:lstStyle/>
          <a:p>
            <a:pPr algn="ctr"/>
            <a:r>
              <a:rPr lang="en-US" dirty="0">
                <a:latin typeface="Helvetica"/>
                <a:cs typeface="Helvetica"/>
              </a:rPr>
              <a:t>J. Germán Rivera</a:t>
            </a:r>
          </a:p>
          <a:p>
            <a:pPr algn="ctr"/>
            <a:r>
              <a:rPr lang="en-US" dirty="0">
                <a:latin typeface="Helvetica"/>
                <a:cs typeface="Helvetica"/>
              </a:rPr>
              <a:t>(jgrivera67@gmail.com)</a:t>
            </a:r>
          </a:p>
          <a:p>
            <a:endParaRPr lang="en-US" b="1" dirty="0">
              <a:latin typeface="Helvetica"/>
              <a:cs typeface="Helvetica"/>
            </a:endParaRPr>
          </a:p>
        </p:txBody>
      </p:sp>
      <p:sp>
        <p:nvSpPr>
          <p:cNvPr id="4" name="Slide Number Placeholder 3"/>
          <p:cNvSpPr>
            <a:spLocks noGrp="1"/>
          </p:cNvSpPr>
          <p:nvPr>
            <p:ph type="sldNum" sz="quarter" idx="4294967295"/>
          </p:nvPr>
        </p:nvSpPr>
        <p:spPr>
          <a:xfrm>
            <a:off x="6542088" y="4951143"/>
            <a:ext cx="2133600" cy="169043"/>
          </a:xfrm>
          <a:prstGeom prst="rect">
            <a:avLst/>
          </a:prstGeom>
        </p:spPr>
        <p:txBody>
          <a:bodyPr lIns="90000" rIns="0"/>
          <a:lstStyle>
            <a:defPPr>
              <a:defRPr lang="en-US"/>
            </a:defPPr>
            <a:lvl1pPr marL="0" algn="l" defTabSz="457200" rtl="0" eaLnBrk="1" latinLnBrk="0" hangingPunct="1">
              <a:defRPr sz="700" kern="1200">
                <a:solidFill>
                  <a:schemeClr val="bg1"/>
                </a:solidFill>
                <a:latin typeface="Helvetica"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31A15EAA-547D-4185-A4E0-DDC0B5B98EDA}" type="slidenum">
              <a:rPr lang="en-US" smtClean="0"/>
              <a:pPr algn="r"/>
              <a:t>1</a:t>
            </a:fld>
            <a:r>
              <a:rPr lang="en-US"/>
              <a:t> </a:t>
            </a:r>
            <a:endParaRPr lang="en-US" dirty="0"/>
          </a:p>
        </p:txBody>
      </p:sp>
    </p:spTree>
    <p:extLst>
      <p:ext uri="{BB962C8B-B14F-4D97-AF65-F5344CB8AC3E}">
        <p14:creationId xmlns:p14="http://schemas.microsoft.com/office/powerpoint/2010/main" val="245250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t>Topics</a:t>
            </a:r>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3200403"/>
            <a:ext cx="21859545" cy="9051925"/>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latin typeface="Helvetica"/>
                <a:cs typeface="Helvetica"/>
              </a:rPr>
              <a:t>HiRTOS</a:t>
            </a:r>
            <a:r>
              <a:rPr lang="en-US" dirty="0">
                <a:latin typeface="Helvetica"/>
                <a:cs typeface="Helvetica"/>
              </a:rPr>
              <a:t> Design Overview</a:t>
            </a:r>
          </a:p>
          <a:p>
            <a:r>
              <a:rPr lang="en-US" dirty="0" err="1">
                <a:latin typeface="Helvetica"/>
                <a:cs typeface="Helvetica"/>
              </a:rPr>
              <a:t>HiRTOS</a:t>
            </a:r>
            <a:r>
              <a:rPr lang="en-US" dirty="0">
                <a:latin typeface="Helvetica"/>
                <a:cs typeface="Helvetica"/>
              </a:rPr>
              <a:t> Thread Scheduler</a:t>
            </a:r>
          </a:p>
          <a:p>
            <a:r>
              <a:rPr lang="en-US" dirty="0" err="1">
                <a:latin typeface="Helvetica"/>
                <a:cs typeface="Helvetica"/>
              </a:rPr>
              <a:t>HiRTOS</a:t>
            </a:r>
            <a:r>
              <a:rPr lang="en-US" dirty="0">
                <a:latin typeface="Helvetica"/>
                <a:cs typeface="Helvetica"/>
              </a:rPr>
              <a:t> Separation Kernel</a:t>
            </a:r>
          </a:p>
          <a:p>
            <a:r>
              <a:rPr lang="en-US" dirty="0">
                <a:latin typeface="Helvetica"/>
                <a:cs typeface="Helvetica"/>
              </a:rPr>
              <a:t>Porting </a:t>
            </a:r>
            <a:r>
              <a:rPr lang="en-US" dirty="0" err="1">
                <a:latin typeface="Helvetica"/>
                <a:cs typeface="Helvetica"/>
              </a:rPr>
              <a:t>HiRTOS</a:t>
            </a:r>
            <a:r>
              <a:rPr lang="en-US" dirty="0">
                <a:latin typeface="Helvetica"/>
                <a:cs typeface="Helvetica"/>
              </a:rPr>
              <a:t> to a New Platform</a:t>
            </a:r>
          </a:p>
          <a:p>
            <a:r>
              <a:rPr lang="en-US" dirty="0">
                <a:latin typeface="Helvetica"/>
                <a:cs typeface="Helvetica"/>
              </a:rPr>
              <a:t>Future Work</a:t>
            </a:r>
          </a:p>
          <a:p>
            <a:endParaRPr lang="en-US" dirty="0">
              <a:latin typeface="Helvetica"/>
              <a:cs typeface="Helvetica"/>
            </a:endParaRPr>
          </a:p>
          <a:p>
            <a:endParaRPr lang="en-US" dirty="0">
              <a:latin typeface="Helvetica"/>
              <a:cs typeface="Helvetica"/>
            </a:endParaRPr>
          </a:p>
          <a:p>
            <a:pPr marL="0" indent="0">
              <a:buNone/>
            </a:pPr>
            <a:endParaRPr lang="en-US" dirty="0">
              <a:cs typeface="Helvetica" pitchFamily="34" charset="0"/>
            </a:endParaRPr>
          </a:p>
        </p:txBody>
      </p:sp>
    </p:spTree>
    <p:extLst>
      <p:ext uri="{BB962C8B-B14F-4D97-AF65-F5344CB8AC3E}">
        <p14:creationId xmlns:p14="http://schemas.microsoft.com/office/powerpoint/2010/main" val="923453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What is </a:t>
            </a:r>
            <a:r>
              <a:rPr lang="en-US" dirty="0" err="1">
                <a:latin typeface="Helvetica"/>
                <a:cs typeface="Helvetica"/>
              </a:rPr>
              <a:t>HiRTOS</a:t>
            </a:r>
            <a:r>
              <a:rPr lang="en-US" dirty="0">
                <a:latin typeface="Helvetica"/>
                <a:cs typeface="Helvetica"/>
              </a:rPr>
              <a:t>?</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latin typeface="Helvetica"/>
                <a:cs typeface="Helvetica"/>
              </a:rPr>
              <a:t>HiRTOS</a:t>
            </a:r>
            <a:r>
              <a:rPr lang="en-US" dirty="0">
                <a:latin typeface="Helvetica"/>
                <a:cs typeface="Helvetica"/>
              </a:rPr>
              <a:t>: </a:t>
            </a:r>
            <a:r>
              <a:rPr lang="en-US" i="1" dirty="0">
                <a:latin typeface="Helvetica"/>
                <a:cs typeface="Helvetica"/>
              </a:rPr>
              <a:t>High-Integrity</a:t>
            </a:r>
            <a:r>
              <a:rPr lang="en-US" dirty="0">
                <a:latin typeface="Helvetica"/>
                <a:cs typeface="Helvetica"/>
              </a:rPr>
              <a:t> RTOS</a:t>
            </a:r>
          </a:p>
          <a:p>
            <a:pPr lvl="1"/>
            <a:r>
              <a:rPr lang="en-US" dirty="0">
                <a:latin typeface="Helvetica"/>
                <a:cs typeface="Helvetica"/>
              </a:rPr>
              <a:t>A small real-time operating system kernel and separation kernel written in </a:t>
            </a:r>
          </a:p>
          <a:p>
            <a:pPr marL="914400" lvl="1" indent="0">
              <a:buNone/>
            </a:pPr>
            <a:r>
              <a:rPr lang="en-US" dirty="0">
                <a:latin typeface="Helvetica"/>
                <a:cs typeface="Helvetica"/>
              </a:rPr>
              <a:t>   SPARK Ada</a:t>
            </a:r>
          </a:p>
          <a:p>
            <a:pPr lvl="1"/>
            <a:r>
              <a:rPr lang="en-US" dirty="0" err="1">
                <a:latin typeface="Helvetica"/>
                <a:cs typeface="Helvetica"/>
              </a:rPr>
              <a:t>HiRTOS</a:t>
            </a:r>
            <a:r>
              <a:rPr lang="en-US" dirty="0">
                <a:latin typeface="Helvetica"/>
                <a:cs typeface="Helvetica"/>
              </a:rPr>
              <a:t> targets deeply embedded software applications that run in small single-core and multi-core embedded platforms</a:t>
            </a:r>
          </a:p>
          <a:p>
            <a:pPr lvl="1"/>
            <a:r>
              <a:rPr lang="en-US" dirty="0" err="1">
                <a:latin typeface="Helvetica"/>
                <a:cs typeface="Helvetica"/>
              </a:rPr>
              <a:t>HiRTOS</a:t>
            </a:r>
            <a:r>
              <a:rPr lang="en-US" dirty="0">
                <a:latin typeface="Helvetica"/>
                <a:cs typeface="Helvetica"/>
              </a:rPr>
              <a:t> won the “2023 </a:t>
            </a:r>
            <a:r>
              <a:rPr lang="en-US" dirty="0" err="1">
                <a:latin typeface="Helvetica"/>
                <a:cs typeface="Helvetica"/>
              </a:rPr>
              <a:t>Alire</a:t>
            </a:r>
            <a:r>
              <a:rPr lang="en-US" dirty="0">
                <a:latin typeface="Helvetica"/>
                <a:cs typeface="Helvetica"/>
              </a:rPr>
              <a:t> Embedded Crate of the Year” award</a:t>
            </a:r>
          </a:p>
          <a:p>
            <a:r>
              <a:rPr lang="en-US" dirty="0" err="1">
                <a:latin typeface="Helvetica"/>
                <a:cs typeface="Helvetica"/>
              </a:rPr>
              <a:t>HiRTOS</a:t>
            </a:r>
            <a:r>
              <a:rPr lang="en-US" dirty="0">
                <a:latin typeface="Helvetica"/>
                <a:cs typeface="Helvetica"/>
              </a:rPr>
              <a:t> is available for download as two </a:t>
            </a:r>
            <a:r>
              <a:rPr lang="en-US" dirty="0" err="1">
                <a:latin typeface="Helvetica"/>
                <a:cs typeface="Helvetica"/>
              </a:rPr>
              <a:t>Alire</a:t>
            </a:r>
            <a:r>
              <a:rPr lang="en-US" dirty="0">
                <a:latin typeface="Helvetica"/>
                <a:cs typeface="Helvetica"/>
              </a:rPr>
              <a:t> crates:</a:t>
            </a:r>
          </a:p>
          <a:p>
            <a:pPr lvl="1"/>
            <a:r>
              <a:rPr lang="en-US" dirty="0" err="1">
                <a:latin typeface="Helvetica"/>
                <a:cs typeface="Helvetica"/>
              </a:rPr>
              <a:t>HiRTOS</a:t>
            </a:r>
            <a:r>
              <a:rPr lang="en-US" dirty="0">
                <a:latin typeface="Helvetica"/>
                <a:cs typeface="Helvetica"/>
              </a:rPr>
              <a:t> kernel at </a:t>
            </a:r>
            <a:r>
              <a:rPr lang="en-US" dirty="0">
                <a:latin typeface="Helvetica"/>
                <a:cs typeface="Helvetica"/>
                <a:hlinkClick r:id="rId2"/>
              </a:rPr>
              <a:t>https://alire.ada.dev/crates/hirtos</a:t>
            </a:r>
            <a:endParaRPr lang="en-US" dirty="0">
              <a:latin typeface="Helvetica"/>
              <a:cs typeface="Helvetica"/>
            </a:endParaRPr>
          </a:p>
          <a:p>
            <a:pPr lvl="1"/>
            <a:r>
              <a:rPr lang="en-US" dirty="0" err="1">
                <a:latin typeface="Helvetica"/>
                <a:cs typeface="Helvetica"/>
              </a:rPr>
              <a:t>HiRTOS</a:t>
            </a:r>
            <a:r>
              <a:rPr lang="en-US" dirty="0">
                <a:latin typeface="Helvetica"/>
                <a:cs typeface="Helvetica"/>
              </a:rPr>
              <a:t> separation kernel at </a:t>
            </a:r>
            <a:r>
              <a:rPr lang="en-US" dirty="0">
                <a:latin typeface="Helvetica"/>
                <a:cs typeface="Helvetica"/>
                <a:hlinkClick r:id="rId3"/>
              </a:rPr>
              <a:t>https://alire.ada.dev/crates/hirtos_separation_kernel</a:t>
            </a:r>
            <a:endParaRPr lang="en-US" dirty="0">
              <a:latin typeface="Helvetica"/>
              <a:cs typeface="Helvetica"/>
            </a:endParaRPr>
          </a:p>
          <a:p>
            <a:r>
              <a:rPr lang="en-US" dirty="0" err="1">
                <a:latin typeface="Helvetica"/>
                <a:cs typeface="Helvetica"/>
              </a:rPr>
              <a:t>HiRTOS</a:t>
            </a:r>
            <a:r>
              <a:rPr lang="en-US" dirty="0">
                <a:latin typeface="Helvetica"/>
                <a:cs typeface="Helvetica"/>
              </a:rPr>
              <a:t> code is available in GitHub at </a:t>
            </a:r>
            <a:r>
              <a:rPr lang="en-US" dirty="0">
                <a:latin typeface="Helvetica"/>
                <a:cs typeface="Helvetica"/>
                <a:hlinkClick r:id="rId4"/>
              </a:rPr>
              <a:t>https://github.com/jgrivera67/HiRTOS</a:t>
            </a:r>
            <a:endParaRPr lang="en-US" dirty="0">
              <a:latin typeface="Helvetica"/>
              <a:cs typeface="Helvetica"/>
            </a:endParaRPr>
          </a:p>
          <a:p>
            <a:pPr lvl="1"/>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1482252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rPr>
              <a:t>Why Writing an RTOS in Ada?</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An RTOS can be seen as a safety-critical component of many deeply</a:t>
            </a:r>
          </a:p>
          <a:p>
            <a:pPr marL="0" indent="0">
              <a:buNone/>
            </a:pPr>
            <a:r>
              <a:rPr lang="en-US" dirty="0">
                <a:latin typeface="Helvetica"/>
                <a:cs typeface="Helvetica"/>
              </a:rPr>
              <a:t>  embedded  software systems.</a:t>
            </a:r>
          </a:p>
          <a:p>
            <a:r>
              <a:rPr lang="en-US" dirty="0">
                <a:latin typeface="Helvetica"/>
                <a:cs typeface="Helvetica"/>
              </a:rPr>
              <a:t>Yet, most </a:t>
            </a:r>
            <a:r>
              <a:rPr lang="en-US" dirty="0" err="1">
                <a:latin typeface="Helvetica"/>
                <a:cs typeface="Helvetica"/>
              </a:rPr>
              <a:t>RTOSes</a:t>
            </a:r>
            <a:r>
              <a:rPr lang="en-US" dirty="0">
                <a:latin typeface="Helvetica"/>
                <a:cs typeface="Helvetica"/>
              </a:rPr>
              <a:t> are written in C (which is an unsafe language). </a:t>
            </a:r>
          </a:p>
          <a:p>
            <a:r>
              <a:rPr lang="en-US" dirty="0">
                <a:latin typeface="Helvetica"/>
                <a:cs typeface="Helvetica"/>
              </a:rPr>
              <a:t>It would be safer to use an RTOS written in a safer language, such as  </a:t>
            </a:r>
          </a:p>
          <a:p>
            <a:pPr marL="0" indent="0">
              <a:buNone/>
            </a:pPr>
            <a:r>
              <a:rPr lang="en-US" dirty="0">
                <a:latin typeface="Helvetica"/>
                <a:cs typeface="Helvetica"/>
              </a:rPr>
              <a:t>  Ada, or in the even safer SPARK Ada language subset.</a:t>
            </a:r>
          </a:p>
          <a:p>
            <a:r>
              <a:rPr lang="en-US" dirty="0">
                <a:latin typeface="Helvetica"/>
                <a:cs typeface="Helvetica"/>
              </a:rPr>
              <a:t>Also, given that bare-metal Ada runtimes are available only for a very </a:t>
            </a:r>
          </a:p>
          <a:p>
            <a:pPr marL="0" indent="0">
              <a:buNone/>
            </a:pPr>
            <a:r>
              <a:rPr lang="en-US" dirty="0">
                <a:latin typeface="Helvetica"/>
                <a:cs typeface="Helvetica"/>
              </a:rPr>
              <a:t>  limited number of embedded platforms, more portable Ada bare-metal </a:t>
            </a:r>
          </a:p>
          <a:p>
            <a:pPr marL="0" indent="0">
              <a:buNone/>
            </a:pPr>
            <a:r>
              <a:rPr lang="en-US" dirty="0">
                <a:latin typeface="Helvetica"/>
                <a:cs typeface="Helvetica"/>
              </a:rPr>
              <a:t>  applications could be written using an Ada RTOS + a minimal platform-</a:t>
            </a:r>
          </a:p>
          <a:p>
            <a:pPr marL="0" indent="0">
              <a:buNone/>
            </a:pPr>
            <a:r>
              <a:rPr lang="en-US" dirty="0">
                <a:latin typeface="Helvetica"/>
                <a:cs typeface="Helvetica"/>
              </a:rPr>
              <a:t>  independent Ada runtime. </a:t>
            </a: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2660982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lnSpcReduction="100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In a multi-core platform, there is one </a:t>
            </a:r>
            <a:r>
              <a:rPr lang="en-US" dirty="0" err="1">
                <a:latin typeface="Helvetica"/>
                <a:cs typeface="Helvetica"/>
              </a:rPr>
              <a:t>HiRTOS</a:t>
            </a:r>
            <a:r>
              <a:rPr lang="en-US" dirty="0">
                <a:latin typeface="Helvetica"/>
                <a:cs typeface="Helvetica"/>
              </a:rPr>
              <a:t> instance per CPU.</a:t>
            </a:r>
          </a:p>
          <a:p>
            <a:pPr lvl="1"/>
            <a:r>
              <a:rPr lang="en-US" dirty="0">
                <a:latin typeface="Helvetica"/>
                <a:cs typeface="Helvetica"/>
              </a:rPr>
              <a:t>Each </a:t>
            </a:r>
            <a:r>
              <a:rPr lang="en-US" dirty="0" err="1">
                <a:latin typeface="Helvetica"/>
                <a:cs typeface="Helvetica"/>
              </a:rPr>
              <a:t>HiRTOS</a:t>
            </a:r>
            <a:r>
              <a:rPr lang="en-US" dirty="0">
                <a:latin typeface="Helvetica"/>
                <a:cs typeface="Helvetica"/>
              </a:rPr>
              <a:t> instance is independent of each other. No resources are shared between CPUs.</a:t>
            </a:r>
          </a:p>
          <a:p>
            <a:pPr lvl="1"/>
            <a:r>
              <a:rPr lang="en-US" dirty="0">
                <a:latin typeface="Helvetica"/>
                <a:cs typeface="Helvetica"/>
              </a:rPr>
              <a:t>No communication/synchronization between CPU cores is supported by </a:t>
            </a:r>
            <a:r>
              <a:rPr lang="en-US" dirty="0" err="1">
                <a:latin typeface="Helvetica"/>
                <a:cs typeface="Helvetica"/>
              </a:rPr>
              <a:t>HiRTOS</a:t>
            </a:r>
            <a:r>
              <a:rPr lang="en-US" dirty="0">
                <a:latin typeface="Helvetica"/>
                <a:cs typeface="Helvetica"/>
              </a:rPr>
              <a:t>.</a:t>
            </a:r>
          </a:p>
          <a:p>
            <a:r>
              <a:rPr lang="en-US" dirty="0">
                <a:latin typeface="Helvetica"/>
                <a:cs typeface="Helvetica"/>
              </a:rPr>
              <a:t>Mutexes and condition variables are the only synchronization </a:t>
            </a:r>
          </a:p>
          <a:p>
            <a:pPr marL="0" indent="0">
              <a:buNone/>
            </a:pPr>
            <a:r>
              <a:rPr lang="en-US" dirty="0">
                <a:latin typeface="Helvetica"/>
                <a:cs typeface="Helvetica"/>
              </a:rPr>
              <a:t>  primitives in </a:t>
            </a:r>
            <a:r>
              <a:rPr lang="en-US" dirty="0" err="1">
                <a:latin typeface="Helvetica"/>
                <a:cs typeface="Helvetica"/>
              </a:rPr>
              <a:t>HiRTOS</a:t>
            </a:r>
            <a:r>
              <a:rPr lang="en-US" dirty="0">
                <a:latin typeface="Helvetica"/>
                <a:cs typeface="Helvetica"/>
              </a:rPr>
              <a:t> </a:t>
            </a:r>
          </a:p>
          <a:p>
            <a:pPr lvl="1"/>
            <a:r>
              <a:rPr lang="en-US" dirty="0">
                <a:latin typeface="Helvetica"/>
                <a:cs typeface="Helvetica"/>
              </a:rPr>
              <a:t>Other synchronization primitives such as semaphores, event flags and </a:t>
            </a:r>
          </a:p>
          <a:p>
            <a:pPr marL="914400" lvl="1" indent="0">
              <a:buNone/>
            </a:pPr>
            <a:r>
              <a:rPr lang="en-US" dirty="0">
                <a:latin typeface="Helvetica"/>
                <a:cs typeface="Helvetica"/>
              </a:rPr>
              <a:t>   message queues can be implemented on top of mutexes and condition </a:t>
            </a:r>
          </a:p>
          <a:p>
            <a:pPr marL="914400" lvl="1" indent="0">
              <a:buNone/>
            </a:pPr>
            <a:r>
              <a:rPr lang="en-US" dirty="0">
                <a:latin typeface="Helvetica"/>
                <a:cs typeface="Helvetica"/>
              </a:rPr>
              <a:t>   variables.</a:t>
            </a:r>
          </a:p>
          <a:p>
            <a:r>
              <a:rPr lang="en-US" dirty="0" err="1">
                <a:latin typeface="Helvetica"/>
                <a:cs typeface="Helvetica"/>
              </a:rPr>
              <a:t>HiRTOS</a:t>
            </a:r>
            <a:r>
              <a:rPr lang="en-US" dirty="0">
                <a:latin typeface="Helvetica"/>
                <a:cs typeface="Helvetica"/>
              </a:rPr>
              <a:t> mutexes support both priority inheritance and priority</a:t>
            </a:r>
          </a:p>
          <a:p>
            <a:pPr marL="0" indent="0">
              <a:buNone/>
            </a:pPr>
            <a:r>
              <a:rPr lang="en-US" dirty="0">
                <a:latin typeface="Helvetica"/>
                <a:cs typeface="Helvetica"/>
              </a:rPr>
              <a:t>  ceiling protocols.</a:t>
            </a:r>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1386974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latin typeface="Helvetica"/>
                <a:cs typeface="Helvetica"/>
              </a:rPr>
              <a:t>HiRTOS</a:t>
            </a:r>
            <a:r>
              <a:rPr lang="en-US" dirty="0">
                <a:latin typeface="Helvetica"/>
                <a:cs typeface="Helvetica"/>
              </a:rPr>
              <a:t> condition variables can also be waited on while having interrupts disabled, not just while holding a mutex. </a:t>
            </a:r>
          </a:p>
          <a:p>
            <a:pPr lvl="1"/>
            <a:r>
              <a:rPr lang="en-US" dirty="0">
                <a:latin typeface="Helvetica"/>
                <a:cs typeface="Helvetica"/>
              </a:rPr>
              <a:t>This prevents missing ”thread wakeups”, when signaling condition </a:t>
            </a:r>
          </a:p>
          <a:p>
            <a:pPr marL="914400" lvl="1" indent="0">
              <a:buNone/>
            </a:pPr>
            <a:r>
              <a:rPr lang="en-US" dirty="0">
                <a:latin typeface="Helvetica"/>
                <a:cs typeface="Helvetica"/>
              </a:rPr>
              <a:t>   variables from interrupt service routines. (Semaphore not needed)  </a:t>
            </a:r>
          </a:p>
          <a:p>
            <a:r>
              <a:rPr lang="en-US" dirty="0" err="1">
                <a:latin typeface="Helvetica"/>
                <a:cs typeface="Helvetica"/>
              </a:rPr>
              <a:t>HiRTOS</a:t>
            </a:r>
            <a:r>
              <a:rPr lang="en-US" dirty="0">
                <a:latin typeface="Helvetica"/>
                <a:cs typeface="Helvetica"/>
              </a:rPr>
              <a:t> atomic levels can be used to disable the thread</a:t>
            </a:r>
          </a:p>
          <a:p>
            <a:pPr marL="0" indent="0">
              <a:buNone/>
            </a:pPr>
            <a:r>
              <a:rPr lang="en-US" dirty="0">
                <a:latin typeface="Helvetica"/>
                <a:cs typeface="Helvetica"/>
              </a:rPr>
              <a:t>  scheduler or to disable interrupts at and below a given priority or to </a:t>
            </a:r>
          </a:p>
          <a:p>
            <a:pPr marL="0" indent="0">
              <a:buNone/>
            </a:pPr>
            <a:r>
              <a:rPr lang="en-US" dirty="0">
                <a:latin typeface="Helvetica"/>
                <a:cs typeface="Helvetica"/>
              </a:rPr>
              <a:t>  disable all interrupts.</a:t>
            </a:r>
          </a:p>
          <a:p>
            <a:r>
              <a:rPr lang="en-US" dirty="0">
                <a:latin typeface="Helvetica"/>
                <a:cs typeface="Helvetica"/>
              </a:rPr>
              <a:t>Threads are bound to the CPU core in which they were created, for the lifetime of the thread. </a:t>
            </a:r>
          </a:p>
          <a:p>
            <a:pPr lvl="1"/>
            <a:r>
              <a:rPr lang="en-US" dirty="0">
                <a:latin typeface="Helvetica"/>
                <a:cs typeface="Helvetica"/>
              </a:rPr>
              <a:t>No thread migration between CPU cores is supported</a:t>
            </a: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858790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All RTOS objects such as threads, mutexes and condition  variables are allocated internally by </a:t>
            </a:r>
            <a:r>
              <a:rPr lang="en-US" dirty="0" err="1">
                <a:latin typeface="Helvetica"/>
                <a:cs typeface="Helvetica"/>
              </a:rPr>
              <a:t>HiRTOS</a:t>
            </a:r>
            <a:r>
              <a:rPr lang="en-US" dirty="0">
                <a:latin typeface="Helvetica"/>
                <a:cs typeface="Helvetica"/>
              </a:rPr>
              <a:t> from statically   allocated internal object arrays </a:t>
            </a:r>
          </a:p>
          <a:p>
            <a:pPr lvl="1"/>
            <a:r>
              <a:rPr lang="en-US" dirty="0">
                <a:latin typeface="Helvetica"/>
                <a:cs typeface="Helvetica"/>
              </a:rPr>
              <a:t>Once allocated, RTOS objects cannot be deallocated</a:t>
            </a:r>
          </a:p>
          <a:p>
            <a:pPr lvl="1"/>
            <a:r>
              <a:rPr lang="en-US" dirty="0">
                <a:latin typeface="Helvetica"/>
                <a:cs typeface="Helvetica"/>
              </a:rPr>
              <a:t>RTOS object handles provided to application code are just indices into these internal object arrays. </a:t>
            </a:r>
          </a:p>
          <a:p>
            <a:r>
              <a:rPr lang="en-US" dirty="0">
                <a:latin typeface="Helvetica"/>
                <a:cs typeface="Helvetica"/>
              </a:rPr>
              <a:t>All application threads run in unprivileged mode by default. </a:t>
            </a:r>
          </a:p>
          <a:p>
            <a:r>
              <a:rPr lang="en-US" dirty="0">
                <a:latin typeface="Helvetica"/>
                <a:cs typeface="Helvetica"/>
              </a:rPr>
              <a:t>In unprivileged mode, a thread can only access its own stack.</a:t>
            </a:r>
          </a:p>
          <a:p>
            <a:r>
              <a:rPr lang="en-US" dirty="0">
                <a:latin typeface="Helvetica"/>
                <a:cs typeface="Helvetica"/>
              </a:rPr>
              <a:t>To access global variables or MMIO space, application threads must explicitly request permission to </a:t>
            </a:r>
            <a:r>
              <a:rPr lang="en-US" dirty="0" err="1">
                <a:latin typeface="Helvetica"/>
                <a:cs typeface="Helvetica"/>
              </a:rPr>
              <a:t>HiRTOS</a:t>
            </a:r>
            <a:r>
              <a:rPr lang="en-US" dirty="0">
                <a:latin typeface="Helvetica"/>
                <a:cs typeface="Helvetica"/>
              </a:rPr>
              <a:t>.</a:t>
            </a:r>
          </a:p>
          <a:p>
            <a:pPr marL="0" indent="0">
              <a:buNone/>
            </a:pPr>
            <a:endParaRPr lang="en-US" dirty="0">
              <a:cs typeface="Helvetica" pitchFamily="34" charset="0"/>
            </a:endParaRPr>
          </a:p>
        </p:txBody>
      </p:sp>
    </p:spTree>
    <p:extLst>
      <p:ext uri="{BB962C8B-B14F-4D97-AF65-F5344CB8AC3E}">
        <p14:creationId xmlns:p14="http://schemas.microsoft.com/office/powerpoint/2010/main" val="4214927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34ECA1-F588-2DFA-ECBD-23491C7F26CD}"/>
              </a:ext>
            </a:extLst>
          </p:cNvPr>
          <p:cNvPicPr>
            <a:picLocks noChangeAspect="1"/>
          </p:cNvPicPr>
          <p:nvPr/>
        </p:nvPicPr>
        <p:blipFill>
          <a:blip r:embed="rId3"/>
          <a:stretch>
            <a:fillRect/>
          </a:stretch>
        </p:blipFill>
        <p:spPr>
          <a:xfrm>
            <a:off x="5039685" y="3673486"/>
            <a:ext cx="8719712" cy="9441645"/>
          </a:xfrm>
          <a:prstGeom prst="rect">
            <a:avLst/>
          </a:prstGeom>
        </p:spPr>
      </p:pic>
      <p:pic>
        <p:nvPicPr>
          <p:cNvPr id="18" name="Picture 17">
            <a:extLst>
              <a:ext uri="{FF2B5EF4-FFF2-40B4-BE49-F238E27FC236}">
                <a16:creationId xmlns:a16="http://schemas.microsoft.com/office/drawing/2014/main" id="{81413355-8863-023D-1337-4AE5F66F0476}"/>
              </a:ext>
            </a:extLst>
          </p:cNvPr>
          <p:cNvPicPr>
            <a:picLocks noChangeAspect="1"/>
          </p:cNvPicPr>
          <p:nvPr/>
        </p:nvPicPr>
        <p:blipFill>
          <a:blip r:embed="rId4"/>
          <a:stretch>
            <a:fillRect/>
          </a:stretch>
        </p:blipFill>
        <p:spPr>
          <a:xfrm>
            <a:off x="14418469" y="3674983"/>
            <a:ext cx="8719712" cy="6248059"/>
          </a:xfrm>
          <a:prstGeom prst="rect">
            <a:avLst/>
          </a:prstGeom>
        </p:spPr>
      </p:pic>
      <p:pic>
        <p:nvPicPr>
          <p:cNvPr id="19" name="Picture 18">
            <a:extLst>
              <a:ext uri="{FF2B5EF4-FFF2-40B4-BE49-F238E27FC236}">
                <a16:creationId xmlns:a16="http://schemas.microsoft.com/office/drawing/2014/main" id="{F948D59D-C5D6-8051-4F04-042D2B040C53}"/>
              </a:ext>
            </a:extLst>
          </p:cNvPr>
          <p:cNvPicPr>
            <a:picLocks noChangeAspect="1"/>
          </p:cNvPicPr>
          <p:nvPr/>
        </p:nvPicPr>
        <p:blipFill>
          <a:blip r:embed="rId5"/>
          <a:stretch>
            <a:fillRect/>
          </a:stretch>
        </p:blipFill>
        <p:spPr>
          <a:xfrm>
            <a:off x="14425135" y="10131801"/>
            <a:ext cx="7195187" cy="1637481"/>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 (4)</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362200"/>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pointer-less data structures</a:t>
            </a:r>
          </a:p>
        </p:txBody>
      </p:sp>
      <p:sp>
        <p:nvSpPr>
          <p:cNvPr id="7" name="Double Brace 6">
            <a:extLst>
              <a:ext uri="{FF2B5EF4-FFF2-40B4-BE49-F238E27FC236}">
                <a16:creationId xmlns:a16="http://schemas.microsoft.com/office/drawing/2014/main" id="{7A0CD922-E7B1-B0BC-35D6-4B51C6AEBE44}"/>
              </a:ext>
            </a:extLst>
          </p:cNvPr>
          <p:cNvSpPr/>
          <p:nvPr/>
        </p:nvSpPr>
        <p:spPr>
          <a:xfrm flipH="1">
            <a:off x="5039685" y="10716339"/>
            <a:ext cx="4867902" cy="1052941"/>
          </a:xfrm>
          <a:prstGeom prst="brace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n w="0">
                <a:solidFill>
                  <a:schemeClr val="tx1"/>
                </a:solidFill>
              </a:ln>
              <a:solidFill>
                <a:sysClr val="windowText" lastClr="000000"/>
              </a:solidFill>
              <a:effectLst>
                <a:outerShdw blurRad="38100" dist="19050" dir="2700000" algn="tl" rotWithShape="0">
                  <a:schemeClr val="dk1">
                    <a:alpha val="40000"/>
                  </a:schemeClr>
                </a:outerShdw>
              </a:effectLst>
            </a:endParaRPr>
          </a:p>
        </p:txBody>
      </p:sp>
      <p:sp>
        <p:nvSpPr>
          <p:cNvPr id="3" name="Rounded Rectangular Callout 2">
            <a:extLst>
              <a:ext uri="{FF2B5EF4-FFF2-40B4-BE49-F238E27FC236}">
                <a16:creationId xmlns:a16="http://schemas.microsoft.com/office/drawing/2014/main" id="{51BFF52E-EEEF-F924-B406-51BF89B164A2}"/>
              </a:ext>
            </a:extLst>
          </p:cNvPr>
          <p:cNvSpPr/>
          <p:nvPr/>
        </p:nvSpPr>
        <p:spPr>
          <a:xfrm>
            <a:off x="686449" y="8771731"/>
            <a:ext cx="3626036" cy="823320"/>
          </a:xfrm>
          <a:prstGeom prst="wedgeRoundRectCallout">
            <a:avLst>
              <a:gd name="adj1" fmla="val 69214"/>
              <a:gd name="adj2" fmla="val 24257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Arrays of RTOS objects</a:t>
            </a:r>
          </a:p>
        </p:txBody>
      </p:sp>
      <p:sp>
        <p:nvSpPr>
          <p:cNvPr id="13" name="Rounded Rectangular Callout 12">
            <a:extLst>
              <a:ext uri="{FF2B5EF4-FFF2-40B4-BE49-F238E27FC236}">
                <a16:creationId xmlns:a16="http://schemas.microsoft.com/office/drawing/2014/main" id="{A4717108-2D09-28FB-DD6B-FC8F6F705F1A}"/>
              </a:ext>
            </a:extLst>
          </p:cNvPr>
          <p:cNvSpPr/>
          <p:nvPr/>
        </p:nvSpPr>
        <p:spPr>
          <a:xfrm>
            <a:off x="19845300" y="4131442"/>
            <a:ext cx="3763816" cy="823320"/>
          </a:xfrm>
          <a:prstGeom prst="wedgeRoundRectCallout">
            <a:avLst>
              <a:gd name="adj1" fmla="val -43916"/>
              <a:gd name="adj2" fmla="val -8109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pointer-less linked lists</a:t>
            </a:r>
          </a:p>
        </p:txBody>
      </p:sp>
      <p:sp>
        <p:nvSpPr>
          <p:cNvPr id="14" name="Rounded Rectangular Callout 13">
            <a:extLst>
              <a:ext uri="{FF2B5EF4-FFF2-40B4-BE49-F238E27FC236}">
                <a16:creationId xmlns:a16="http://schemas.microsoft.com/office/drawing/2014/main" id="{09D4F894-B089-5CDE-EA97-C35E6D9BD8AB}"/>
              </a:ext>
            </a:extLst>
          </p:cNvPr>
          <p:cNvSpPr/>
          <p:nvPr/>
        </p:nvSpPr>
        <p:spPr>
          <a:xfrm>
            <a:off x="686449" y="11199986"/>
            <a:ext cx="3408255" cy="1509314"/>
          </a:xfrm>
          <a:prstGeom prst="wedgeRoundRectCallout">
            <a:avLst>
              <a:gd name="adj1" fmla="val 76799"/>
              <a:gd name="adj2" fmla="val 1148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Arrays of nodes for linked lists of the corresponding type</a:t>
            </a:r>
          </a:p>
        </p:txBody>
      </p:sp>
      <p:sp>
        <p:nvSpPr>
          <p:cNvPr id="15" name="Double Brace 14">
            <a:extLst>
              <a:ext uri="{FF2B5EF4-FFF2-40B4-BE49-F238E27FC236}">
                <a16:creationId xmlns:a16="http://schemas.microsoft.com/office/drawing/2014/main" id="{9C1E5BFD-BDAD-AFD1-F4DF-4ACFE68CCF22}"/>
              </a:ext>
            </a:extLst>
          </p:cNvPr>
          <p:cNvSpPr/>
          <p:nvPr/>
        </p:nvSpPr>
        <p:spPr>
          <a:xfrm flipH="1">
            <a:off x="5039685" y="11769281"/>
            <a:ext cx="6620502" cy="728259"/>
          </a:xfrm>
          <a:prstGeom prst="brace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n w="0">
                <a:solidFill>
                  <a:schemeClr val="tx1"/>
                </a:solidFill>
              </a:ln>
              <a:solidFill>
                <a:sysClr val="windowText" lastClr="000000"/>
              </a:solidFill>
              <a:effectLst>
                <a:outerShdw blurRad="38100" dist="19050" dir="2700000" algn="tl" rotWithShape="0">
                  <a:schemeClr val="dk1">
                    <a:alpha val="40000"/>
                  </a:schemeClr>
                </a:outerShdw>
              </a:effectLst>
            </a:endParaRPr>
          </a:p>
        </p:txBody>
      </p:sp>
      <p:sp>
        <p:nvSpPr>
          <p:cNvPr id="21" name="Rounded Rectangular Callout 20">
            <a:extLst>
              <a:ext uri="{FF2B5EF4-FFF2-40B4-BE49-F238E27FC236}">
                <a16:creationId xmlns:a16="http://schemas.microsoft.com/office/drawing/2014/main" id="{4920FD21-2D98-E8CC-5AED-C6FDA589B365}"/>
              </a:ext>
            </a:extLst>
          </p:cNvPr>
          <p:cNvSpPr/>
          <p:nvPr/>
        </p:nvSpPr>
        <p:spPr>
          <a:xfrm>
            <a:off x="19845300" y="5745952"/>
            <a:ext cx="3763816" cy="823320"/>
          </a:xfrm>
          <a:prstGeom prst="wedgeRoundRectCallout">
            <a:avLst>
              <a:gd name="adj1" fmla="val -51551"/>
              <a:gd name="adj2" fmla="val -9061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pointer-less linked lists</a:t>
            </a:r>
          </a:p>
        </p:txBody>
      </p:sp>
      <p:sp>
        <p:nvSpPr>
          <p:cNvPr id="22" name="Rounded Rectangular Callout 21">
            <a:extLst>
              <a:ext uri="{FF2B5EF4-FFF2-40B4-BE49-F238E27FC236}">
                <a16:creationId xmlns:a16="http://schemas.microsoft.com/office/drawing/2014/main" id="{CF9CE518-4C6B-FE56-A651-BB6AF37845DF}"/>
              </a:ext>
            </a:extLst>
          </p:cNvPr>
          <p:cNvSpPr/>
          <p:nvPr/>
        </p:nvSpPr>
        <p:spPr>
          <a:xfrm>
            <a:off x="21609066" y="11230566"/>
            <a:ext cx="2393198" cy="981692"/>
          </a:xfrm>
          <a:prstGeom prst="wedgeRoundRectCallout">
            <a:avLst>
              <a:gd name="adj1" fmla="val -71631"/>
              <a:gd name="adj2" fmla="val -14641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pointer-less</a:t>
            </a:r>
          </a:p>
          <a:p>
            <a:pPr algn="ctr"/>
            <a:r>
              <a:rPr lang="en-US" sz="2800" dirty="0">
                <a:solidFill>
                  <a:schemeClr val="tx1"/>
                </a:solidFill>
              </a:rPr>
              <a:t>linked lists</a:t>
            </a:r>
          </a:p>
        </p:txBody>
      </p:sp>
    </p:spTree>
    <p:extLst>
      <p:ext uri="{BB962C8B-B14F-4D97-AF65-F5344CB8AC3E}">
        <p14:creationId xmlns:p14="http://schemas.microsoft.com/office/powerpoint/2010/main" val="27341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 (5)</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362200"/>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pointer-less linked lists</a:t>
            </a:r>
          </a:p>
        </p:txBody>
      </p:sp>
      <p:pic>
        <p:nvPicPr>
          <p:cNvPr id="3" name="Picture 2">
            <a:extLst>
              <a:ext uri="{FF2B5EF4-FFF2-40B4-BE49-F238E27FC236}">
                <a16:creationId xmlns:a16="http://schemas.microsoft.com/office/drawing/2014/main" id="{E059634A-2DEE-9C70-83A7-05EB39BB0441}"/>
              </a:ext>
            </a:extLst>
          </p:cNvPr>
          <p:cNvPicPr>
            <a:picLocks noChangeAspect="1"/>
          </p:cNvPicPr>
          <p:nvPr/>
        </p:nvPicPr>
        <p:blipFill>
          <a:blip r:embed="rId3"/>
          <a:stretch>
            <a:fillRect/>
          </a:stretch>
        </p:blipFill>
        <p:spPr>
          <a:xfrm>
            <a:off x="3811587" y="3962400"/>
            <a:ext cx="6832600" cy="5067300"/>
          </a:xfrm>
          <a:prstGeom prst="rect">
            <a:avLst/>
          </a:prstGeom>
        </p:spPr>
      </p:pic>
      <p:pic>
        <p:nvPicPr>
          <p:cNvPr id="7" name="Picture 6">
            <a:extLst>
              <a:ext uri="{FF2B5EF4-FFF2-40B4-BE49-F238E27FC236}">
                <a16:creationId xmlns:a16="http://schemas.microsoft.com/office/drawing/2014/main" id="{2151C626-D0DC-07B8-67CE-1950D6B4530E}"/>
              </a:ext>
            </a:extLst>
          </p:cNvPr>
          <p:cNvPicPr>
            <a:picLocks noChangeAspect="1"/>
          </p:cNvPicPr>
          <p:nvPr/>
        </p:nvPicPr>
        <p:blipFill>
          <a:blip r:embed="rId4"/>
          <a:stretch>
            <a:fillRect/>
          </a:stretch>
        </p:blipFill>
        <p:spPr>
          <a:xfrm>
            <a:off x="14098587" y="2622822"/>
            <a:ext cx="7772400" cy="5667576"/>
          </a:xfrm>
          <a:prstGeom prst="rect">
            <a:avLst/>
          </a:prstGeom>
        </p:spPr>
      </p:pic>
      <p:pic>
        <p:nvPicPr>
          <p:cNvPr id="8" name="Picture 7">
            <a:extLst>
              <a:ext uri="{FF2B5EF4-FFF2-40B4-BE49-F238E27FC236}">
                <a16:creationId xmlns:a16="http://schemas.microsoft.com/office/drawing/2014/main" id="{DCD41A5E-ECD5-1D4C-5D86-73DF7AD95644}"/>
              </a:ext>
            </a:extLst>
          </p:cNvPr>
          <p:cNvPicPr>
            <a:picLocks noChangeAspect="1"/>
          </p:cNvPicPr>
          <p:nvPr/>
        </p:nvPicPr>
        <p:blipFill>
          <a:blip r:embed="rId5"/>
          <a:stretch>
            <a:fillRect/>
          </a:stretch>
        </p:blipFill>
        <p:spPr>
          <a:xfrm>
            <a:off x="14098587" y="8364936"/>
            <a:ext cx="7772400" cy="4690386"/>
          </a:xfrm>
          <a:prstGeom prst="rect">
            <a:avLst/>
          </a:prstGeom>
        </p:spPr>
      </p:pic>
      <p:sp>
        <p:nvSpPr>
          <p:cNvPr id="12" name="Rounded Rectangular Callout 11">
            <a:extLst>
              <a:ext uri="{FF2B5EF4-FFF2-40B4-BE49-F238E27FC236}">
                <a16:creationId xmlns:a16="http://schemas.microsoft.com/office/drawing/2014/main" id="{3233B26D-C5E7-1217-FEA1-3309BEF8259B}"/>
              </a:ext>
            </a:extLst>
          </p:cNvPr>
          <p:cNvSpPr/>
          <p:nvPr/>
        </p:nvSpPr>
        <p:spPr>
          <a:xfrm>
            <a:off x="3559174" y="11083355"/>
            <a:ext cx="7086600" cy="1143741"/>
          </a:xfrm>
          <a:prstGeom prst="wedgeRoundRectCallout">
            <a:avLst>
              <a:gd name="adj1" fmla="val 97403"/>
              <a:gd name="adj2" fmla="val 11187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Backing storage for all the linked lists (pairs of next/</a:t>
            </a:r>
            <a:r>
              <a:rPr lang="en-US" sz="2800" dirty="0" err="1">
                <a:solidFill>
                  <a:schemeClr val="tx1"/>
                </a:solidFill>
              </a:rPr>
              <a:t>prev</a:t>
            </a:r>
            <a:r>
              <a:rPr lang="en-US" sz="2800" dirty="0">
                <a:solidFill>
                  <a:schemeClr val="tx1"/>
                </a:solidFill>
              </a:rPr>
              <a:t> injective functions) of a given type </a:t>
            </a:r>
          </a:p>
        </p:txBody>
      </p:sp>
      <p:sp>
        <p:nvSpPr>
          <p:cNvPr id="11" name="Rounded Rectangular Callout 10">
            <a:extLst>
              <a:ext uri="{FF2B5EF4-FFF2-40B4-BE49-F238E27FC236}">
                <a16:creationId xmlns:a16="http://schemas.microsoft.com/office/drawing/2014/main" id="{D3922A41-AF47-8B53-E19B-306F87E2A1B0}"/>
              </a:ext>
            </a:extLst>
          </p:cNvPr>
          <p:cNvSpPr/>
          <p:nvPr/>
        </p:nvSpPr>
        <p:spPr>
          <a:xfrm>
            <a:off x="3560761" y="11083355"/>
            <a:ext cx="7086600" cy="1143741"/>
          </a:xfrm>
          <a:prstGeom prst="wedgeRoundRectCallout">
            <a:avLst>
              <a:gd name="adj1" fmla="val -16882"/>
              <a:gd name="adj2" fmla="val -23075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Backing storage for all the linked lists (pairs of “next/</a:t>
            </a:r>
            <a:r>
              <a:rPr lang="en-US" sz="2800" dirty="0" err="1">
                <a:solidFill>
                  <a:schemeClr val="tx1"/>
                </a:solidFill>
              </a:rPr>
              <a:t>prev</a:t>
            </a:r>
            <a:r>
              <a:rPr lang="en-US" sz="2800" dirty="0">
                <a:solidFill>
                  <a:schemeClr val="tx1"/>
                </a:solidFill>
              </a:rPr>
              <a:t>” injective functions) of a given type </a:t>
            </a:r>
          </a:p>
        </p:txBody>
      </p:sp>
    </p:spTree>
    <p:extLst>
      <p:ext uri="{BB962C8B-B14F-4D97-AF65-F5344CB8AC3E}">
        <p14:creationId xmlns:p14="http://schemas.microsoft.com/office/powerpoint/2010/main" val="3093517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Supported Platforms</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ARM Fixed Virtual Platform (FVP) Simulator for ARMv8-R (ARM </a:t>
            </a:r>
            <a:r>
              <a:rPr lang="en-US" dirty="0">
                <a:latin typeface="Helvetica"/>
                <a:cs typeface="Helvetica" pitchFamily="34" charset="0"/>
              </a:rPr>
              <a:t>Cortex-R52 processor with 4 cores)</a:t>
            </a:r>
            <a:endParaRPr lang="en-US" dirty="0">
              <a:cs typeface="Helvetica" pitchFamily="34" charset="0"/>
            </a:endParaRPr>
          </a:p>
        </p:txBody>
      </p:sp>
      <p:pic>
        <p:nvPicPr>
          <p:cNvPr id="1026" name="Picture 2">
            <a:extLst>
              <a:ext uri="{FF2B5EF4-FFF2-40B4-BE49-F238E27FC236}">
                <a16:creationId xmlns:a16="http://schemas.microsoft.com/office/drawing/2014/main" id="{0C0B2C85-6E5B-72B4-560D-4A2DCCE0A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233" y="4876800"/>
            <a:ext cx="14490687" cy="807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686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Supported Platforms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ARM Cortex-R52-SMP </a:t>
            </a:r>
            <a:r>
              <a:rPr lang="en-US" dirty="0" err="1">
                <a:latin typeface="Helvetica"/>
                <a:cs typeface="Helvetica"/>
              </a:rPr>
              <a:t>Renode</a:t>
            </a:r>
            <a:r>
              <a:rPr lang="en-US" dirty="0">
                <a:latin typeface="Helvetica"/>
                <a:cs typeface="Helvetica"/>
              </a:rPr>
              <a:t> Simulator configuration (2 cores)</a:t>
            </a:r>
          </a:p>
        </p:txBody>
      </p:sp>
      <p:pic>
        <p:nvPicPr>
          <p:cNvPr id="3074" name="Picture 2">
            <a:extLst>
              <a:ext uri="{FF2B5EF4-FFF2-40B4-BE49-F238E27FC236}">
                <a16:creationId xmlns:a16="http://schemas.microsoft.com/office/drawing/2014/main" id="{50A907F0-02E6-7913-4223-386D8D994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4587" y="4343400"/>
            <a:ext cx="15648628" cy="8432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176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Supported Platforms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RISC-V-based ESP32-C3 board (single-core)</a:t>
            </a:r>
          </a:p>
        </p:txBody>
      </p:sp>
      <p:pic>
        <p:nvPicPr>
          <p:cNvPr id="5122" name="Picture 2">
            <a:extLst>
              <a:ext uri="{FF2B5EF4-FFF2-40B4-BE49-F238E27FC236}">
                <a16:creationId xmlns:a16="http://schemas.microsoft.com/office/drawing/2014/main" id="{9C648D2C-1514-CF01-59A6-7B82ADA85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0333" y="4419600"/>
            <a:ext cx="14671547" cy="8501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31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Usage Architecture Vision</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514600"/>
            <a:ext cx="9848151"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Using </a:t>
            </a:r>
            <a:r>
              <a:rPr lang="en-US" dirty="0" err="1">
                <a:cs typeface="Helvetica" pitchFamily="34" charset="0"/>
              </a:rPr>
              <a:t>HiRTOS</a:t>
            </a:r>
            <a:r>
              <a:rPr lang="en-US" dirty="0">
                <a:cs typeface="Helvetica" pitchFamily="34" charset="0"/>
              </a:rPr>
              <a:t> from C/C++ </a:t>
            </a:r>
          </a:p>
        </p:txBody>
      </p:sp>
      <p:sp>
        <p:nvSpPr>
          <p:cNvPr id="6" name="Content Placeholder 1">
            <a:extLst>
              <a:ext uri="{FF2B5EF4-FFF2-40B4-BE49-F238E27FC236}">
                <a16:creationId xmlns:a16="http://schemas.microsoft.com/office/drawing/2014/main" id="{B2CDB087-10AE-090A-4558-04E9FAE36BF2}"/>
              </a:ext>
            </a:extLst>
          </p:cNvPr>
          <p:cNvSpPr txBox="1">
            <a:spLocks/>
          </p:cNvSpPr>
          <p:nvPr/>
        </p:nvSpPr>
        <p:spPr>
          <a:xfrm>
            <a:off x="12193587" y="2514600"/>
            <a:ext cx="9848151"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Using </a:t>
            </a:r>
            <a:r>
              <a:rPr lang="en-US" dirty="0" err="1">
                <a:cs typeface="Helvetica" pitchFamily="34" charset="0"/>
              </a:rPr>
              <a:t>HiRTOS</a:t>
            </a:r>
            <a:r>
              <a:rPr lang="en-US" dirty="0">
                <a:cs typeface="Helvetica" pitchFamily="34" charset="0"/>
              </a:rPr>
              <a:t> from Ada </a:t>
            </a:r>
          </a:p>
        </p:txBody>
      </p:sp>
      <p:pic>
        <p:nvPicPr>
          <p:cNvPr id="8" name="Picture 7">
            <a:extLst>
              <a:ext uri="{FF2B5EF4-FFF2-40B4-BE49-F238E27FC236}">
                <a16:creationId xmlns:a16="http://schemas.microsoft.com/office/drawing/2014/main" id="{D4E7151A-906F-1AF3-AE1E-CBD9DC5DC1E2}"/>
              </a:ext>
            </a:extLst>
          </p:cNvPr>
          <p:cNvPicPr>
            <a:picLocks noChangeAspect="1"/>
          </p:cNvPicPr>
          <p:nvPr/>
        </p:nvPicPr>
        <p:blipFill>
          <a:blip r:embed="rId3"/>
          <a:stretch>
            <a:fillRect/>
          </a:stretch>
        </p:blipFill>
        <p:spPr>
          <a:xfrm>
            <a:off x="1993362" y="3771990"/>
            <a:ext cx="7079550" cy="9398288"/>
          </a:xfrm>
          <a:prstGeom prst="rect">
            <a:avLst/>
          </a:prstGeom>
        </p:spPr>
      </p:pic>
      <p:pic>
        <p:nvPicPr>
          <p:cNvPr id="3" name="Picture 2">
            <a:extLst>
              <a:ext uri="{FF2B5EF4-FFF2-40B4-BE49-F238E27FC236}">
                <a16:creationId xmlns:a16="http://schemas.microsoft.com/office/drawing/2014/main" id="{DAAC2E52-F31D-0FF0-DDF6-EA6C57602C97}"/>
              </a:ext>
            </a:extLst>
          </p:cNvPr>
          <p:cNvPicPr>
            <a:picLocks noChangeAspect="1"/>
          </p:cNvPicPr>
          <p:nvPr/>
        </p:nvPicPr>
        <p:blipFill>
          <a:blip r:embed="rId4"/>
          <a:stretch>
            <a:fillRect/>
          </a:stretch>
        </p:blipFill>
        <p:spPr>
          <a:xfrm>
            <a:off x="12522025" y="3771990"/>
            <a:ext cx="9191274" cy="9310255"/>
          </a:xfrm>
          <a:prstGeom prst="rect">
            <a:avLst/>
          </a:prstGeom>
        </p:spPr>
      </p:pic>
    </p:spTree>
    <p:extLst>
      <p:ext uri="{BB962C8B-B14F-4D97-AF65-F5344CB8AC3E}">
        <p14:creationId xmlns:p14="http://schemas.microsoft.com/office/powerpoint/2010/main" val="281263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Code Architecture </a:t>
            </a:r>
            <a:endParaRPr lang="en-US" dirty="0"/>
          </a:p>
        </p:txBody>
      </p:sp>
      <p:pic>
        <p:nvPicPr>
          <p:cNvPr id="2" name="Picture 1">
            <a:extLst>
              <a:ext uri="{FF2B5EF4-FFF2-40B4-BE49-F238E27FC236}">
                <a16:creationId xmlns:a16="http://schemas.microsoft.com/office/drawing/2014/main" id="{8AD25698-4812-7F13-932D-8D553EAFB13F}"/>
              </a:ext>
            </a:extLst>
          </p:cNvPr>
          <p:cNvPicPr>
            <a:picLocks noChangeAspect="1"/>
          </p:cNvPicPr>
          <p:nvPr/>
        </p:nvPicPr>
        <p:blipFill>
          <a:blip r:embed="rId3"/>
          <a:stretch>
            <a:fillRect/>
          </a:stretch>
        </p:blipFill>
        <p:spPr>
          <a:xfrm>
            <a:off x="4497388" y="1981200"/>
            <a:ext cx="5943600" cy="10915650"/>
          </a:xfrm>
          <a:prstGeom prst="rect">
            <a:avLst/>
          </a:prstGeom>
        </p:spPr>
      </p:pic>
      <p:pic>
        <p:nvPicPr>
          <p:cNvPr id="3" name="Picture 2">
            <a:extLst>
              <a:ext uri="{FF2B5EF4-FFF2-40B4-BE49-F238E27FC236}">
                <a16:creationId xmlns:a16="http://schemas.microsoft.com/office/drawing/2014/main" id="{466E603B-1D46-F6E6-2CAB-D9B9F84BF0D5}"/>
              </a:ext>
            </a:extLst>
          </p:cNvPr>
          <p:cNvPicPr>
            <a:picLocks noChangeAspect="1"/>
          </p:cNvPicPr>
          <p:nvPr/>
        </p:nvPicPr>
        <p:blipFill>
          <a:blip r:embed="rId4"/>
          <a:stretch>
            <a:fillRect/>
          </a:stretch>
        </p:blipFill>
        <p:spPr>
          <a:xfrm>
            <a:off x="14212887" y="3810000"/>
            <a:ext cx="5676900" cy="4470400"/>
          </a:xfrm>
          <a:prstGeom prst="rect">
            <a:avLst/>
          </a:prstGeom>
        </p:spPr>
      </p:pic>
    </p:spTree>
    <p:extLst>
      <p:ext uri="{BB962C8B-B14F-4D97-AF65-F5344CB8AC3E}">
        <p14:creationId xmlns:p14="http://schemas.microsoft.com/office/powerpoint/2010/main" val="73606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HIRTOS Thread Scheduler Initialization</a:t>
            </a:r>
          </a:p>
        </p:txBody>
      </p:sp>
      <p:pic>
        <p:nvPicPr>
          <p:cNvPr id="2" name="Picture 1">
            <a:extLst>
              <a:ext uri="{FF2B5EF4-FFF2-40B4-BE49-F238E27FC236}">
                <a16:creationId xmlns:a16="http://schemas.microsoft.com/office/drawing/2014/main" id="{8F5687C0-14E6-8A6E-A6F8-3EDB0ECB39AC}"/>
              </a:ext>
            </a:extLst>
          </p:cNvPr>
          <p:cNvPicPr>
            <a:picLocks noChangeAspect="1"/>
          </p:cNvPicPr>
          <p:nvPr/>
        </p:nvPicPr>
        <p:blipFill>
          <a:blip r:embed="rId3"/>
          <a:stretch>
            <a:fillRect/>
          </a:stretch>
        </p:blipFill>
        <p:spPr>
          <a:xfrm>
            <a:off x="3201987" y="4115477"/>
            <a:ext cx="16952423" cy="9067864"/>
          </a:xfrm>
          <a:prstGeom prst="rect">
            <a:avLst/>
          </a:prstGeom>
        </p:spPr>
      </p:pic>
    </p:spTree>
    <p:extLst>
      <p:ext uri="{BB962C8B-B14F-4D97-AF65-F5344CB8AC3E}">
        <p14:creationId xmlns:p14="http://schemas.microsoft.com/office/powerpoint/2010/main" val="3820929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HIRTOS Thread Scheduler Initialization (cont.)</a:t>
            </a:r>
          </a:p>
        </p:txBody>
      </p:sp>
      <p:pic>
        <p:nvPicPr>
          <p:cNvPr id="3" name="Picture 2">
            <a:extLst>
              <a:ext uri="{FF2B5EF4-FFF2-40B4-BE49-F238E27FC236}">
                <a16:creationId xmlns:a16="http://schemas.microsoft.com/office/drawing/2014/main" id="{C89F6A67-B41F-992D-27A6-0C7A7B0E0FF8}"/>
              </a:ext>
            </a:extLst>
          </p:cNvPr>
          <p:cNvPicPr>
            <a:picLocks noChangeAspect="1"/>
          </p:cNvPicPr>
          <p:nvPr/>
        </p:nvPicPr>
        <p:blipFill>
          <a:blip r:embed="rId3"/>
          <a:stretch>
            <a:fillRect/>
          </a:stretch>
        </p:blipFill>
        <p:spPr>
          <a:xfrm>
            <a:off x="3414616" y="4419600"/>
            <a:ext cx="17587583" cy="7543800"/>
          </a:xfrm>
          <a:prstGeom prst="rect">
            <a:avLst/>
          </a:prstGeom>
        </p:spPr>
      </p:pic>
      <p:sp>
        <p:nvSpPr>
          <p:cNvPr id="7" name="Rounded Rectangular Callout 6">
            <a:extLst>
              <a:ext uri="{FF2B5EF4-FFF2-40B4-BE49-F238E27FC236}">
                <a16:creationId xmlns:a16="http://schemas.microsoft.com/office/drawing/2014/main" id="{260BE594-90CB-B15D-230D-68B4E734A28B}"/>
              </a:ext>
            </a:extLst>
          </p:cNvPr>
          <p:cNvSpPr/>
          <p:nvPr/>
        </p:nvSpPr>
        <p:spPr>
          <a:xfrm>
            <a:off x="10136187" y="9372600"/>
            <a:ext cx="2867394" cy="823320"/>
          </a:xfrm>
          <a:prstGeom prst="wedgeRoundRectCallout">
            <a:avLst>
              <a:gd name="adj1" fmla="val 93956"/>
              <a:gd name="adj2" fmla="val -16042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highest priority</a:t>
            </a:r>
          </a:p>
          <a:p>
            <a:pPr algn="ctr"/>
            <a:r>
              <a:rPr lang="en-US" sz="2400" dirty="0">
                <a:solidFill>
                  <a:schemeClr val="tx1"/>
                </a:solidFill>
              </a:rPr>
              <a:t> thread stack</a:t>
            </a:r>
          </a:p>
        </p:txBody>
      </p:sp>
    </p:spTree>
    <p:extLst>
      <p:ext uri="{BB962C8B-B14F-4D97-AF65-F5344CB8AC3E}">
        <p14:creationId xmlns:p14="http://schemas.microsoft.com/office/powerpoint/2010/main" val="3930263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Asynchronous Thread Context Switch</a:t>
            </a:r>
          </a:p>
          <a:p>
            <a:pPr lvl="1"/>
            <a:r>
              <a:rPr lang="en-US" dirty="0">
                <a:cs typeface="Helvetica" pitchFamily="34" charset="0"/>
              </a:rPr>
              <a:t>In </a:t>
            </a:r>
            <a:r>
              <a:rPr lang="en-US" dirty="0" err="1">
                <a:cs typeface="Helvetica" pitchFamily="34" charset="0"/>
              </a:rPr>
              <a:t>HiRTOS</a:t>
            </a:r>
            <a:r>
              <a:rPr lang="en-US" dirty="0">
                <a:cs typeface="Helvetica" pitchFamily="34" charset="0"/>
              </a:rPr>
              <a:t>, thread preemption is implemented by invoking the thread scheduler on the exit path of an interrupt handler.</a:t>
            </a:r>
          </a:p>
          <a:p>
            <a:pPr lvl="1"/>
            <a:r>
              <a:rPr lang="en-US" dirty="0">
                <a:cs typeface="Helvetica" pitchFamily="34" charset="0"/>
              </a:rPr>
              <a:t>When an interrupt fires while a thread is running, the executing thread’s CPU context is saved on thread’s stack by the interrupt handler prolog. </a:t>
            </a:r>
          </a:p>
          <a:p>
            <a:pPr lvl="1"/>
            <a:r>
              <a:rPr lang="en-US" dirty="0">
                <a:cs typeface="Helvetica" pitchFamily="34" charset="0"/>
              </a:rPr>
              <a:t>Then, before calling the actual interrupt handler, the stack is switched to the interrupt handling stack. After the interrupt handler returns, the interrupt handler epilog invokes the </a:t>
            </a:r>
            <a:r>
              <a:rPr lang="en-US" dirty="0" err="1">
                <a:cs typeface="Helvetica" pitchFamily="34" charset="0"/>
              </a:rPr>
              <a:t>HiRTOS</a:t>
            </a:r>
            <a:r>
              <a:rPr lang="en-US" dirty="0">
                <a:cs typeface="Helvetica" pitchFamily="34" charset="0"/>
              </a:rPr>
              <a:t> thread scheduler, to select the highest</a:t>
            </a:r>
          </a:p>
          <a:p>
            <a:pPr marL="914400" lvl="1" indent="0">
              <a:buNone/>
            </a:pPr>
            <a:r>
              <a:rPr lang="en-US" dirty="0">
                <a:cs typeface="Helvetica" pitchFamily="34" charset="0"/>
              </a:rPr>
              <a:t>   priority runnable thread. </a:t>
            </a:r>
          </a:p>
          <a:p>
            <a:pPr lvl="1"/>
            <a:r>
              <a:rPr lang="en-US" dirty="0">
                <a:cs typeface="Helvetica" pitchFamily="34" charset="0"/>
              </a:rPr>
              <a:t>Then, if the newly selected thread is different from the one that was running before the interrupt, the extended context of the old thread is saved and the extended context of the new thread is restored.</a:t>
            </a:r>
          </a:p>
        </p:txBody>
      </p:sp>
    </p:spTree>
    <p:extLst>
      <p:ext uri="{BB962C8B-B14F-4D97-AF65-F5344CB8AC3E}">
        <p14:creationId xmlns:p14="http://schemas.microsoft.com/office/powerpoint/2010/main" val="1869198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368A62-D466-6D50-1DDC-C583FCA5F6C8}"/>
              </a:ext>
            </a:extLst>
          </p:cNvPr>
          <p:cNvPicPr>
            <a:picLocks noChangeAspect="1"/>
          </p:cNvPicPr>
          <p:nvPr/>
        </p:nvPicPr>
        <p:blipFill>
          <a:blip r:embed="rId3"/>
          <a:stretch>
            <a:fillRect/>
          </a:stretch>
        </p:blipFill>
        <p:spPr>
          <a:xfrm>
            <a:off x="5335587" y="3789855"/>
            <a:ext cx="14325600" cy="9467783"/>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(4)</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Asynchronous Thread Context Switch (cont.)</a:t>
            </a:r>
          </a:p>
        </p:txBody>
      </p:sp>
      <p:sp>
        <p:nvSpPr>
          <p:cNvPr id="3" name="Rounded Rectangular Callout 2">
            <a:extLst>
              <a:ext uri="{FF2B5EF4-FFF2-40B4-BE49-F238E27FC236}">
                <a16:creationId xmlns:a16="http://schemas.microsoft.com/office/drawing/2014/main" id="{1BC720EF-D814-5C32-BBB4-2EB4EB41F9D2}"/>
              </a:ext>
            </a:extLst>
          </p:cNvPr>
          <p:cNvSpPr/>
          <p:nvPr/>
        </p:nvSpPr>
        <p:spPr>
          <a:xfrm>
            <a:off x="2720790" y="6877617"/>
            <a:ext cx="3400794" cy="681070"/>
          </a:xfrm>
          <a:prstGeom prst="wedgeRoundRectCallout">
            <a:avLst>
              <a:gd name="adj1" fmla="val 136209"/>
              <a:gd name="adj2" fmla="val -361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Interrupt handling stack</a:t>
            </a:r>
          </a:p>
        </p:txBody>
      </p:sp>
      <p:sp>
        <p:nvSpPr>
          <p:cNvPr id="6" name="Rounded Rectangular Callout 5">
            <a:extLst>
              <a:ext uri="{FF2B5EF4-FFF2-40B4-BE49-F238E27FC236}">
                <a16:creationId xmlns:a16="http://schemas.microsoft.com/office/drawing/2014/main" id="{73066426-6275-3FFC-8D94-3072C144B189}"/>
              </a:ext>
            </a:extLst>
          </p:cNvPr>
          <p:cNvSpPr/>
          <p:nvPr/>
        </p:nvSpPr>
        <p:spPr>
          <a:xfrm>
            <a:off x="3506787" y="9939208"/>
            <a:ext cx="2567522" cy="681070"/>
          </a:xfrm>
          <a:prstGeom prst="wedgeRoundRectCallout">
            <a:avLst>
              <a:gd name="adj1" fmla="val 165650"/>
              <a:gd name="adj2" fmla="val -863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New thread stack</a:t>
            </a:r>
          </a:p>
        </p:txBody>
      </p:sp>
    </p:spTree>
    <p:extLst>
      <p:ext uri="{BB962C8B-B14F-4D97-AF65-F5344CB8AC3E}">
        <p14:creationId xmlns:p14="http://schemas.microsoft.com/office/powerpoint/2010/main" val="4187782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(5)</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Asynchronous Thread Context Switch (cont.)</a:t>
            </a:r>
          </a:p>
        </p:txBody>
      </p:sp>
      <p:pic>
        <p:nvPicPr>
          <p:cNvPr id="7" name="Picture 6">
            <a:extLst>
              <a:ext uri="{FF2B5EF4-FFF2-40B4-BE49-F238E27FC236}">
                <a16:creationId xmlns:a16="http://schemas.microsoft.com/office/drawing/2014/main" id="{3D833C80-50A0-4123-FDF4-70088AA01367}"/>
              </a:ext>
            </a:extLst>
          </p:cNvPr>
          <p:cNvPicPr>
            <a:picLocks noChangeAspect="1"/>
          </p:cNvPicPr>
          <p:nvPr/>
        </p:nvPicPr>
        <p:blipFill>
          <a:blip r:embed="rId3"/>
          <a:stretch>
            <a:fillRect/>
          </a:stretch>
        </p:blipFill>
        <p:spPr>
          <a:xfrm>
            <a:off x="2135187" y="4039341"/>
            <a:ext cx="20504729" cy="9144000"/>
          </a:xfrm>
          <a:prstGeom prst="rect">
            <a:avLst/>
          </a:prstGeom>
        </p:spPr>
      </p:pic>
    </p:spTree>
    <p:extLst>
      <p:ext uri="{BB962C8B-B14F-4D97-AF65-F5344CB8AC3E}">
        <p14:creationId xmlns:p14="http://schemas.microsoft.com/office/powerpoint/2010/main" val="2184412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(6)</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2421151" cy="10135341"/>
          </a:xfrm>
        </p:spPr>
        <p:txBody>
          <a:bodyPr vert="horz" lIns="243840" tIns="121920" rIns="243840" bIns="121920" rtlCol="0" anchor="t">
            <a:normAutofit lnSpcReduction="100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In </a:t>
            </a:r>
            <a:r>
              <a:rPr lang="en-US" dirty="0" err="1">
                <a:cs typeface="Helvetica" pitchFamily="34" charset="0"/>
              </a:rPr>
              <a:t>HiRTOS</a:t>
            </a:r>
            <a:r>
              <a:rPr lang="en-US" dirty="0">
                <a:cs typeface="Helvetica" pitchFamily="34" charset="0"/>
              </a:rPr>
              <a:t>, a synchronous thread context switch occurs when:</a:t>
            </a:r>
          </a:p>
          <a:p>
            <a:pPr lvl="1"/>
            <a:r>
              <a:rPr lang="en-US" sz="5400" dirty="0">
                <a:cs typeface="Helvetica" pitchFamily="34" charset="0"/>
              </a:rPr>
              <a:t>A thread calls </a:t>
            </a:r>
            <a:r>
              <a:rPr lang="en-US" sz="5400" dirty="0" err="1">
                <a:cs typeface="Helvetica" pitchFamily="34" charset="0"/>
              </a:rPr>
              <a:t>HiRTOS.Condvar.Wait</a:t>
            </a:r>
            <a:endParaRPr lang="en-US" sz="5400" dirty="0">
              <a:cs typeface="Helvetica" pitchFamily="34" charset="0"/>
            </a:endParaRPr>
          </a:p>
          <a:p>
            <a:pPr lvl="1"/>
            <a:r>
              <a:rPr lang="en-US" sz="5400" dirty="0">
                <a:cs typeface="Helvetica" pitchFamily="34" charset="0"/>
              </a:rPr>
              <a:t>A thread calls </a:t>
            </a:r>
            <a:r>
              <a:rPr lang="en-US" sz="5400" dirty="0" err="1">
                <a:cs typeface="Helvetica" pitchFamily="34" charset="0"/>
              </a:rPr>
              <a:t>HiRTOS.Condvar.Signal</a:t>
            </a:r>
            <a:r>
              <a:rPr lang="en-US" sz="5400" dirty="0">
                <a:cs typeface="Helvetica" pitchFamily="34" charset="0"/>
              </a:rPr>
              <a:t> or </a:t>
            </a:r>
            <a:r>
              <a:rPr lang="en-US" sz="5400" dirty="0" err="1">
                <a:cs typeface="Helvetica" pitchFamily="34" charset="0"/>
              </a:rPr>
              <a:t>HiRTOS.Condvar.Broadcast</a:t>
            </a:r>
            <a:r>
              <a:rPr lang="en-US" sz="5400" dirty="0">
                <a:cs typeface="Helvetica" pitchFamily="34" charset="0"/>
              </a:rPr>
              <a:t>,</a:t>
            </a:r>
          </a:p>
          <a:p>
            <a:pPr marL="914400" lvl="1" indent="0">
              <a:buNone/>
            </a:pPr>
            <a:r>
              <a:rPr lang="en-US" sz="5400" dirty="0">
                <a:cs typeface="Helvetica" pitchFamily="34" charset="0"/>
              </a:rPr>
              <a:t>   and there are threads waiting on the condition variable</a:t>
            </a:r>
          </a:p>
          <a:p>
            <a:pPr lvl="1"/>
            <a:r>
              <a:rPr lang="en-US" sz="5400" dirty="0">
                <a:cs typeface="Helvetica" pitchFamily="34" charset="0"/>
              </a:rPr>
              <a:t>A thread calls </a:t>
            </a:r>
            <a:r>
              <a:rPr lang="en-US" sz="5400" dirty="0" err="1">
                <a:cs typeface="Helvetica" pitchFamily="34" charset="0"/>
              </a:rPr>
              <a:t>HiRTOS.Mutex.Acquire</a:t>
            </a:r>
            <a:r>
              <a:rPr lang="en-US" sz="5400" dirty="0">
                <a:cs typeface="Helvetica" pitchFamily="34" charset="0"/>
              </a:rPr>
              <a:t> and the mutex is not available</a:t>
            </a:r>
          </a:p>
          <a:p>
            <a:pPr lvl="1"/>
            <a:r>
              <a:rPr lang="en-US" sz="5400" dirty="0">
                <a:cs typeface="Helvetica" pitchFamily="34" charset="0"/>
              </a:rPr>
              <a:t>A thread calls </a:t>
            </a:r>
            <a:r>
              <a:rPr lang="en-US" sz="5400" dirty="0" err="1">
                <a:cs typeface="Helvetica" pitchFamily="34" charset="0"/>
              </a:rPr>
              <a:t>HiRTOs.Mutex.Release</a:t>
            </a:r>
            <a:r>
              <a:rPr lang="en-US" sz="5400" dirty="0">
                <a:cs typeface="Helvetica" pitchFamily="34" charset="0"/>
              </a:rPr>
              <a:t> and there are threads waiting to</a:t>
            </a:r>
          </a:p>
          <a:p>
            <a:pPr marL="914400" lvl="1" indent="0">
              <a:buNone/>
            </a:pPr>
            <a:r>
              <a:rPr lang="en-US" sz="5400" dirty="0">
                <a:cs typeface="Helvetica" pitchFamily="34" charset="0"/>
              </a:rPr>
              <a:t>   acquire the mutex</a:t>
            </a:r>
          </a:p>
          <a:p>
            <a:pPr lvl="1"/>
            <a:r>
              <a:rPr lang="en-US" sz="5400" dirty="0">
                <a:cs typeface="Helvetica" pitchFamily="34" charset="0"/>
              </a:rPr>
              <a:t>A thread calls </a:t>
            </a:r>
            <a:r>
              <a:rPr lang="en-US" sz="5400" dirty="0" err="1">
                <a:cs typeface="Helvetica" pitchFamily="34" charset="0"/>
              </a:rPr>
              <a:t>HiRTOS.Thread.Thread_Delay_Until</a:t>
            </a:r>
            <a:r>
              <a:rPr lang="en-US" sz="5400" dirty="0">
                <a:cs typeface="Helvetica" pitchFamily="34" charset="0"/>
              </a:rPr>
              <a:t> (which calls </a:t>
            </a:r>
            <a:r>
              <a:rPr lang="en-US" sz="5400" dirty="0" err="1">
                <a:cs typeface="Helvetica" pitchFamily="34" charset="0"/>
              </a:rPr>
              <a:t>HiRTOS.Condvar.Wait</a:t>
            </a:r>
            <a:r>
              <a:rPr lang="en-US" sz="5400" dirty="0">
                <a:cs typeface="Helvetica" pitchFamily="34" charset="0"/>
              </a:rPr>
              <a:t>)</a:t>
            </a:r>
          </a:p>
          <a:p>
            <a:pPr lvl="1"/>
            <a:r>
              <a:rPr lang="en-US" sz="5400" dirty="0">
                <a:cs typeface="Helvetica" pitchFamily="34" charset="0"/>
              </a:rPr>
              <a:t>A thread calls </a:t>
            </a:r>
            <a:r>
              <a:rPr lang="en-US" sz="5400" dirty="0" err="1">
                <a:cs typeface="Helvetica" pitchFamily="34" charset="0"/>
              </a:rPr>
              <a:t>HiRTOS.Thread.Suspend_Current_Thread</a:t>
            </a:r>
            <a:endParaRPr lang="en-US" sz="5400" dirty="0">
              <a:cs typeface="Helvetica" pitchFamily="34" charset="0"/>
            </a:endParaRPr>
          </a:p>
          <a:p>
            <a:pPr lvl="1"/>
            <a:r>
              <a:rPr lang="en-US" sz="5400" dirty="0">
                <a:cs typeface="Helvetica" pitchFamily="34" charset="0"/>
              </a:rPr>
              <a:t>A thread calls </a:t>
            </a:r>
            <a:r>
              <a:rPr lang="en-US" sz="5400" dirty="0" err="1">
                <a:cs typeface="Helvetica" pitchFamily="34" charset="0"/>
              </a:rPr>
              <a:t>HiRTOS.Thread.Resume_Thread</a:t>
            </a:r>
            <a:endParaRPr lang="en-US" sz="5400" dirty="0">
              <a:cs typeface="Helvetica" pitchFamily="34" charset="0"/>
            </a:endParaRPr>
          </a:p>
          <a:p>
            <a:pPr lvl="1"/>
            <a:r>
              <a:rPr lang="en-US" sz="5400" dirty="0">
                <a:cs typeface="Helvetica" pitchFamily="34" charset="0"/>
              </a:rPr>
              <a:t>A thread calls </a:t>
            </a:r>
            <a:r>
              <a:rPr lang="en-US" sz="5400" dirty="0" err="1">
                <a:cs typeface="Helvetica" pitchFamily="34" charset="0"/>
              </a:rPr>
              <a:t>HiRTOS.Restore_Atomic_Level</a:t>
            </a:r>
            <a:r>
              <a:rPr lang="en-US" sz="5400" dirty="0">
                <a:cs typeface="Helvetica" pitchFamily="34" charset="0"/>
              </a:rPr>
              <a:t> and the old atomic level is </a:t>
            </a:r>
            <a:r>
              <a:rPr lang="en-US" sz="5400" dirty="0" err="1">
                <a:cs typeface="Helvetica" pitchFamily="34" charset="0"/>
              </a:rPr>
              <a:t>Atomic_Level_None</a:t>
            </a:r>
            <a:endParaRPr lang="en-US" sz="5400" dirty="0">
              <a:cs typeface="Helvetica" pitchFamily="34" charset="0"/>
            </a:endParaRPr>
          </a:p>
        </p:txBody>
      </p:sp>
    </p:spTree>
    <p:extLst>
      <p:ext uri="{BB962C8B-B14F-4D97-AF65-F5344CB8AC3E}">
        <p14:creationId xmlns:p14="http://schemas.microsoft.com/office/powerpoint/2010/main" val="936315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(7)</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Synchronous Thread Context Switch </a:t>
            </a:r>
          </a:p>
        </p:txBody>
      </p:sp>
      <p:pic>
        <p:nvPicPr>
          <p:cNvPr id="6" name="Picture 5">
            <a:extLst>
              <a:ext uri="{FF2B5EF4-FFF2-40B4-BE49-F238E27FC236}">
                <a16:creationId xmlns:a16="http://schemas.microsoft.com/office/drawing/2014/main" id="{3F2F7314-6852-31E0-4C97-D560D4679449}"/>
              </a:ext>
            </a:extLst>
          </p:cNvPr>
          <p:cNvPicPr>
            <a:picLocks noChangeAspect="1"/>
          </p:cNvPicPr>
          <p:nvPr/>
        </p:nvPicPr>
        <p:blipFill>
          <a:blip r:embed="rId3"/>
          <a:stretch>
            <a:fillRect/>
          </a:stretch>
        </p:blipFill>
        <p:spPr>
          <a:xfrm>
            <a:off x="3049587" y="4343400"/>
            <a:ext cx="19748918" cy="7664742"/>
          </a:xfrm>
          <a:prstGeom prst="rect">
            <a:avLst/>
          </a:prstGeom>
        </p:spPr>
      </p:pic>
    </p:spTree>
    <p:extLst>
      <p:ext uri="{BB962C8B-B14F-4D97-AF65-F5344CB8AC3E}">
        <p14:creationId xmlns:p14="http://schemas.microsoft.com/office/powerpoint/2010/main" val="2943976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7D91E95-9F14-5B72-4A3D-52901FDDE28D}"/>
              </a:ext>
            </a:extLst>
          </p:cNvPr>
          <p:cNvPicPr>
            <a:picLocks noChangeAspect="1"/>
          </p:cNvPicPr>
          <p:nvPr/>
        </p:nvPicPr>
        <p:blipFill>
          <a:blip r:embed="rId3"/>
          <a:stretch>
            <a:fillRect/>
          </a:stretch>
        </p:blipFill>
        <p:spPr>
          <a:xfrm>
            <a:off x="4040187" y="3988894"/>
            <a:ext cx="16306800" cy="9224927"/>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(8)</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Synchronous Thread Context Switch (cont.) </a:t>
            </a:r>
          </a:p>
        </p:txBody>
      </p:sp>
      <p:sp>
        <p:nvSpPr>
          <p:cNvPr id="6" name="Rounded Rectangular Callout 5">
            <a:extLst>
              <a:ext uri="{FF2B5EF4-FFF2-40B4-BE49-F238E27FC236}">
                <a16:creationId xmlns:a16="http://schemas.microsoft.com/office/drawing/2014/main" id="{FE3AAF2C-F1ED-DC36-3835-B51C26019B77}"/>
              </a:ext>
            </a:extLst>
          </p:cNvPr>
          <p:cNvSpPr/>
          <p:nvPr/>
        </p:nvSpPr>
        <p:spPr>
          <a:xfrm>
            <a:off x="6707187" y="7103272"/>
            <a:ext cx="3248394" cy="545027"/>
          </a:xfrm>
          <a:prstGeom prst="wedgeRoundRectCallout">
            <a:avLst>
              <a:gd name="adj1" fmla="val 84767"/>
              <a:gd name="adj2" fmla="val -824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Interrupt handling stack</a:t>
            </a:r>
          </a:p>
        </p:txBody>
      </p:sp>
      <p:sp>
        <p:nvSpPr>
          <p:cNvPr id="7" name="Rounded Rectangular Callout 6">
            <a:extLst>
              <a:ext uri="{FF2B5EF4-FFF2-40B4-BE49-F238E27FC236}">
                <a16:creationId xmlns:a16="http://schemas.microsoft.com/office/drawing/2014/main" id="{260BE594-90CB-B15D-230D-68B4E734A28B}"/>
              </a:ext>
            </a:extLst>
          </p:cNvPr>
          <p:cNvSpPr/>
          <p:nvPr/>
        </p:nvSpPr>
        <p:spPr>
          <a:xfrm>
            <a:off x="6959784" y="9500850"/>
            <a:ext cx="2743200" cy="545027"/>
          </a:xfrm>
          <a:prstGeom prst="wedgeRoundRectCallout">
            <a:avLst>
              <a:gd name="adj1" fmla="val 99391"/>
              <a:gd name="adj2" fmla="val -1871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New thread stack</a:t>
            </a:r>
          </a:p>
        </p:txBody>
      </p:sp>
    </p:spTree>
    <p:extLst>
      <p:ext uri="{BB962C8B-B14F-4D97-AF65-F5344CB8AC3E}">
        <p14:creationId xmlns:p14="http://schemas.microsoft.com/office/powerpoint/2010/main" val="2027787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Separation Kernel Overview</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 separation kernel can be seen as an RTOS that schedules partitions </a:t>
            </a:r>
          </a:p>
          <a:p>
            <a:pPr marL="0" indent="0">
              <a:buNone/>
            </a:pPr>
            <a:r>
              <a:rPr lang="en-US" dirty="0">
                <a:latin typeface="Helvetica"/>
                <a:cs typeface="Helvetica"/>
              </a:rPr>
              <a:t>  instead of threads</a:t>
            </a:r>
          </a:p>
          <a:p>
            <a:pPr lvl="1"/>
            <a:r>
              <a:rPr lang="en-US" dirty="0">
                <a:latin typeface="Helvetica"/>
                <a:cs typeface="Helvetica"/>
              </a:rPr>
              <a:t>CPU needs to support hypervisor privilege mode and two-stage memory </a:t>
            </a:r>
          </a:p>
          <a:p>
            <a:pPr marL="914400" lvl="1" indent="0">
              <a:buNone/>
            </a:pPr>
            <a:r>
              <a:rPr lang="en-US" dirty="0">
                <a:latin typeface="Helvetica"/>
                <a:cs typeface="Helvetica"/>
              </a:rPr>
              <a:t>   protection </a:t>
            </a:r>
          </a:p>
          <a:p>
            <a:r>
              <a:rPr lang="en-US" dirty="0">
                <a:latin typeface="Helvetica"/>
                <a:cs typeface="Helvetica"/>
              </a:rPr>
              <a:t>A partition is a spatial and temporal separation/isolation unit on which a bare-metal or RTOS-based application runs.​</a:t>
            </a:r>
          </a:p>
          <a:p>
            <a:r>
              <a:rPr lang="en-US" dirty="0">
                <a:latin typeface="Helvetica"/>
                <a:cs typeface="Helvetica"/>
              </a:rPr>
              <a:t>Each partition consists of one or more address ranges covering disjoint portions of RAM and MMIO space that only that partition can access​</a:t>
            </a:r>
          </a:p>
          <a:p>
            <a:r>
              <a:rPr lang="en-US" dirty="0" err="1">
                <a:latin typeface="Helvetica"/>
                <a:cs typeface="Helvetica"/>
              </a:rPr>
              <a:t>HiRTOS</a:t>
            </a:r>
            <a:r>
              <a:rPr lang="en-US" dirty="0">
                <a:latin typeface="Helvetica"/>
                <a:cs typeface="Helvetica"/>
              </a:rPr>
              <a:t> uses the hypervisor-controlled MPU to enforce isolation between partitions “address spaces”​</a:t>
            </a:r>
          </a:p>
          <a:p>
            <a:r>
              <a:rPr lang="en-US" dirty="0">
                <a:latin typeface="Helvetica"/>
                <a:cs typeface="Helvetica"/>
              </a:rPr>
              <a:t>Each partition can only use the supervisor-controlled MPU within its own address space</a:t>
            </a: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930820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Separation Kernel Overview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Each partition also has its own interrupt vector table and its own set of physical interrupts. </a:t>
            </a:r>
          </a:p>
          <a:p>
            <a:pPr lvl="1"/>
            <a:r>
              <a:rPr lang="en-US" dirty="0">
                <a:latin typeface="Helvetica"/>
                <a:cs typeface="Helvetica"/>
              </a:rPr>
              <a:t>Physical peripherals can be assigned to individual partitions (discrete device assignment). </a:t>
            </a:r>
          </a:p>
          <a:p>
            <a:pPr lvl="1"/>
            <a:r>
              <a:rPr lang="en-US" dirty="0">
                <a:latin typeface="Helvetica"/>
                <a:cs typeface="Helvetica"/>
              </a:rPr>
              <a:t>No device virtualization is supported.</a:t>
            </a:r>
          </a:p>
          <a:p>
            <a:r>
              <a:rPr lang="en-US" dirty="0">
                <a:latin typeface="Helvetica"/>
                <a:cs typeface="Helvetica"/>
              </a:rPr>
              <a:t>In a multi-core platform, there is one separation kernel instance per CPU Core.</a:t>
            </a:r>
          </a:p>
          <a:p>
            <a:pPr lvl="1"/>
            <a:r>
              <a:rPr lang="en-US" dirty="0">
                <a:latin typeface="Helvetica"/>
                <a:cs typeface="Helvetica"/>
              </a:rPr>
              <a:t>Each instance is independent of each other. No resources are shared.</a:t>
            </a:r>
          </a:p>
          <a:p>
            <a:pPr lvl="1"/>
            <a:r>
              <a:rPr lang="en-US" dirty="0">
                <a:latin typeface="Helvetica"/>
                <a:cs typeface="Helvetica"/>
              </a:rPr>
              <a:t>The CPU core is time-sliced among the partitions running on the same</a:t>
            </a:r>
          </a:p>
          <a:p>
            <a:pPr marL="914400" lvl="1" indent="0">
              <a:buNone/>
            </a:pPr>
            <a:r>
              <a:rPr lang="en-US" dirty="0">
                <a:latin typeface="Helvetica"/>
                <a:cs typeface="Helvetica"/>
              </a:rPr>
              <a:t>   separation kernel instance.</a:t>
            </a:r>
          </a:p>
          <a:p>
            <a:pPr lvl="1"/>
            <a:r>
              <a:rPr lang="en-US" dirty="0">
                <a:latin typeface="Helvetica"/>
                <a:cs typeface="Helvetica"/>
              </a:rPr>
              <a:t>Partitions are bound to the CPU core in which they were created. </a:t>
            </a:r>
          </a:p>
          <a:p>
            <a:pPr lvl="1"/>
            <a:r>
              <a:rPr lang="en-US" dirty="0">
                <a:latin typeface="Helvetica"/>
                <a:cs typeface="Helvetica"/>
              </a:rPr>
              <a:t>Partitions are created at boot time before starting the partition scheduler on</a:t>
            </a:r>
          </a:p>
          <a:p>
            <a:pPr marL="914400" lvl="1" indent="0">
              <a:buNone/>
            </a:pPr>
            <a:r>
              <a:rPr lang="en-US" dirty="0">
                <a:latin typeface="Helvetica"/>
                <a:cs typeface="Helvetica"/>
              </a:rPr>
              <a:t>   the corresponding CPU core. Partitions cannot be destroyed or terminated.</a:t>
            </a: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693519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Separation Kernel Overview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The separation kernel code itself runs in hypervisor privilege mode. </a:t>
            </a:r>
          </a:p>
          <a:p>
            <a:r>
              <a:rPr lang="en-US" dirty="0">
                <a:latin typeface="Helvetica"/>
                <a:cs typeface="Helvetica"/>
              </a:rPr>
              <a:t>All partitions run at a privilege lower than hypervisor mode. Partitions can communicate with the separation kernel via hypervisor calls</a:t>
            </a:r>
          </a:p>
          <a:p>
            <a:r>
              <a:rPr lang="en-US" dirty="0">
                <a:latin typeface="Helvetica"/>
                <a:cs typeface="Helvetica"/>
              </a:rPr>
              <a:t>Inter-partition communication is not supported yet</a:t>
            </a:r>
          </a:p>
          <a:p>
            <a:pPr lvl="1"/>
            <a:r>
              <a:rPr lang="en-US" dirty="0">
                <a:latin typeface="Helvetica"/>
                <a:cs typeface="Helvetica"/>
              </a:rPr>
              <a:t>A shared-memory-based mailbox mechanism could be provided in the future</a:t>
            </a: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869264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Separation Kernel Running on ARM FVP Simulator for ARMv8-R  </a:t>
            </a:r>
            <a:endParaRPr lang="en-US" dirty="0"/>
          </a:p>
        </p:txBody>
      </p:sp>
      <p:pic>
        <p:nvPicPr>
          <p:cNvPr id="7170" name="Picture 2">
            <a:extLst>
              <a:ext uri="{FF2B5EF4-FFF2-40B4-BE49-F238E27FC236}">
                <a16:creationId xmlns:a16="http://schemas.microsoft.com/office/drawing/2014/main" id="{026C2F9B-72F3-8A97-09D8-6DACC0D057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987" y="3186606"/>
            <a:ext cx="16040100" cy="9843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992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Separation Kernel Running on </a:t>
            </a:r>
            <a:r>
              <a:rPr lang="en-US" dirty="0" err="1">
                <a:latin typeface="Helvetica"/>
                <a:cs typeface="Helvetica"/>
              </a:rPr>
              <a:t>Renode</a:t>
            </a:r>
            <a:r>
              <a:rPr lang="en-US" dirty="0">
                <a:latin typeface="Helvetica"/>
                <a:cs typeface="Helvetica"/>
              </a:rPr>
              <a:t> Simulator Configured for ARMv8-R  </a:t>
            </a:r>
            <a:endParaRPr lang="en-US" dirty="0"/>
          </a:p>
        </p:txBody>
      </p:sp>
      <p:pic>
        <p:nvPicPr>
          <p:cNvPr id="9218" name="Picture 2">
            <a:extLst>
              <a:ext uri="{FF2B5EF4-FFF2-40B4-BE49-F238E27FC236}">
                <a16:creationId xmlns:a16="http://schemas.microsoft.com/office/drawing/2014/main" id="{30BD331E-AC50-ED82-3ADE-81E6B2060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587" y="3429000"/>
            <a:ext cx="17881600" cy="9581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770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Porting </a:t>
            </a:r>
            <a:r>
              <a:rPr lang="en-US" dirty="0" err="1">
                <a:latin typeface="Helvetica"/>
                <a:cs typeface="Helvetica"/>
              </a:rPr>
              <a:t>HiRTOS</a:t>
            </a:r>
            <a:r>
              <a:rPr lang="en-US" dirty="0">
                <a:latin typeface="Helvetica"/>
                <a:cs typeface="Helvetica"/>
              </a:rPr>
              <a:t> to a new platform</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Implement CPU-architecture-specific interfaces for the new CPU architecture, including:</a:t>
            </a:r>
          </a:p>
          <a:p>
            <a:pPr lvl="1"/>
            <a:r>
              <a:rPr lang="en-US" dirty="0">
                <a:cs typeface="Helvetica" pitchFamily="34" charset="0"/>
              </a:rPr>
              <a:t>Startup code</a:t>
            </a:r>
          </a:p>
          <a:p>
            <a:pPr lvl="1"/>
            <a:r>
              <a:rPr lang="en-US" dirty="0">
                <a:cs typeface="Helvetica" pitchFamily="34" charset="0"/>
              </a:rPr>
              <a:t>Interrupt handling prolog and epilog code</a:t>
            </a:r>
          </a:p>
          <a:p>
            <a:pPr lvl="1"/>
            <a:r>
              <a:rPr lang="en-US" dirty="0">
                <a:cs typeface="Helvetica" pitchFamily="34" charset="0"/>
              </a:rPr>
              <a:t>Interrupt controller driver</a:t>
            </a:r>
          </a:p>
          <a:p>
            <a:pPr lvl="1"/>
            <a:r>
              <a:rPr lang="en-US" dirty="0">
                <a:cs typeface="Helvetica" pitchFamily="34" charset="0"/>
              </a:rPr>
              <a:t>CPU-architecture-specific timer driver (if available)</a:t>
            </a:r>
          </a:p>
          <a:p>
            <a:pPr lvl="1"/>
            <a:r>
              <a:rPr lang="en-US" dirty="0">
                <a:cs typeface="Helvetica" pitchFamily="34" charset="0"/>
              </a:rPr>
              <a:t>Memory protection unit (MPU) driver</a:t>
            </a:r>
          </a:p>
          <a:p>
            <a:r>
              <a:rPr lang="en-US" dirty="0">
                <a:cs typeface="Helvetica" pitchFamily="34" charset="0"/>
              </a:rPr>
              <a:t>Implement platform-specific interfaces for the new SoC or board, including:</a:t>
            </a:r>
          </a:p>
          <a:p>
            <a:pPr lvl="1"/>
            <a:r>
              <a:rPr lang="en-US" dirty="0">
                <a:cs typeface="Helvetica" pitchFamily="34" charset="0"/>
              </a:rPr>
              <a:t>UART driver</a:t>
            </a:r>
          </a:p>
          <a:p>
            <a:pPr lvl="1"/>
            <a:r>
              <a:rPr lang="en-US" dirty="0">
                <a:cs typeface="Helvetica" pitchFamily="34" charset="0"/>
              </a:rPr>
              <a:t>External timer driver (if needed)</a:t>
            </a:r>
          </a:p>
          <a:p>
            <a:pPr lvl="1"/>
            <a:r>
              <a:rPr lang="en-US" dirty="0">
                <a:cs typeface="Helvetica" pitchFamily="34" charset="0"/>
              </a:rPr>
              <a:t>Platform-specific hardware initialization</a:t>
            </a:r>
          </a:p>
        </p:txBody>
      </p:sp>
    </p:spTree>
    <p:extLst>
      <p:ext uri="{BB962C8B-B14F-4D97-AF65-F5344CB8AC3E}">
        <p14:creationId xmlns:p14="http://schemas.microsoft.com/office/powerpoint/2010/main" val="1318140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Future Work</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lnSpcReduction="100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Change the idle thread to be a ”safety patrol” thread to check</a:t>
            </a:r>
          </a:p>
          <a:p>
            <a:pPr marL="0" indent="0">
              <a:buNone/>
            </a:pPr>
            <a:r>
              <a:rPr lang="en-US" dirty="0">
                <a:latin typeface="Helvetica"/>
                <a:cs typeface="Helvetica"/>
              </a:rPr>
              <a:t>   safety invariants and liveness properties during spare CPU cycles </a:t>
            </a:r>
          </a:p>
          <a:p>
            <a:r>
              <a:rPr lang="en-US" dirty="0">
                <a:latin typeface="Helvetica"/>
                <a:cs typeface="Helvetica"/>
              </a:rPr>
              <a:t>Add inter-core communication functionality to the </a:t>
            </a:r>
            <a:r>
              <a:rPr lang="en-US" dirty="0" err="1">
                <a:latin typeface="Helvetica"/>
                <a:cs typeface="Helvetica"/>
              </a:rPr>
              <a:t>HiRTOS</a:t>
            </a:r>
            <a:r>
              <a:rPr lang="en-US" dirty="0">
                <a:latin typeface="Helvetica"/>
                <a:cs typeface="Helvetica"/>
              </a:rPr>
              <a:t> kernel </a:t>
            </a:r>
          </a:p>
          <a:p>
            <a:r>
              <a:rPr lang="en-US" dirty="0">
                <a:latin typeface="Helvetica"/>
                <a:cs typeface="Helvetica"/>
              </a:rPr>
              <a:t>Add inter-partition communication functionality to the </a:t>
            </a:r>
            <a:r>
              <a:rPr lang="en-US" dirty="0" err="1">
                <a:latin typeface="Helvetica"/>
                <a:cs typeface="Helvetica"/>
              </a:rPr>
              <a:t>HiRTOS</a:t>
            </a:r>
            <a:endParaRPr lang="en-US" dirty="0">
              <a:latin typeface="Helvetica"/>
              <a:cs typeface="Helvetica"/>
            </a:endParaRPr>
          </a:p>
          <a:p>
            <a:pPr marL="0" indent="0">
              <a:buNone/>
            </a:pPr>
            <a:r>
              <a:rPr lang="en-US" dirty="0">
                <a:latin typeface="Helvetica"/>
                <a:cs typeface="Helvetica"/>
              </a:rPr>
              <a:t>  separation kernel</a:t>
            </a:r>
          </a:p>
          <a:p>
            <a:r>
              <a:rPr lang="en-US" dirty="0">
                <a:latin typeface="Helvetica"/>
                <a:cs typeface="Helvetica"/>
              </a:rPr>
              <a:t>Port </a:t>
            </a:r>
            <a:r>
              <a:rPr lang="en-US" dirty="0" err="1">
                <a:latin typeface="Helvetica"/>
                <a:cs typeface="Helvetica"/>
              </a:rPr>
              <a:t>HiRTOS</a:t>
            </a:r>
            <a:r>
              <a:rPr lang="en-US" dirty="0">
                <a:latin typeface="Helvetica"/>
                <a:cs typeface="Helvetica"/>
              </a:rPr>
              <a:t> to other embedded CPU architectures such as</a:t>
            </a:r>
          </a:p>
          <a:p>
            <a:pPr marL="0" indent="0">
              <a:buNone/>
            </a:pPr>
            <a:r>
              <a:rPr lang="en-US" dirty="0">
                <a:latin typeface="Helvetica"/>
                <a:cs typeface="Helvetica"/>
              </a:rPr>
              <a:t>   ARMv7-M, ARMv8-M, 64-bit ARMv8-R and 64-bit RISC-V</a:t>
            </a:r>
          </a:p>
          <a:p>
            <a:r>
              <a:rPr lang="en-US" dirty="0">
                <a:latin typeface="Helvetica"/>
                <a:cs typeface="Helvetica"/>
              </a:rPr>
              <a:t>Port The </a:t>
            </a:r>
            <a:r>
              <a:rPr lang="en-US" dirty="0" err="1">
                <a:latin typeface="Helvetica"/>
                <a:cs typeface="Helvetica"/>
              </a:rPr>
              <a:t>HiRTOS</a:t>
            </a:r>
            <a:r>
              <a:rPr lang="en-US" dirty="0">
                <a:latin typeface="Helvetica"/>
                <a:cs typeface="Helvetica"/>
              </a:rPr>
              <a:t> separation kernel to RISC-V platforms with</a:t>
            </a:r>
          </a:p>
          <a:p>
            <a:pPr marL="0" indent="0">
              <a:buNone/>
            </a:pPr>
            <a:r>
              <a:rPr lang="en-US" dirty="0">
                <a:latin typeface="Helvetica"/>
                <a:cs typeface="Helvetica"/>
              </a:rPr>
              <a:t>   Hypervisor mode</a:t>
            </a:r>
          </a:p>
          <a:p>
            <a:r>
              <a:rPr lang="en-US" dirty="0">
                <a:latin typeface="Helvetica"/>
                <a:cs typeface="Helvetica"/>
              </a:rPr>
              <a:t>Do Formal Verification of </a:t>
            </a:r>
            <a:r>
              <a:rPr lang="en-US" dirty="0" err="1">
                <a:latin typeface="Helvetica"/>
                <a:cs typeface="Helvetica"/>
              </a:rPr>
              <a:t>HiRTOS</a:t>
            </a:r>
            <a:r>
              <a:rPr lang="en-US" dirty="0">
                <a:latin typeface="Helvetica"/>
                <a:cs typeface="Helvetica"/>
              </a:rPr>
              <a:t> code using </a:t>
            </a:r>
            <a:r>
              <a:rPr lang="en-US" dirty="0" err="1">
                <a:latin typeface="Helvetica"/>
                <a:cs typeface="Helvetica"/>
              </a:rPr>
              <a:t>gnatprove</a:t>
            </a:r>
            <a:endParaRPr lang="en-US" dirty="0">
              <a:latin typeface="Helvetica"/>
              <a:cs typeface="Helvetica"/>
            </a:endParaRPr>
          </a:p>
          <a:p>
            <a:pPr marL="0" indent="0">
              <a:buNone/>
            </a:pPr>
            <a:endParaRPr lang="en-US" dirty="0">
              <a:latin typeface="Helvetica"/>
              <a:cs typeface="Helvetica"/>
            </a:endParaRPr>
          </a:p>
          <a:p>
            <a:pPr marL="0" indent="0">
              <a:buNone/>
            </a:pPr>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1910658660"/>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_Corporate Template_20xx_Mac" id="{15874106-DCD0-7342-B376-7785405F0A9F}" vid="{3BEBCF33-ABE0-EE4B-9A7D-4F204A82C0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A3E9F7280FED439F61B57FF8937FEA" ma:contentTypeVersion="9" ma:contentTypeDescription="Create a new document." ma:contentTypeScope="" ma:versionID="3aaad252b3a7042b3b026efeacfa375c">
  <xsd:schema xmlns:xsd="http://www.w3.org/2001/XMLSchema" xmlns:xs="http://www.w3.org/2001/XMLSchema" xmlns:p="http://schemas.microsoft.com/office/2006/metadata/properties" xmlns:ns2="5304e90e-7ba9-41b6-9056-f7b3cef0da5e" xmlns:ns3="9126721b-ec10-4598-8036-93cd16cd3b19" targetNamespace="http://schemas.microsoft.com/office/2006/metadata/properties" ma:root="true" ma:fieldsID="8489c9c62b933d142189b41842d9b7b5" ns2:_="" ns3:_="">
    <xsd:import namespace="5304e90e-7ba9-41b6-9056-f7b3cef0da5e"/>
    <xsd:import namespace="9126721b-ec10-4598-8036-93cd16cd3b1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04e90e-7ba9-41b6-9056-f7b3cef0d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26721b-ec10-4598-8036-93cd16cd3b1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89DBC7-BE63-4A21-BED2-20F8C31E30C7}">
  <ds:schemaRefs>
    <ds:schemaRef ds:uri="http://schemas.microsoft.com/sharepoint/v3/contenttype/forms"/>
  </ds:schemaRefs>
</ds:datastoreItem>
</file>

<file path=customXml/itemProps2.xml><?xml version="1.0" encoding="utf-8"?>
<ds:datastoreItem xmlns:ds="http://schemas.openxmlformats.org/officeDocument/2006/customXml" ds:itemID="{F5C50DF3-A7B6-4356-AA1A-8A18B844DB2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0747B4B-60D3-404C-8577-630FC96D1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04e90e-7ba9-41b6-9056-f7b3cef0da5e"/>
    <ds:schemaRef ds:uri="9126721b-ec10-4598-8036-93cd16cd3b1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48251</TotalTime>
  <Words>2482</Words>
  <Application>Microsoft Macintosh PowerPoint</Application>
  <PresentationFormat>Custom</PresentationFormat>
  <Paragraphs>306</Paragraphs>
  <Slides>29</Slides>
  <Notes>21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Helvetica</vt:lpstr>
      <vt:lpstr>Helvetica Neue</vt:lpstr>
      <vt:lpstr>Office Theme</vt:lpstr>
      <vt:lpstr>HiRTOS: A Multi-Core RTOS written in SPARK Ada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German Rivera</dc:creator>
  <cp:keywords/>
  <dc:description/>
  <cp:lastModifiedBy>Microsoft Office User</cp:lastModifiedBy>
  <cp:revision>86</cp:revision>
  <dcterms:created xsi:type="dcterms:W3CDTF">2023-12-08T16:36:51Z</dcterms:created>
  <dcterms:modified xsi:type="dcterms:W3CDTF">2024-06-14T09:37:25Z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0x010100CAA3E9F7280FED439F61B57FF8937FEA</vt:lpwstr>
  </property>
  <property fmtid="{D5CDD505-2E9C-101B-9397-08002B2CF9AE}" pid="3" name="MSIP_Label_68494b15-2884-42b7-a283-b08ec0f18ca1_Enabled">
    <vt:lpwstr>true</vt:lpwstr>
  </property>
  <property fmtid="{D5CDD505-2E9C-101B-9397-08002B2CF9AE}" pid="4" name="MSIP_Label_68494b15-2884-42b7-a283-b08ec0f18ca1_SetDate">
    <vt:lpwstr>2024-06-04T13:00:30Z</vt:lpwstr>
  </property>
  <property fmtid="{D5CDD505-2E9C-101B-9397-08002B2CF9AE}" pid="5" name="MSIP_Label_68494b15-2884-42b7-a283-b08ec0f18ca1_Method">
    <vt:lpwstr>Privileged</vt:lpwstr>
  </property>
  <property fmtid="{D5CDD505-2E9C-101B-9397-08002B2CF9AE}" pid="6" name="MSIP_Label_68494b15-2884-42b7-a283-b08ec0f18ca1_Name">
    <vt:lpwstr>Public</vt:lpwstr>
  </property>
  <property fmtid="{D5CDD505-2E9C-101B-9397-08002B2CF9AE}" pid="7" name="MSIP_Label_68494b15-2884-42b7-a283-b08ec0f18ca1_SiteId">
    <vt:lpwstr>9026c5f4-86d0-4b9f-bd39-b7d4d0fb4674</vt:lpwstr>
  </property>
  <property fmtid="{D5CDD505-2E9C-101B-9397-08002B2CF9AE}" pid="8" name="MSIP_Label_68494b15-2884-42b7-a283-b08ec0f18ca1_ActionId">
    <vt:lpwstr>d3db4540-495f-438d-ad44-80a43750832e</vt:lpwstr>
  </property>
  <property fmtid="{D5CDD505-2E9C-101B-9397-08002B2CF9AE}" pid="9" name="MSIP_Label_68494b15-2884-42b7-a283-b08ec0f18ca1_ContentBits">
    <vt:lpwstr>0</vt:lpwstr>
  </property>
</Properties>
</file>