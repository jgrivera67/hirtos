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5" r:id="rId4"/>
  </p:sldMasterIdLst>
  <p:notesMasterIdLst>
    <p:notesMasterId r:id="rId50"/>
  </p:notesMasterIdLst>
  <p:handoutMasterIdLst>
    <p:handoutMasterId r:id="rId51"/>
  </p:handoutMasterIdLst>
  <p:sldIdLst>
    <p:sldId id="267" r:id="rId5"/>
    <p:sldId id="259" r:id="rId6"/>
    <p:sldId id="275" r:id="rId7"/>
    <p:sldId id="276" r:id="rId8"/>
    <p:sldId id="278" r:id="rId9"/>
    <p:sldId id="281" r:id="rId10"/>
    <p:sldId id="285" r:id="rId11"/>
    <p:sldId id="286" r:id="rId12"/>
    <p:sldId id="277" r:id="rId13"/>
    <p:sldId id="289" r:id="rId14"/>
    <p:sldId id="291" r:id="rId15"/>
    <p:sldId id="292" r:id="rId16"/>
    <p:sldId id="294" r:id="rId17"/>
    <p:sldId id="295" r:id="rId18"/>
    <p:sldId id="296" r:id="rId19"/>
    <p:sldId id="321" r:id="rId20"/>
    <p:sldId id="297" r:id="rId21"/>
    <p:sldId id="308" r:id="rId22"/>
    <p:sldId id="324" r:id="rId23"/>
    <p:sldId id="306" r:id="rId24"/>
    <p:sldId id="307" r:id="rId25"/>
    <p:sldId id="298" r:id="rId26"/>
    <p:sldId id="299" r:id="rId27"/>
    <p:sldId id="300" r:id="rId28"/>
    <p:sldId id="301" r:id="rId29"/>
    <p:sldId id="302" r:id="rId30"/>
    <p:sldId id="303" r:id="rId31"/>
    <p:sldId id="280" r:id="rId32"/>
    <p:sldId id="304" r:id="rId33"/>
    <p:sldId id="310" r:id="rId34"/>
    <p:sldId id="309" r:id="rId35"/>
    <p:sldId id="311" r:id="rId36"/>
    <p:sldId id="312" r:id="rId37"/>
    <p:sldId id="315" r:id="rId38"/>
    <p:sldId id="316" r:id="rId39"/>
    <p:sldId id="313" r:id="rId40"/>
    <p:sldId id="314" r:id="rId41"/>
    <p:sldId id="318" r:id="rId42"/>
    <p:sldId id="317" r:id="rId43"/>
    <p:sldId id="319" r:id="rId44"/>
    <p:sldId id="320" r:id="rId45"/>
    <p:sldId id="322" r:id="rId46"/>
    <p:sldId id="323" r:id="rId47"/>
    <p:sldId id="326" r:id="rId48"/>
    <p:sldId id="325" r:id="rId49"/>
  </p:sldIdLst>
  <p:sldSz cx="24387175"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F0DC7B-6A74-5147-BE8A-6AE1577CAE6A}">
          <p14:sldIdLst>
            <p14:sldId id="267"/>
            <p14:sldId id="259"/>
          </p14:sldIdLst>
        </p14:section>
        <p14:section name="HiRTOS Overview" id="{0EA9E774-701B-4D46-AE53-C199DAE2EFB4}">
          <p14:sldIdLst>
            <p14:sldId id="275"/>
            <p14:sldId id="276"/>
            <p14:sldId id="278"/>
            <p14:sldId id="281"/>
            <p14:sldId id="285"/>
            <p14:sldId id="286"/>
          </p14:sldIdLst>
        </p14:section>
        <p14:section name="HiRTOS Z Modeling" id="{FE561942-5C52-7149-9D13-8F6FEBED75F8}">
          <p14:sldIdLst>
            <p14:sldId id="277"/>
            <p14:sldId id="289"/>
            <p14:sldId id="291"/>
            <p14:sldId id="292"/>
            <p14:sldId id="294"/>
            <p14:sldId id="295"/>
            <p14:sldId id="296"/>
            <p14:sldId id="321"/>
            <p14:sldId id="297"/>
            <p14:sldId id="308"/>
            <p14:sldId id="324"/>
            <p14:sldId id="306"/>
            <p14:sldId id="307"/>
            <p14:sldId id="298"/>
            <p14:sldId id="299"/>
            <p14:sldId id="300"/>
            <p14:sldId id="301"/>
            <p14:sldId id="302"/>
            <p14:sldId id="303"/>
          </p14:sldIdLst>
        </p14:section>
        <p14:section name="HiRTOS TLA+ modeling" id="{D44437BE-065C-AF42-BFA9-BD6BD098F5E8}">
          <p14:sldIdLst>
            <p14:sldId id="280"/>
            <p14:sldId id="304"/>
            <p14:sldId id="310"/>
            <p14:sldId id="309"/>
            <p14:sldId id="311"/>
            <p14:sldId id="312"/>
            <p14:sldId id="315"/>
            <p14:sldId id="316"/>
            <p14:sldId id="313"/>
            <p14:sldId id="314"/>
            <p14:sldId id="318"/>
            <p14:sldId id="317"/>
            <p14:sldId id="319"/>
            <p14:sldId id="320"/>
          </p14:sldIdLst>
        </p14:section>
        <p14:section name="Lessons Learned" id="{64E80F5D-B472-DA48-B2B1-F8C44F57D87C}">
          <p14:sldIdLst>
            <p14:sldId id="322"/>
            <p14:sldId id="323"/>
            <p14:sldId id="326"/>
            <p14:sldId id="32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g Zhang （张婧）" initials="JZ（" lastIdx="1" clrIdx="0">
    <p:extLst>
      <p:ext uri="{19B8F6BF-5375-455C-9EA6-DF929625EA0E}">
        <p15:presenceInfo xmlns:p15="http://schemas.microsoft.com/office/powerpoint/2012/main" userId="S::jingzh@tesla.com::7d4a7a3f-165d-4d9a-96ec-4cba4ea12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0"/>
    <p:restoredTop sz="86846"/>
  </p:normalViewPr>
  <p:slideViewPr>
    <p:cSldViewPr snapToObjects="1">
      <p:cViewPr>
        <p:scale>
          <a:sx n="50" d="100"/>
          <a:sy n="50" d="100"/>
        </p:scale>
        <p:origin x="-216" y="160"/>
      </p:cViewPr>
      <p:guideLst/>
    </p:cSldViewPr>
  </p:slideViewPr>
  <p:notesTextViewPr>
    <p:cViewPr>
      <p:scale>
        <a:sx n="1" d="1"/>
        <a:sy n="1" d="1"/>
      </p:scale>
      <p:origin x="0" y="0"/>
    </p:cViewPr>
  </p:notesTextViewPr>
  <p:sorterViewPr>
    <p:cViewPr>
      <p:scale>
        <a:sx n="66" d="100"/>
        <a:sy n="66" d="100"/>
      </p:scale>
      <p:origin x="0" y="0"/>
    </p:cViewPr>
  </p:sorterViewPr>
  <p:notesViewPr>
    <p:cSldViewPr snapToObjects="1">
      <p:cViewPr varScale="1">
        <p:scale>
          <a:sx n="107" d="100"/>
          <a:sy n="107" d="100"/>
        </p:scale>
        <p:origin x="48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0B8F60-1C85-0946-B2B9-6621BFE027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0C6EBD8F-60F6-D44A-90A7-DAA50E99C4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18D0FC-A7DE-D341-A6DA-50355FD0D858}" type="datetimeFigureOut">
              <a:rPr lang="en-NL" smtClean="0"/>
              <a:t>6/11/24</a:t>
            </a:fld>
            <a:endParaRPr lang="en-NL"/>
          </a:p>
        </p:txBody>
      </p:sp>
      <p:sp>
        <p:nvSpPr>
          <p:cNvPr id="4" name="Footer Placeholder 3">
            <a:extLst>
              <a:ext uri="{FF2B5EF4-FFF2-40B4-BE49-F238E27FC236}">
                <a16:creationId xmlns:a16="http://schemas.microsoft.com/office/drawing/2014/main" id="{C103E688-94C3-E542-93BA-DE77F63567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5" name="Slide Number Placeholder 4">
            <a:extLst>
              <a:ext uri="{FF2B5EF4-FFF2-40B4-BE49-F238E27FC236}">
                <a16:creationId xmlns:a16="http://schemas.microsoft.com/office/drawing/2014/main" id="{2E0E650E-A42F-124F-AB07-C68B849A99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714DBC-D057-CF46-BED6-EA0E02C46362}" type="slidenum">
              <a:rPr lang="en-NL" smtClean="0"/>
              <a:t>‹#›</a:t>
            </a:fld>
            <a:endParaRPr lang="en-NL"/>
          </a:p>
        </p:txBody>
      </p:sp>
    </p:spTree>
    <p:extLst>
      <p:ext uri="{BB962C8B-B14F-4D97-AF65-F5344CB8AC3E}">
        <p14:creationId xmlns:p14="http://schemas.microsoft.com/office/powerpoint/2010/main" val="18052829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9B897-F909-0C4C-A47A-C951516157B7}" type="datetimeFigureOut">
              <a:rPr lang="en-US" smtClean="0"/>
              <a:t>6/11/24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7EE7F3-C707-8046-A269-67A9724BD78E}" type="slidenum">
              <a:rPr lang="en-US" smtClean="0"/>
              <a:t>‹#›</a:t>
            </a:fld>
            <a:endParaRPr lang="en-US"/>
          </a:p>
        </p:txBody>
      </p:sp>
    </p:spTree>
    <p:extLst>
      <p:ext uri="{BB962C8B-B14F-4D97-AF65-F5344CB8AC3E}">
        <p14:creationId xmlns:p14="http://schemas.microsoft.com/office/powerpoint/2010/main" val="1263633392"/>
      </p:ext>
    </p:extLst>
  </p:cSld>
  <p:clrMap bg1="lt1" tx1="dk1" bg2="lt2" tx2="dk2" accent1="accent1" accent2="accent2" accent3="accent3" accent4="accent4" accent5="accent5" accent6="accent6" hlink="hlink" folHlink="folHlink"/>
  <p:notesStyle>
    <a:lvl1pPr marL="0" algn="l" defTabSz="1828519" rtl="0" eaLnBrk="1" latinLnBrk="0" hangingPunct="1">
      <a:defRPr sz="2400" kern="1200">
        <a:solidFill>
          <a:schemeClr val="tx1"/>
        </a:solidFill>
        <a:latin typeface="+mn-lt"/>
        <a:ea typeface="+mn-ea"/>
        <a:cs typeface="+mn-cs"/>
      </a:defRPr>
    </a:lvl1pPr>
    <a:lvl2pPr marL="914260" algn="l" defTabSz="1828519" rtl="0" eaLnBrk="1" latinLnBrk="0" hangingPunct="1">
      <a:defRPr sz="2400" kern="1200">
        <a:solidFill>
          <a:schemeClr val="tx1"/>
        </a:solidFill>
        <a:latin typeface="+mn-lt"/>
        <a:ea typeface="+mn-ea"/>
        <a:cs typeface="+mn-cs"/>
      </a:defRPr>
    </a:lvl2pPr>
    <a:lvl3pPr marL="1828519" algn="l" defTabSz="1828519" rtl="0" eaLnBrk="1" latinLnBrk="0" hangingPunct="1">
      <a:defRPr sz="2400" kern="1200">
        <a:solidFill>
          <a:schemeClr val="tx1"/>
        </a:solidFill>
        <a:latin typeface="+mn-lt"/>
        <a:ea typeface="+mn-ea"/>
        <a:cs typeface="+mn-cs"/>
      </a:defRPr>
    </a:lvl3pPr>
    <a:lvl4pPr marL="2742781" algn="l" defTabSz="1828519" rtl="0" eaLnBrk="1" latinLnBrk="0" hangingPunct="1">
      <a:defRPr sz="2400" kern="1200">
        <a:solidFill>
          <a:schemeClr val="tx1"/>
        </a:solidFill>
        <a:latin typeface="+mn-lt"/>
        <a:ea typeface="+mn-ea"/>
        <a:cs typeface="+mn-cs"/>
      </a:defRPr>
    </a:lvl4pPr>
    <a:lvl5pPr marL="3657041" algn="l" defTabSz="1828519" rtl="0" eaLnBrk="1" latinLnBrk="0" hangingPunct="1">
      <a:defRPr sz="2400" kern="1200">
        <a:solidFill>
          <a:schemeClr val="tx1"/>
        </a:solidFill>
        <a:latin typeface="+mn-lt"/>
        <a:ea typeface="+mn-ea"/>
        <a:cs typeface="+mn-cs"/>
      </a:defRPr>
    </a:lvl5pPr>
    <a:lvl6pPr marL="4571301" algn="l" defTabSz="1828519" rtl="0" eaLnBrk="1" latinLnBrk="0" hangingPunct="1">
      <a:defRPr sz="2400" kern="1200">
        <a:solidFill>
          <a:schemeClr val="tx1"/>
        </a:solidFill>
        <a:latin typeface="+mn-lt"/>
        <a:ea typeface="+mn-ea"/>
        <a:cs typeface="+mn-cs"/>
      </a:defRPr>
    </a:lvl6pPr>
    <a:lvl7pPr marL="5485562" algn="l" defTabSz="1828519" rtl="0" eaLnBrk="1" latinLnBrk="0" hangingPunct="1">
      <a:defRPr sz="2400" kern="1200">
        <a:solidFill>
          <a:schemeClr val="tx1"/>
        </a:solidFill>
        <a:latin typeface="+mn-lt"/>
        <a:ea typeface="+mn-ea"/>
        <a:cs typeface="+mn-cs"/>
      </a:defRPr>
    </a:lvl7pPr>
    <a:lvl8pPr marL="6399822" algn="l" defTabSz="1828519" rtl="0" eaLnBrk="1" latinLnBrk="0" hangingPunct="1">
      <a:defRPr sz="2400" kern="1200">
        <a:solidFill>
          <a:schemeClr val="tx1"/>
        </a:solidFill>
        <a:latin typeface="+mn-lt"/>
        <a:ea typeface="+mn-ea"/>
        <a:cs typeface="+mn-cs"/>
      </a:defRPr>
    </a:lvl8pPr>
    <a:lvl9pPr marL="7314082" algn="l" defTabSz="1828519"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5</a:t>
            </a:fld>
            <a:endParaRPr lang="en-US"/>
          </a:p>
        </p:txBody>
      </p:sp>
    </p:spTree>
    <p:extLst>
      <p:ext uri="{BB962C8B-B14F-4D97-AF65-F5344CB8AC3E}">
        <p14:creationId xmlns:p14="http://schemas.microsoft.com/office/powerpoint/2010/main" val="3948548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8</a:t>
            </a:fld>
            <a:endParaRPr lang="en-US"/>
          </a:p>
        </p:txBody>
      </p:sp>
    </p:spTree>
    <p:extLst>
      <p:ext uri="{BB962C8B-B14F-4D97-AF65-F5344CB8AC3E}">
        <p14:creationId xmlns:p14="http://schemas.microsoft.com/office/powerpoint/2010/main" val="1668174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9</a:t>
            </a:fld>
            <a:endParaRPr lang="en-US"/>
          </a:p>
        </p:txBody>
      </p:sp>
    </p:spTree>
    <p:extLst>
      <p:ext uri="{BB962C8B-B14F-4D97-AF65-F5344CB8AC3E}">
        <p14:creationId xmlns:p14="http://schemas.microsoft.com/office/powerpoint/2010/main" val="541866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10</a:t>
            </a:fld>
            <a:endParaRPr lang="en-US"/>
          </a:p>
        </p:txBody>
      </p:sp>
    </p:spTree>
    <p:extLst>
      <p:ext uri="{BB962C8B-B14F-4D97-AF65-F5344CB8AC3E}">
        <p14:creationId xmlns:p14="http://schemas.microsoft.com/office/powerpoint/2010/main" val="1471817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 supports defining subranges of integers but they re not different types they are subsets of Natural or Integer</a:t>
            </a:r>
          </a:p>
        </p:txBody>
      </p:sp>
      <p:sp>
        <p:nvSpPr>
          <p:cNvPr id="4" name="Slide Number Placeholder 3"/>
          <p:cNvSpPr>
            <a:spLocks noGrp="1"/>
          </p:cNvSpPr>
          <p:nvPr>
            <p:ph type="sldNum" sz="quarter" idx="5"/>
          </p:nvPr>
        </p:nvSpPr>
        <p:spPr/>
        <p:txBody>
          <a:bodyPr/>
          <a:lstStyle/>
          <a:p>
            <a:fld id="{AB7EE7F3-C707-8046-A269-67A9724BD78E}" type="slidenum">
              <a:rPr lang="en-US" smtClean="0"/>
              <a:t>11</a:t>
            </a:fld>
            <a:endParaRPr lang="en-US"/>
          </a:p>
        </p:txBody>
      </p:sp>
    </p:spTree>
    <p:extLst>
      <p:ext uri="{BB962C8B-B14F-4D97-AF65-F5344CB8AC3E}">
        <p14:creationId xmlns:p14="http://schemas.microsoft.com/office/powerpoint/2010/main" val="1050134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12</a:t>
            </a:fld>
            <a:endParaRPr lang="en-US"/>
          </a:p>
        </p:txBody>
      </p:sp>
    </p:spTree>
    <p:extLst>
      <p:ext uri="{BB962C8B-B14F-4D97-AF65-F5344CB8AC3E}">
        <p14:creationId xmlns:p14="http://schemas.microsoft.com/office/powerpoint/2010/main" val="3874425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13</a:t>
            </a:fld>
            <a:endParaRPr lang="en-US"/>
          </a:p>
        </p:txBody>
      </p:sp>
    </p:spTree>
    <p:extLst>
      <p:ext uri="{BB962C8B-B14F-4D97-AF65-F5344CB8AC3E}">
        <p14:creationId xmlns:p14="http://schemas.microsoft.com/office/powerpoint/2010/main" val="3375790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14</a:t>
            </a:fld>
            <a:endParaRPr lang="en-US"/>
          </a:p>
        </p:txBody>
      </p:sp>
    </p:spTree>
    <p:extLst>
      <p:ext uri="{BB962C8B-B14F-4D97-AF65-F5344CB8AC3E}">
        <p14:creationId xmlns:p14="http://schemas.microsoft.com/office/powerpoint/2010/main" val="4111064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15</a:t>
            </a:fld>
            <a:endParaRPr lang="en-US"/>
          </a:p>
        </p:txBody>
      </p:sp>
    </p:spTree>
    <p:extLst>
      <p:ext uri="{BB962C8B-B14F-4D97-AF65-F5344CB8AC3E}">
        <p14:creationId xmlns:p14="http://schemas.microsoft.com/office/powerpoint/2010/main" val="3994117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16</a:t>
            </a:fld>
            <a:endParaRPr lang="en-US"/>
          </a:p>
        </p:txBody>
      </p:sp>
    </p:spTree>
    <p:extLst>
      <p:ext uri="{BB962C8B-B14F-4D97-AF65-F5344CB8AC3E}">
        <p14:creationId xmlns:p14="http://schemas.microsoft.com/office/powerpoint/2010/main" val="3641659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17</a:t>
            </a:fld>
            <a:endParaRPr lang="en-US"/>
          </a:p>
        </p:txBody>
      </p:sp>
    </p:spTree>
    <p:extLst>
      <p:ext uri="{BB962C8B-B14F-4D97-AF65-F5344CB8AC3E}">
        <p14:creationId xmlns:p14="http://schemas.microsoft.com/office/powerpoint/2010/main" val="299163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Helvetica"/>
                <a:cs typeface="Helvetica"/>
              </a:rPr>
              <a:t>These object pools are just RTOS-private global arrays of the corresponding</a:t>
            </a:r>
          </a:p>
          <a:p>
            <a:r>
              <a:rPr lang="en-US" dirty="0">
                <a:latin typeface="Helvetica"/>
                <a:cs typeface="Helvetica"/>
              </a:rPr>
              <a:t>RTOS object types, sized at compile time via configuration parameters, whose</a:t>
            </a:r>
          </a:p>
          <a:p>
            <a:r>
              <a:rPr lang="en-US" dirty="0">
                <a:latin typeface="Helvetica"/>
                <a:cs typeface="Helvetica"/>
              </a:rPr>
              <a:t>values are application-specific.</a:t>
            </a:r>
          </a:p>
          <a:p>
            <a:r>
              <a:rPr lang="en-US" dirty="0">
                <a:latin typeface="Helvetica"/>
                <a:cs typeface="Helvetica"/>
              </a:rPr>
              <a:t>No actual RTOS object pointers exposed to application code. </a:t>
            </a:r>
          </a:p>
          <a:p>
            <a:r>
              <a:rPr lang="en-US" dirty="0">
                <a:latin typeface="Helvetica"/>
                <a:cs typeface="Helvetica"/>
              </a:rPr>
              <a:t>No dynamic allocation/deallocation of</a:t>
            </a:r>
          </a:p>
          <a:p>
            <a:r>
              <a:rPr lang="en-US" dirty="0">
                <a:latin typeface="Helvetica"/>
                <a:cs typeface="Helvetica"/>
              </a:rPr>
              <a:t>RTOS objects is supported and no static allocation of RTOS objects in mem-</a:t>
            </a:r>
          </a:p>
          <a:p>
            <a:r>
              <a:rPr lang="en-US" dirty="0" err="1">
                <a:latin typeface="Helvetica"/>
                <a:cs typeface="Helvetica"/>
              </a:rPr>
              <a:t>ory</a:t>
            </a:r>
            <a:r>
              <a:rPr lang="en-US" dirty="0">
                <a:latin typeface="Helvetica"/>
                <a:cs typeface="Helvetica"/>
              </a:rPr>
              <a:t> owned by application code is supported either. All this prevents </a:t>
            </a:r>
            <a:r>
              <a:rPr lang="en-US" dirty="0" err="1">
                <a:latin typeface="Helvetica"/>
                <a:cs typeface="Helvetica"/>
              </a:rPr>
              <a:t>HiRTOS</a:t>
            </a:r>
            <a:endParaRPr lang="en-US" dirty="0">
              <a:latin typeface="Helvetica"/>
              <a:cs typeface="Helvetica"/>
            </a:endParaRPr>
          </a:p>
          <a:p>
            <a:r>
              <a:rPr lang="en-US" dirty="0">
                <a:latin typeface="Helvetica"/>
                <a:cs typeface="Helvetica"/>
              </a:rPr>
              <a:t>internal state from being accidentally or intentionally corrupted from </a:t>
            </a:r>
            <a:r>
              <a:rPr lang="en-US" dirty="0" err="1">
                <a:latin typeface="Helvetica"/>
                <a:cs typeface="Helvetica"/>
              </a:rPr>
              <a:t>applica</a:t>
            </a:r>
            <a:r>
              <a:rPr lang="en-US" dirty="0">
                <a:latin typeface="Helvetica"/>
                <a:cs typeface="Helvetica"/>
              </a:rPr>
              <a:t>-</a:t>
            </a:r>
          </a:p>
          <a:p>
            <a:r>
              <a:rPr lang="en-US" dirty="0" err="1">
                <a:latin typeface="Helvetica"/>
                <a:cs typeface="Helvetica"/>
              </a:rPr>
              <a:t>tion</a:t>
            </a:r>
            <a:r>
              <a:rPr lang="en-US" dirty="0">
                <a:latin typeface="Helvetica"/>
                <a:cs typeface="Helvetica"/>
              </a:rPr>
              <a:t> code. </a:t>
            </a:r>
          </a:p>
          <a:p>
            <a:r>
              <a:rPr lang="en-US" dirty="0">
                <a:latin typeface="Helvetica"/>
                <a:cs typeface="Helvetica"/>
              </a:rPr>
              <a:t>ISRs are seen as hardware-scheduled threads that have higher priority than</a:t>
            </a:r>
          </a:p>
          <a:p>
            <a:r>
              <a:rPr lang="en-US" dirty="0">
                <a:latin typeface="Helvetica"/>
                <a:cs typeface="Helvetica"/>
              </a:rPr>
              <a:t>all software-scheduled threads. They can only be preempted by higher-priority</a:t>
            </a:r>
          </a:p>
          <a:p>
            <a:r>
              <a:rPr lang="en-US" dirty="0">
                <a:latin typeface="Helvetica"/>
                <a:cs typeface="Helvetica"/>
              </a:rPr>
              <a:t>ISRs. They cannot block waiting on mutexes or condition variables.</a:t>
            </a:r>
          </a:p>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18</a:t>
            </a:fld>
            <a:endParaRPr lang="en-US"/>
          </a:p>
        </p:txBody>
      </p:sp>
    </p:spTree>
    <p:extLst>
      <p:ext uri="{BB962C8B-B14F-4D97-AF65-F5344CB8AC3E}">
        <p14:creationId xmlns:p14="http://schemas.microsoft.com/office/powerpoint/2010/main" val="3757200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19</a:t>
            </a:fld>
            <a:endParaRPr lang="en-US"/>
          </a:p>
        </p:txBody>
      </p:sp>
    </p:spTree>
    <p:extLst>
      <p:ext uri="{BB962C8B-B14F-4D97-AF65-F5344CB8AC3E}">
        <p14:creationId xmlns:p14="http://schemas.microsoft.com/office/powerpoint/2010/main" val="4168490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20</a:t>
            </a:fld>
            <a:endParaRPr lang="en-US"/>
          </a:p>
        </p:txBody>
      </p:sp>
    </p:spTree>
    <p:extLst>
      <p:ext uri="{BB962C8B-B14F-4D97-AF65-F5344CB8AC3E}">
        <p14:creationId xmlns:p14="http://schemas.microsoft.com/office/powerpoint/2010/main" val="3374479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21</a:t>
            </a:fld>
            <a:endParaRPr lang="en-US"/>
          </a:p>
        </p:txBody>
      </p:sp>
    </p:spTree>
    <p:extLst>
      <p:ext uri="{BB962C8B-B14F-4D97-AF65-F5344CB8AC3E}">
        <p14:creationId xmlns:p14="http://schemas.microsoft.com/office/powerpoint/2010/main" val="2325189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22</a:t>
            </a:fld>
            <a:endParaRPr lang="en-US"/>
          </a:p>
        </p:txBody>
      </p:sp>
    </p:spTree>
    <p:extLst>
      <p:ext uri="{BB962C8B-B14F-4D97-AF65-F5344CB8AC3E}">
        <p14:creationId xmlns:p14="http://schemas.microsoft.com/office/powerpoint/2010/main" val="3494677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23</a:t>
            </a:fld>
            <a:endParaRPr lang="en-US"/>
          </a:p>
        </p:txBody>
      </p:sp>
    </p:spTree>
    <p:extLst>
      <p:ext uri="{BB962C8B-B14F-4D97-AF65-F5344CB8AC3E}">
        <p14:creationId xmlns:p14="http://schemas.microsoft.com/office/powerpoint/2010/main" val="3726030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24</a:t>
            </a:fld>
            <a:endParaRPr lang="en-US"/>
          </a:p>
        </p:txBody>
      </p:sp>
    </p:spTree>
    <p:extLst>
      <p:ext uri="{BB962C8B-B14F-4D97-AF65-F5344CB8AC3E}">
        <p14:creationId xmlns:p14="http://schemas.microsoft.com/office/powerpoint/2010/main" val="1510023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25</a:t>
            </a:fld>
            <a:endParaRPr lang="en-US"/>
          </a:p>
        </p:txBody>
      </p:sp>
    </p:spTree>
    <p:extLst>
      <p:ext uri="{BB962C8B-B14F-4D97-AF65-F5344CB8AC3E}">
        <p14:creationId xmlns:p14="http://schemas.microsoft.com/office/powerpoint/2010/main" val="1558043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26</a:t>
            </a:fld>
            <a:endParaRPr lang="en-US"/>
          </a:p>
        </p:txBody>
      </p:sp>
    </p:spTree>
    <p:extLst>
      <p:ext uri="{BB962C8B-B14F-4D97-AF65-F5344CB8AC3E}">
        <p14:creationId xmlns:p14="http://schemas.microsoft.com/office/powerpoint/2010/main" val="3315475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27</a:t>
            </a:fld>
            <a:endParaRPr lang="en-US"/>
          </a:p>
        </p:txBody>
      </p:sp>
    </p:spTree>
    <p:extLst>
      <p:ext uri="{BB962C8B-B14F-4D97-AF65-F5344CB8AC3E}">
        <p14:creationId xmlns:p14="http://schemas.microsoft.com/office/powerpoint/2010/main" val="512994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29</a:t>
            </a:fld>
            <a:endParaRPr lang="en-US"/>
          </a:p>
        </p:txBody>
      </p:sp>
    </p:spTree>
    <p:extLst>
      <p:ext uri="{BB962C8B-B14F-4D97-AF65-F5344CB8AC3E}">
        <p14:creationId xmlns:p14="http://schemas.microsoft.com/office/powerpoint/2010/main" val="192197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30</a:t>
            </a:fld>
            <a:endParaRPr lang="en-US"/>
          </a:p>
        </p:txBody>
      </p:sp>
    </p:spTree>
    <p:extLst>
      <p:ext uri="{BB962C8B-B14F-4D97-AF65-F5344CB8AC3E}">
        <p14:creationId xmlns:p14="http://schemas.microsoft.com/office/powerpoint/2010/main" val="35615764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31</a:t>
            </a:fld>
            <a:endParaRPr lang="en-US"/>
          </a:p>
        </p:txBody>
      </p:sp>
    </p:spTree>
    <p:extLst>
      <p:ext uri="{BB962C8B-B14F-4D97-AF65-F5344CB8AC3E}">
        <p14:creationId xmlns:p14="http://schemas.microsoft.com/office/powerpoint/2010/main" val="3362116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32</a:t>
            </a:fld>
            <a:endParaRPr lang="en-US"/>
          </a:p>
        </p:txBody>
      </p:sp>
    </p:spTree>
    <p:extLst>
      <p:ext uri="{BB962C8B-B14F-4D97-AF65-F5344CB8AC3E}">
        <p14:creationId xmlns:p14="http://schemas.microsoft.com/office/powerpoint/2010/main" val="41277416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33</a:t>
            </a:fld>
            <a:endParaRPr lang="en-US"/>
          </a:p>
        </p:txBody>
      </p:sp>
    </p:spTree>
    <p:extLst>
      <p:ext uri="{BB962C8B-B14F-4D97-AF65-F5344CB8AC3E}">
        <p14:creationId xmlns:p14="http://schemas.microsoft.com/office/powerpoint/2010/main" val="15973190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34</a:t>
            </a:fld>
            <a:endParaRPr lang="en-US"/>
          </a:p>
        </p:txBody>
      </p:sp>
    </p:spTree>
    <p:extLst>
      <p:ext uri="{BB962C8B-B14F-4D97-AF65-F5344CB8AC3E}">
        <p14:creationId xmlns:p14="http://schemas.microsoft.com/office/powerpoint/2010/main" val="32643909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35</a:t>
            </a:fld>
            <a:endParaRPr lang="en-US"/>
          </a:p>
        </p:txBody>
      </p:sp>
    </p:spTree>
    <p:extLst>
      <p:ext uri="{BB962C8B-B14F-4D97-AF65-F5344CB8AC3E}">
        <p14:creationId xmlns:p14="http://schemas.microsoft.com/office/powerpoint/2010/main" val="3244605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36</a:t>
            </a:fld>
            <a:endParaRPr lang="en-US"/>
          </a:p>
        </p:txBody>
      </p:sp>
    </p:spTree>
    <p:extLst>
      <p:ext uri="{BB962C8B-B14F-4D97-AF65-F5344CB8AC3E}">
        <p14:creationId xmlns:p14="http://schemas.microsoft.com/office/powerpoint/2010/main" val="2446643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37</a:t>
            </a:fld>
            <a:endParaRPr lang="en-US"/>
          </a:p>
        </p:txBody>
      </p:sp>
    </p:spTree>
    <p:extLst>
      <p:ext uri="{BB962C8B-B14F-4D97-AF65-F5344CB8AC3E}">
        <p14:creationId xmlns:p14="http://schemas.microsoft.com/office/powerpoint/2010/main" val="28490244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38</a:t>
            </a:fld>
            <a:endParaRPr lang="en-US"/>
          </a:p>
        </p:txBody>
      </p:sp>
    </p:spTree>
    <p:extLst>
      <p:ext uri="{BB962C8B-B14F-4D97-AF65-F5344CB8AC3E}">
        <p14:creationId xmlns:p14="http://schemas.microsoft.com/office/powerpoint/2010/main" val="35027158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39</a:t>
            </a:fld>
            <a:endParaRPr lang="en-US"/>
          </a:p>
        </p:txBody>
      </p:sp>
    </p:spTree>
    <p:extLst>
      <p:ext uri="{BB962C8B-B14F-4D97-AF65-F5344CB8AC3E}">
        <p14:creationId xmlns:p14="http://schemas.microsoft.com/office/powerpoint/2010/main" val="4080128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40</a:t>
            </a:fld>
            <a:endParaRPr lang="en-US"/>
          </a:p>
        </p:txBody>
      </p:sp>
    </p:spTree>
    <p:extLst>
      <p:ext uri="{BB962C8B-B14F-4D97-AF65-F5344CB8AC3E}">
        <p14:creationId xmlns:p14="http://schemas.microsoft.com/office/powerpoint/2010/main" val="12550590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E7F3-C707-8046-A269-67A9724BD78E}" type="slidenum">
              <a:rPr lang="en-US" smtClean="0"/>
              <a:t>41</a:t>
            </a:fld>
            <a:endParaRPr lang="en-US"/>
          </a:p>
        </p:txBody>
      </p:sp>
    </p:spTree>
    <p:extLst>
      <p:ext uri="{BB962C8B-B14F-4D97-AF65-F5344CB8AC3E}">
        <p14:creationId xmlns:p14="http://schemas.microsoft.com/office/powerpoint/2010/main" val="3645805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42FC140C-6FEA-3947-8BF0-FE2059DBDB1B}"/>
              </a:ext>
            </a:extLst>
          </p:cNvPr>
          <p:cNvSpPr txBox="1">
            <a:spLocks/>
          </p:cNvSpPr>
          <p:nvPr userDrawn="1"/>
        </p:nvSpPr>
        <p:spPr>
          <a:xfrm>
            <a:off x="23299914" y="12978551"/>
            <a:ext cx="1453069"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82D5D8DC-9473-3845-81D6-4BCA6EEE8B1B}" type="slidenum">
              <a:rPr lang="en-US" sz="1600" smtClean="0">
                <a:latin typeface="Helvetica" pitchFamily="2" charset="0"/>
                <a:ea typeface="Helvetica Neue" panose="02000503000000020004" pitchFamily="2" charset="0"/>
                <a:cs typeface="Helvetica Neue" panose="02000503000000020004" pitchFamily="2" charset="0"/>
              </a:rPr>
              <a:pPr algn="l"/>
              <a:t>‹#›</a:t>
            </a:fld>
            <a:endParaRPr lang="en-US" sz="1600" dirty="0">
              <a:latin typeface="Helvetica" pitchFamily="2" charset="0"/>
              <a:ea typeface="Helvetica Neue" panose="02000503000000020004" pitchFamily="2" charset="0"/>
              <a:cs typeface="Helvetica Neue" panose="02000503000000020004" pitchFamily="2" charset="0"/>
            </a:endParaRPr>
          </a:p>
        </p:txBody>
      </p:sp>
      <p:sp>
        <p:nvSpPr>
          <p:cNvPr id="2" name="Slide Number Placeholder 5">
            <a:extLst>
              <a:ext uri="{FF2B5EF4-FFF2-40B4-BE49-F238E27FC236}">
                <a16:creationId xmlns:a16="http://schemas.microsoft.com/office/drawing/2014/main" id="{6178B08E-65B1-F289-9453-306B71851766}"/>
              </a:ext>
            </a:extLst>
          </p:cNvPr>
          <p:cNvSpPr txBox="1">
            <a:spLocks/>
          </p:cNvSpPr>
          <p:nvPr userDrawn="1"/>
        </p:nvSpPr>
        <p:spPr>
          <a:xfrm>
            <a:off x="8993187" y="13017500"/>
            <a:ext cx="8225871"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err="1">
                <a:latin typeface="Helvetica" pitchFamily="2" charset="0"/>
                <a:ea typeface="Helvetica Neue" panose="02000503000000020004" pitchFamily="2" charset="0"/>
                <a:cs typeface="Helvetica Neue" panose="02000503000000020004" pitchFamily="2" charset="0"/>
              </a:rPr>
              <a:t>HiRTOS</a:t>
            </a:r>
            <a:r>
              <a:rPr lang="en-US" sz="1600" dirty="0">
                <a:latin typeface="Helvetica" pitchFamily="2" charset="0"/>
                <a:ea typeface="Helvetica Neue" panose="02000503000000020004" pitchFamily="2" charset="0"/>
                <a:cs typeface="Helvetica Neue" panose="02000503000000020004" pitchFamily="2" charset="0"/>
              </a:rPr>
              <a:t>: A Multi-Core RTOS written in SPARK Ada - ©️ J. Germán Rivera </a:t>
            </a:r>
          </a:p>
        </p:txBody>
      </p:sp>
    </p:spTree>
    <p:extLst>
      <p:ext uri="{BB962C8B-B14F-4D97-AF65-F5344CB8AC3E}">
        <p14:creationId xmlns:p14="http://schemas.microsoft.com/office/powerpoint/2010/main" val="3062529340"/>
      </p:ext>
    </p:extLst>
  </p:cSld>
  <p:clrMapOvr>
    <a:masterClrMapping/>
  </p:clrMapOvr>
  <p:extLst>
    <p:ext uri="{DCECCB84-F9BA-43D5-87BE-67443E8EF086}">
      <p15:sldGuideLst xmlns:p15="http://schemas.microsoft.com/office/powerpoint/2012/main">
        <p15:guide id="7" orient="horz" pos="8112" userDrawn="1">
          <p15:clr>
            <a:srgbClr val="FBAE40"/>
          </p15:clr>
        </p15:guide>
        <p15:guide id="10" orient="horz" pos="480" userDrawn="1">
          <p15:clr>
            <a:srgbClr val="FBAE40"/>
          </p15:clr>
        </p15:guide>
        <p15:guide id="11" pos="14929" userDrawn="1">
          <p15:clr>
            <a:srgbClr val="FBAE40"/>
          </p15:clr>
        </p15:guide>
        <p15:guide id="12" pos="4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id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18A1-DFF2-EF4B-AC0E-CDDD3C2394E3}"/>
              </a:ext>
            </a:extLst>
          </p:cNvPr>
          <p:cNvSpPr/>
          <p:nvPr userDrawn="1"/>
        </p:nvSpPr>
        <p:spPr>
          <a:xfrm>
            <a:off x="9901006"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6498325-F377-7040-A81C-7C377EAF1785}"/>
              </a:ext>
            </a:extLst>
          </p:cNvPr>
          <p:cNvSpPr/>
          <p:nvPr userDrawn="1"/>
        </p:nvSpPr>
        <p:spPr>
          <a:xfrm>
            <a:off x="14489143" y="48125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533AF2-3076-E644-B0C2-D63461A337E4}"/>
              </a:ext>
            </a:extLst>
          </p:cNvPr>
          <p:cNvSpPr/>
          <p:nvPr userDrawn="1"/>
        </p:nvSpPr>
        <p:spPr>
          <a:xfrm>
            <a:off x="9896784" y="8873078"/>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26605E1-1213-C940-8DCB-9B2E378D250C}"/>
              </a:ext>
            </a:extLst>
          </p:cNvPr>
          <p:cNvSpPr/>
          <p:nvPr userDrawn="1"/>
        </p:nvSpPr>
        <p:spPr>
          <a:xfrm>
            <a:off x="5327292"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950B0DD-A8BE-C240-BD4E-8EF473B38828}"/>
              </a:ext>
            </a:extLst>
          </p:cNvPr>
          <p:cNvSpPr/>
          <p:nvPr userDrawn="1"/>
        </p:nvSpPr>
        <p:spPr>
          <a:xfrm>
            <a:off x="5327292"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5F515C5-1AE4-954A-8273-B7F57BD2C43E}"/>
              </a:ext>
            </a:extLst>
          </p:cNvPr>
          <p:cNvSpPr/>
          <p:nvPr userDrawn="1"/>
        </p:nvSpPr>
        <p:spPr>
          <a:xfrm>
            <a:off x="9901007"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BD6935D-1E56-3E4F-B567-BF61568AA972}"/>
              </a:ext>
            </a:extLst>
          </p:cNvPr>
          <p:cNvSpPr/>
          <p:nvPr userDrawn="1"/>
        </p:nvSpPr>
        <p:spPr>
          <a:xfrm>
            <a:off x="14474721"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F83DD17-6AED-EC42-B12F-8C27D14CEF90}"/>
              </a:ext>
            </a:extLst>
          </p:cNvPr>
          <p:cNvSpPr/>
          <p:nvPr userDrawn="1"/>
        </p:nvSpPr>
        <p:spPr>
          <a:xfrm>
            <a:off x="5327292"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93B2EB-BB8D-2A41-9490-178E57EB18FA}"/>
              </a:ext>
            </a:extLst>
          </p:cNvPr>
          <p:cNvSpPr/>
          <p:nvPr userDrawn="1"/>
        </p:nvSpPr>
        <p:spPr>
          <a:xfrm>
            <a:off x="14474721"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55CF9E-68BD-184C-BA4C-352088E2EF8F}"/>
              </a:ext>
            </a:extLst>
          </p:cNvPr>
          <p:cNvSpPr/>
          <p:nvPr userDrawn="1"/>
        </p:nvSpPr>
        <p:spPr>
          <a:xfrm>
            <a:off x="19048436"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5E9A80-B07B-7F49-93E8-78E183A8550B}"/>
              </a:ext>
            </a:extLst>
          </p:cNvPr>
          <p:cNvSpPr/>
          <p:nvPr userDrawn="1"/>
        </p:nvSpPr>
        <p:spPr>
          <a:xfrm>
            <a:off x="19062858" y="4814029"/>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2FE489-AD8C-E642-9C9B-457DB02C0A18}"/>
              </a:ext>
            </a:extLst>
          </p:cNvPr>
          <p:cNvSpPr/>
          <p:nvPr userDrawn="1"/>
        </p:nvSpPr>
        <p:spPr>
          <a:xfrm>
            <a:off x="19048436"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499D8D3-87FC-FF42-A248-6EB970232E38}"/>
              </a:ext>
            </a:extLst>
          </p:cNvPr>
          <p:cNvSpPr/>
          <p:nvPr userDrawn="1"/>
        </p:nvSpPr>
        <p:spPr>
          <a:xfrm>
            <a:off x="753577" y="480876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54377B0-06EE-4047-A0F1-F2ED23C54C30}"/>
              </a:ext>
            </a:extLst>
          </p:cNvPr>
          <p:cNvSpPr/>
          <p:nvPr userDrawn="1"/>
        </p:nvSpPr>
        <p:spPr>
          <a:xfrm>
            <a:off x="753577" y="758952"/>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2EFA87-3792-0541-B9E2-F8DC3F848F3E}"/>
              </a:ext>
            </a:extLst>
          </p:cNvPr>
          <p:cNvSpPr/>
          <p:nvPr userDrawn="1"/>
        </p:nvSpPr>
        <p:spPr>
          <a:xfrm>
            <a:off x="754888" y="8858573"/>
            <a:ext cx="4573715" cy="4049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E9CEE-93A4-2842-8AC4-72936C59B4A2}"/>
              </a:ext>
            </a:extLst>
          </p:cNvPr>
          <p:cNvSpPr>
            <a:spLocks/>
          </p:cNvSpPr>
          <p:nvPr userDrawn="1"/>
        </p:nvSpPr>
        <p:spPr>
          <a:xfrm>
            <a:off x="781851" y="8734347"/>
            <a:ext cx="22869144"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4D0CD70-D010-D34E-B767-3F2A02CDBE75}"/>
              </a:ext>
            </a:extLst>
          </p:cNvPr>
          <p:cNvSpPr>
            <a:spLocks/>
          </p:cNvSpPr>
          <p:nvPr userDrawn="1"/>
        </p:nvSpPr>
        <p:spPr>
          <a:xfrm rot="5400000">
            <a:off x="-748897"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9FBA68-07D2-9347-ADD0-31CE4CD1E7A2}"/>
              </a:ext>
            </a:extLst>
          </p:cNvPr>
          <p:cNvSpPr>
            <a:spLocks/>
          </p:cNvSpPr>
          <p:nvPr userDrawn="1"/>
        </p:nvSpPr>
        <p:spPr>
          <a:xfrm rot="5400000">
            <a:off x="3829041"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416E9F1-49EB-5B4B-9E24-48658C9C7868}"/>
              </a:ext>
            </a:extLst>
          </p:cNvPr>
          <p:cNvSpPr>
            <a:spLocks/>
          </p:cNvSpPr>
          <p:nvPr userDrawn="1"/>
        </p:nvSpPr>
        <p:spPr>
          <a:xfrm rot="5400000">
            <a:off x="8402755"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81D336C-A3D7-C148-B216-75C86B6CA864}"/>
              </a:ext>
            </a:extLst>
          </p:cNvPr>
          <p:cNvSpPr>
            <a:spLocks/>
          </p:cNvSpPr>
          <p:nvPr userDrawn="1"/>
        </p:nvSpPr>
        <p:spPr>
          <a:xfrm rot="5400000">
            <a:off x="12968026" y="6704179"/>
            <a:ext cx="12152376"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1F2DE52-8E31-D840-BC26-CD8F8BCB8F1E}"/>
              </a:ext>
            </a:extLst>
          </p:cNvPr>
          <p:cNvSpPr>
            <a:spLocks/>
          </p:cNvSpPr>
          <p:nvPr userDrawn="1"/>
        </p:nvSpPr>
        <p:spPr>
          <a:xfrm>
            <a:off x="781851" y="4680747"/>
            <a:ext cx="22869144" cy="256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08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mple Text Siz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F53CCAD-C123-6E42-B15C-143D51011A96}"/>
              </a:ext>
            </a:extLst>
          </p:cNvPr>
          <p:cNvSpPr>
            <a:spLocks noGrp="1"/>
          </p:cNvSpPr>
          <p:nvPr>
            <p:ph type="body" sz="quarter" idx="10" hasCustomPrompt="1"/>
          </p:nvPr>
        </p:nvSpPr>
        <p:spPr>
          <a:xfrm>
            <a:off x="14184576" y="4572000"/>
            <a:ext cx="9288083" cy="7537450"/>
          </a:xfrm>
          <a:prstGeom prst="rect">
            <a:avLst/>
          </a:prstGeom>
        </p:spPr>
        <p:txBody>
          <a:bodyPr/>
          <a:lstStyle>
            <a:lvl1pPr marL="0" indent="0">
              <a:lnSpc>
                <a:spcPts val="3000"/>
              </a:lnSpc>
              <a:spcBef>
                <a:spcPts val="0"/>
              </a:spcBef>
              <a:buNone/>
              <a:defRPr sz="24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More Copy</a:t>
            </a:r>
            <a:br>
              <a:rPr lang="en-US" dirty="0"/>
            </a:br>
            <a:r>
              <a:rPr lang="en-US" dirty="0"/>
              <a:t>2</a:t>
            </a:r>
            <a:r>
              <a:rPr lang="en-US" altLang="zh-CN" dirty="0"/>
              <a:t>4</a:t>
            </a:r>
            <a:r>
              <a:rPr lang="en-US" dirty="0"/>
              <a:t>pt</a:t>
            </a:r>
          </a:p>
        </p:txBody>
      </p:sp>
      <p:sp>
        <p:nvSpPr>
          <p:cNvPr id="23" name="Slide Number Placeholder 5">
            <a:extLst>
              <a:ext uri="{FF2B5EF4-FFF2-40B4-BE49-F238E27FC236}">
                <a16:creationId xmlns:a16="http://schemas.microsoft.com/office/drawing/2014/main" id="{36240C17-081F-C54C-A1EE-DE56E8686CE0}"/>
              </a:ext>
            </a:extLst>
          </p:cNvPr>
          <p:cNvSpPr txBox="1">
            <a:spLocks/>
          </p:cNvSpPr>
          <p:nvPr userDrawn="1"/>
        </p:nvSpPr>
        <p:spPr>
          <a:xfrm>
            <a:off x="23299914" y="12978551"/>
            <a:ext cx="1453069" cy="698500"/>
          </a:xfrm>
          <a:prstGeom prst="rect">
            <a:avLst/>
          </a:prstGeom>
        </p:spPr>
        <p:txBody>
          <a:bodyPr vert="horz" lIns="182880" tIns="91440" rIns="182880" bIns="9144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82D5D8DC-9473-3845-81D6-4BCA6EEE8B1B}" type="slidenum">
              <a:rPr lang="en-US" sz="1600" smtClean="0">
                <a:latin typeface="Helvetica" pitchFamily="2" charset="0"/>
                <a:ea typeface="Helvetica Neue" panose="02000503000000020004" pitchFamily="2" charset="0"/>
                <a:cs typeface="Helvetica Neue" panose="02000503000000020004" pitchFamily="2" charset="0"/>
              </a:rPr>
              <a:pPr algn="l"/>
              <a:t>‹#›</a:t>
            </a:fld>
            <a:endParaRPr lang="en-US" sz="1600" dirty="0">
              <a:latin typeface="Helvetica" pitchFamily="2" charset="0"/>
              <a:ea typeface="Helvetica Neue" panose="02000503000000020004" pitchFamily="2" charset="0"/>
              <a:cs typeface="Helvetica Neue" panose="02000503000000020004" pitchFamily="2" charset="0"/>
            </a:endParaRPr>
          </a:p>
        </p:txBody>
      </p:sp>
      <p:sp>
        <p:nvSpPr>
          <p:cNvPr id="29" name="Text Placeholder 17">
            <a:extLst>
              <a:ext uri="{FF2B5EF4-FFF2-40B4-BE49-F238E27FC236}">
                <a16:creationId xmlns:a16="http://schemas.microsoft.com/office/drawing/2014/main" id="{C7F7C291-7F55-A44C-8D5D-CD04E93C40C4}"/>
              </a:ext>
            </a:extLst>
          </p:cNvPr>
          <p:cNvSpPr>
            <a:spLocks noGrp="1"/>
          </p:cNvSpPr>
          <p:nvPr>
            <p:ph type="body" sz="quarter" idx="11" hasCustomPrompt="1"/>
          </p:nvPr>
        </p:nvSpPr>
        <p:spPr>
          <a:xfrm>
            <a:off x="7524904" y="4572000"/>
            <a:ext cx="6455654" cy="7537450"/>
          </a:xfrm>
          <a:prstGeom prst="rect">
            <a:avLst/>
          </a:prstGeom>
        </p:spPr>
        <p:txBody>
          <a:bodyPr/>
          <a:lstStyle>
            <a:lvl1pPr marL="0" indent="0">
              <a:lnSpc>
                <a:spcPts val="4000"/>
              </a:lnSpc>
              <a:spcBef>
                <a:spcPts val="0"/>
              </a:spcBef>
              <a:buNone/>
              <a:defRPr sz="32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Less Copy</a:t>
            </a:r>
            <a:br>
              <a:rPr lang="en-US" dirty="0"/>
            </a:br>
            <a:r>
              <a:rPr lang="en-US" altLang="zh-CN" dirty="0"/>
              <a:t>32</a:t>
            </a:r>
            <a:r>
              <a:rPr lang="en-US" dirty="0"/>
              <a:t>pt</a:t>
            </a:r>
          </a:p>
        </p:txBody>
      </p:sp>
      <p:sp>
        <p:nvSpPr>
          <p:cNvPr id="30" name="Text Placeholder 17">
            <a:extLst>
              <a:ext uri="{FF2B5EF4-FFF2-40B4-BE49-F238E27FC236}">
                <a16:creationId xmlns:a16="http://schemas.microsoft.com/office/drawing/2014/main" id="{91818B47-F733-9A4D-9972-2B690168F64C}"/>
              </a:ext>
            </a:extLst>
          </p:cNvPr>
          <p:cNvSpPr>
            <a:spLocks noGrp="1"/>
          </p:cNvSpPr>
          <p:nvPr>
            <p:ph type="body" sz="quarter" idx="12" hasCustomPrompt="1"/>
          </p:nvPr>
        </p:nvSpPr>
        <p:spPr>
          <a:xfrm>
            <a:off x="763588" y="4572000"/>
            <a:ext cx="6631873" cy="7537450"/>
          </a:xfrm>
          <a:prstGeom prst="rect">
            <a:avLst/>
          </a:prstGeom>
        </p:spPr>
        <p:txBody>
          <a:bodyPr/>
          <a:lstStyle>
            <a:lvl1pPr marL="0" indent="0">
              <a:lnSpc>
                <a:spcPts val="5000"/>
              </a:lnSpc>
              <a:spcBef>
                <a:spcPts val="0"/>
              </a:spcBef>
              <a:buNone/>
              <a:defRPr sz="4000" b="0" i="0">
                <a:latin typeface="Helvetica" pitchFamily="2" charset="0"/>
                <a:ea typeface="Helvetica Neue" panose="02000503000000020004" pitchFamily="2" charset="0"/>
                <a:cs typeface="Helvetica Neue" panose="02000503000000020004" pitchFamily="2" charset="0"/>
              </a:defRPr>
            </a:lvl1pPr>
            <a:lvl2pPr marL="914326"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2pPr>
            <a:lvl3pPr marL="1828652"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3pPr>
            <a:lvl4pPr marL="2742978"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4pPr>
            <a:lvl5pPr marL="3657304" indent="0">
              <a:buNone/>
              <a:defRPr sz="2400" b="0" i="0">
                <a:latin typeface="Helvetica Neue" panose="02000503000000020004" pitchFamily="2" charset="0"/>
                <a:ea typeface="Helvetica Neue" panose="02000503000000020004" pitchFamily="2" charset="0"/>
                <a:cs typeface="Helvetica Neue" panose="02000503000000020004" pitchFamily="2" charset="0"/>
              </a:defRPr>
            </a:lvl5pPr>
          </a:lstStyle>
          <a:p>
            <a:pPr lvl="0"/>
            <a:r>
              <a:rPr lang="en-US" dirty="0"/>
              <a:t>Title</a:t>
            </a:r>
            <a:br>
              <a:rPr lang="en-US" dirty="0"/>
            </a:br>
            <a:r>
              <a:rPr lang="en-US" altLang="zh-CN" dirty="0"/>
              <a:t>4</a:t>
            </a:r>
            <a:r>
              <a:rPr lang="en-US" dirty="0"/>
              <a:t>0pt</a:t>
            </a:r>
          </a:p>
        </p:txBody>
      </p:sp>
      <p:sp>
        <p:nvSpPr>
          <p:cNvPr id="31" name="Rectangle 30">
            <a:extLst>
              <a:ext uri="{FF2B5EF4-FFF2-40B4-BE49-F238E27FC236}">
                <a16:creationId xmlns:a16="http://schemas.microsoft.com/office/drawing/2014/main" id="{34D7D8FB-CE15-0C4F-B594-C9D32EDDF362}"/>
              </a:ext>
            </a:extLst>
          </p:cNvPr>
          <p:cNvSpPr/>
          <p:nvPr userDrawn="1"/>
        </p:nvSpPr>
        <p:spPr>
          <a:xfrm>
            <a:off x="763588" y="762000"/>
            <a:ext cx="7499056" cy="707886"/>
          </a:xfrm>
          <a:prstGeom prst="rect">
            <a:avLst/>
          </a:prstGeom>
        </p:spPr>
        <p:txBody>
          <a:bodyPr wrap="square">
            <a:spAutoFit/>
          </a:bodyPr>
          <a:lstStyle/>
          <a:p>
            <a:pPr lvl="0"/>
            <a:r>
              <a:rPr lang="en-US" sz="4000" b="0" i="0" dirty="0">
                <a:latin typeface="Helvetica" pitchFamily="2" charset="0"/>
                <a:ea typeface="Helvetica Neue" panose="02000503000000020004" pitchFamily="2" charset="0"/>
                <a:cs typeface="Helvetica Neue" panose="02000503000000020004" pitchFamily="2" charset="0"/>
              </a:rPr>
              <a:t>Font Size Guide Examples</a:t>
            </a:r>
          </a:p>
        </p:txBody>
      </p:sp>
      <p:sp>
        <p:nvSpPr>
          <p:cNvPr id="32" name="Rectangle 31">
            <a:extLst>
              <a:ext uri="{FF2B5EF4-FFF2-40B4-BE49-F238E27FC236}">
                <a16:creationId xmlns:a16="http://schemas.microsoft.com/office/drawing/2014/main" id="{5ABE7F04-BA46-674A-B943-AB6D08AF9169}"/>
              </a:ext>
            </a:extLst>
          </p:cNvPr>
          <p:cNvSpPr/>
          <p:nvPr userDrawn="1"/>
        </p:nvSpPr>
        <p:spPr>
          <a:xfrm>
            <a:off x="765961" y="1509074"/>
            <a:ext cx="11046626" cy="1323439"/>
          </a:xfrm>
          <a:prstGeom prst="rect">
            <a:avLst/>
          </a:prstGeom>
        </p:spPr>
        <p:txBody>
          <a:bodyPr wrap="square">
            <a:spAutoFit/>
          </a:bodyPr>
          <a:lstStyle/>
          <a:p>
            <a:pPr lvl="0"/>
            <a: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t>Please sample the text sizes below to use </a:t>
            </a:r>
            <a:b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br>
            <a:r>
              <a:rPr lang="en-US" sz="4000" b="0" i="0" dirty="0">
                <a:solidFill>
                  <a:schemeClr val="accent3"/>
                </a:solidFill>
                <a:latin typeface="Helvetica" pitchFamily="2" charset="0"/>
                <a:ea typeface="Helvetica Neue" panose="02000503000000020004" pitchFamily="2" charset="0"/>
                <a:cs typeface="Helvetica Neue" panose="02000503000000020004" pitchFamily="2" charset="0"/>
              </a:rPr>
              <a:t>in your own presentation</a:t>
            </a:r>
          </a:p>
        </p:txBody>
      </p:sp>
    </p:spTree>
    <p:extLst>
      <p:ext uri="{BB962C8B-B14F-4D97-AF65-F5344CB8AC3E}">
        <p14:creationId xmlns:p14="http://schemas.microsoft.com/office/powerpoint/2010/main" val="1320302003"/>
      </p:ext>
    </p:extLst>
  </p:cSld>
  <p:clrMapOvr>
    <a:masterClrMapping/>
  </p:clrMapOvr>
  <p:extLst>
    <p:ext uri="{DCECCB84-F9BA-43D5-87BE-67443E8EF086}">
      <p15:sldGuideLst xmlns:p15="http://schemas.microsoft.com/office/powerpoint/2012/main">
        <p15:guide id="3" pos="481" userDrawn="1">
          <p15:clr>
            <a:srgbClr val="FBAE40"/>
          </p15:clr>
        </p15:guide>
        <p15:guide id="7" orient="horz" pos="8112" userDrawn="1">
          <p15:clr>
            <a:srgbClr val="FBAE40"/>
          </p15:clr>
        </p15:guide>
        <p15:guide id="8" orient="horz" pos="480" userDrawn="1">
          <p15:clr>
            <a:srgbClr val="FBAE40"/>
          </p15:clr>
        </p15:guide>
        <p15:guide id="10" pos="1492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248997" y="4260852"/>
            <a:ext cx="20729099" cy="1140883"/>
          </a:xfrm>
        </p:spPr>
        <p:txBody>
          <a:bodyPr>
            <a:normAutofit/>
          </a:bodyPr>
          <a:lstStyle>
            <a:lvl1pPr algn="l">
              <a:defRPr sz="9600" b="1" i="0">
                <a:latin typeface="Helvetica" pitchFamily="2" charset="0"/>
              </a:defRPr>
            </a:lvl1pPr>
          </a:lstStyle>
          <a:p>
            <a:r>
              <a:rPr lang="en-US" dirty="0"/>
              <a:t>Title</a:t>
            </a:r>
          </a:p>
        </p:txBody>
      </p:sp>
      <p:sp>
        <p:nvSpPr>
          <p:cNvPr id="3" name="Subtitle 2"/>
          <p:cNvSpPr>
            <a:spLocks noGrp="1"/>
          </p:cNvSpPr>
          <p:nvPr>
            <p:ph type="subTitle" idx="1"/>
          </p:nvPr>
        </p:nvSpPr>
        <p:spPr>
          <a:xfrm>
            <a:off x="1248997" y="5435600"/>
            <a:ext cx="20729099" cy="3048000"/>
          </a:xfrm>
        </p:spPr>
        <p:txBody>
          <a:bodyPr>
            <a:noAutofit/>
          </a:bodyPr>
          <a:lstStyle>
            <a:lvl1pPr marL="0" indent="0" algn="l">
              <a:buNone/>
              <a:defRPr sz="4800">
                <a:solidFill>
                  <a:schemeClr val="tx1"/>
                </a:solidFill>
                <a:latin typeface="Helvetica" pitchFamily="2" charset="0"/>
              </a:defRPr>
            </a:lvl1pPr>
            <a:lvl2pPr marL="1219215" indent="0" algn="ctr">
              <a:buNone/>
              <a:defRPr>
                <a:solidFill>
                  <a:schemeClr val="tx1">
                    <a:tint val="75000"/>
                  </a:schemeClr>
                </a:solidFill>
              </a:defRPr>
            </a:lvl2pPr>
            <a:lvl3pPr marL="2438430" indent="0" algn="ctr">
              <a:buNone/>
              <a:defRPr>
                <a:solidFill>
                  <a:schemeClr val="tx1">
                    <a:tint val="75000"/>
                  </a:schemeClr>
                </a:solidFill>
              </a:defRPr>
            </a:lvl3pPr>
            <a:lvl4pPr marL="3657646" indent="0" algn="ctr">
              <a:buNone/>
              <a:defRPr>
                <a:solidFill>
                  <a:schemeClr val="tx1">
                    <a:tint val="75000"/>
                  </a:schemeClr>
                </a:solidFill>
              </a:defRPr>
            </a:lvl4pPr>
            <a:lvl5pPr marL="4876861" indent="0" algn="ctr">
              <a:buNone/>
              <a:defRPr>
                <a:solidFill>
                  <a:schemeClr val="tx1">
                    <a:tint val="75000"/>
                  </a:schemeClr>
                </a:solidFill>
              </a:defRPr>
            </a:lvl5pPr>
            <a:lvl6pPr marL="6096076" indent="0" algn="ctr">
              <a:buNone/>
              <a:defRPr>
                <a:solidFill>
                  <a:schemeClr val="tx1">
                    <a:tint val="75000"/>
                  </a:schemeClr>
                </a:solidFill>
              </a:defRPr>
            </a:lvl6pPr>
            <a:lvl7pPr marL="7315291" indent="0" algn="ctr">
              <a:buNone/>
              <a:defRPr>
                <a:solidFill>
                  <a:schemeClr val="tx1">
                    <a:tint val="75000"/>
                  </a:schemeClr>
                </a:solidFill>
              </a:defRPr>
            </a:lvl7pPr>
            <a:lvl8pPr marL="8534507" indent="0" algn="ctr">
              <a:buNone/>
              <a:defRPr>
                <a:solidFill>
                  <a:schemeClr val="tx1">
                    <a:tint val="75000"/>
                  </a:schemeClr>
                </a:solidFill>
              </a:defRPr>
            </a:lvl8pPr>
            <a:lvl9pPr marL="9753722" indent="0" algn="ctr">
              <a:buNone/>
              <a:defRPr>
                <a:solidFill>
                  <a:schemeClr val="tx1">
                    <a:tint val="75000"/>
                  </a:schemeClr>
                </a:solidFill>
              </a:defRPr>
            </a:lvl9pPr>
          </a:lstStyle>
          <a:p>
            <a:r>
              <a:rPr lang="en-US" dirty="0"/>
              <a:t>Click to edit Master subtitle style</a:t>
            </a:r>
          </a:p>
        </p:txBody>
      </p:sp>
      <p:sp>
        <p:nvSpPr>
          <p:cNvPr id="8" name="Subtitle 2"/>
          <p:cNvSpPr txBox="1">
            <a:spLocks/>
          </p:cNvSpPr>
          <p:nvPr userDrawn="1"/>
        </p:nvSpPr>
        <p:spPr>
          <a:xfrm>
            <a:off x="1896780" y="6333067"/>
            <a:ext cx="20729099" cy="609600"/>
          </a:xfrm>
          <a:prstGeom prst="rect">
            <a:avLst/>
          </a:prstGeom>
        </p:spPr>
        <p:txBody>
          <a:bodyPr vert="horz" lIns="243840" tIns="121920" rIns="243840" bIns="121920" rtlCol="0">
            <a:normAutofit fontScale="92500" lnSpcReduction="20000"/>
          </a:bodyPr>
          <a:lstStyle>
            <a:lvl1pPr marL="0" indent="0" algn="l" defTabSz="457200" rtl="0" eaLnBrk="1" latinLnBrk="0" hangingPunct="1">
              <a:spcBef>
                <a:spcPct val="20000"/>
              </a:spcBef>
              <a:buFont typeface="Arial"/>
              <a:buNone/>
              <a:defRPr sz="1800" kern="1200">
                <a:solidFill>
                  <a:schemeClr val="tx1"/>
                </a:solidFill>
                <a:latin typeface="Century Gothic" panose="020B0502020202020204" pitchFamily="34" charset="0"/>
                <a:ea typeface="+mn-ea"/>
                <a:cs typeface="+mn-cs"/>
              </a:defRPr>
            </a:lvl1pPr>
            <a:lvl2pPr marL="457200" indent="0" algn="ctr" defTabSz="457200" rtl="0" eaLnBrk="1" latinLnBrk="0" hangingPunct="1">
              <a:spcBef>
                <a:spcPct val="20000"/>
              </a:spcBef>
              <a:buFont typeface="Arial"/>
              <a:buNone/>
              <a:defRPr sz="2000" kern="1200">
                <a:solidFill>
                  <a:schemeClr val="tx1">
                    <a:tint val="75000"/>
                  </a:schemeClr>
                </a:solidFill>
                <a:latin typeface="Helvetica" pitchFamily="34" charset="0"/>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Helvetica" pitchFamily="34" charset="0"/>
                <a:ea typeface="+mn-ea"/>
                <a:cs typeface="+mn-cs"/>
              </a:defRPr>
            </a:lvl3pPr>
            <a:lvl4pPr marL="1371600" indent="0" algn="ctr" defTabSz="457200" rtl="0" eaLnBrk="1" latinLnBrk="0" hangingPunct="1">
              <a:spcBef>
                <a:spcPct val="20000"/>
              </a:spcBef>
              <a:buFont typeface="Arial"/>
              <a:buNone/>
              <a:defRPr sz="1600" kern="1200">
                <a:solidFill>
                  <a:schemeClr val="tx1">
                    <a:tint val="75000"/>
                  </a:schemeClr>
                </a:solidFill>
                <a:latin typeface="Helvetica" pitchFamily="34" charset="0"/>
                <a:ea typeface="+mn-ea"/>
                <a:cs typeface="+mn-cs"/>
              </a:defRPr>
            </a:lvl4pPr>
            <a:lvl5pPr marL="1828800" indent="0" algn="ctr" defTabSz="457200" rtl="0" eaLnBrk="1" latinLnBrk="0" hangingPunct="1">
              <a:spcBef>
                <a:spcPct val="20000"/>
              </a:spcBef>
              <a:buFont typeface="Arial"/>
              <a:buNone/>
              <a:defRPr sz="1600" kern="1200">
                <a:solidFill>
                  <a:schemeClr val="tx1">
                    <a:tint val="75000"/>
                  </a:schemeClr>
                </a:solidFill>
                <a:latin typeface="Helvetica" pitchFamily="34" charset="0"/>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3200" dirty="0"/>
          </a:p>
        </p:txBody>
      </p:sp>
    </p:spTree>
    <p:extLst>
      <p:ext uri="{BB962C8B-B14F-4D97-AF65-F5344CB8AC3E}">
        <p14:creationId xmlns:p14="http://schemas.microsoft.com/office/powerpoint/2010/main" val="12686809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8414351"/>
      </p:ext>
    </p:extLst>
  </p:cSld>
  <p:clrMap bg1="lt1" tx1="dk1" bg2="lt2" tx2="dk2" accent1="accent1" accent2="accent2" accent3="accent3" accent4="accent4" accent5="accent5" accent6="accent6" hlink="hlink" folHlink="folHlink"/>
  <p:sldLayoutIdLst>
    <p:sldLayoutId id="2147483667" r:id="rId1"/>
    <p:sldLayoutId id="2147483672" r:id="rId2"/>
    <p:sldLayoutId id="2147483650" r:id="rId3"/>
    <p:sldLayoutId id="2147483673" r:id="rId4"/>
  </p:sldLayoutIdLst>
  <p:hf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grivera67@gmail.com" TargetMode="Externa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alire.ada.dev/crates/hirtos_separation_kernel" TargetMode="External"/><Relationship Id="rId2" Type="http://schemas.openxmlformats.org/officeDocument/2006/relationships/hyperlink" Target="https://alire.ada.dev/crates/hirtos" TargetMode="External"/><Relationship Id="rId1" Type="http://schemas.openxmlformats.org/officeDocument/2006/relationships/slideLayout" Target="../slideLayouts/slideLayout1.xml"/><Relationship Id="rId4" Type="http://schemas.openxmlformats.org/officeDocument/2006/relationships/hyperlink" Target="https://github.com/jgrivera67/HiRTO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830387" y="1931405"/>
            <a:ext cx="20726400" cy="4821088"/>
          </a:xfrm>
        </p:spPr>
        <p:txBody>
          <a:bodyPr>
            <a:normAutofit/>
          </a:bodyPr>
          <a:lstStyle/>
          <a:p>
            <a:pPr algn="ctr"/>
            <a:r>
              <a:rPr lang="en-US" dirty="0" err="1">
                <a:solidFill>
                  <a:schemeClr val="bg1">
                    <a:lumMod val="65000"/>
                  </a:schemeClr>
                </a:solidFill>
                <a:latin typeface="Helvetica"/>
                <a:cs typeface="Helvetica"/>
              </a:rPr>
              <a:t>HiRTOS</a:t>
            </a:r>
            <a:r>
              <a:rPr lang="en-US" dirty="0">
                <a:solidFill>
                  <a:schemeClr val="bg1">
                    <a:lumMod val="65000"/>
                  </a:schemeClr>
                </a:solidFill>
                <a:latin typeface="Helvetica"/>
                <a:cs typeface="Helvetica"/>
              </a:rPr>
              <a:t>: A Multi-Core RTOS written in SPARK Ada</a:t>
            </a:r>
            <a:br>
              <a:rPr lang="en-US" dirty="0">
                <a:solidFill>
                  <a:schemeClr val="bg1">
                    <a:lumMod val="65000"/>
                  </a:schemeClr>
                </a:solidFill>
                <a:latin typeface="Helvetica"/>
                <a:cs typeface="Helvetica"/>
              </a:rPr>
            </a:br>
            <a:r>
              <a:rPr lang="en-US" dirty="0">
                <a:solidFill>
                  <a:schemeClr val="bg1">
                    <a:lumMod val="65000"/>
                  </a:schemeClr>
                </a:solidFill>
                <a:latin typeface="Helvetica"/>
                <a:cs typeface="Helvetica"/>
              </a:rPr>
              <a:t> </a:t>
            </a:r>
            <a:endParaRPr lang="en-US" dirty="0">
              <a:solidFill>
                <a:schemeClr val="bg1">
                  <a:lumMod val="65000"/>
                </a:schemeClr>
              </a:solidFill>
              <a:latin typeface="Helvetica" panose="020B0604020202020204" pitchFamily="34" charset="0"/>
              <a:cs typeface="Helvetica" panose="020B0604020202020204" pitchFamily="34" charset="0"/>
            </a:endParaRPr>
          </a:p>
        </p:txBody>
      </p:sp>
      <p:sp>
        <p:nvSpPr>
          <p:cNvPr id="6" name="Subtitle 5"/>
          <p:cNvSpPr>
            <a:spLocks noGrp="1"/>
          </p:cNvSpPr>
          <p:nvPr>
            <p:ph type="subTitle" idx="1"/>
          </p:nvPr>
        </p:nvSpPr>
        <p:spPr>
          <a:xfrm>
            <a:off x="1830387" y="7182453"/>
            <a:ext cx="20726400" cy="3048000"/>
          </a:xfrm>
        </p:spPr>
        <p:txBody>
          <a:bodyPr vert="horz" lIns="243840" tIns="121920" rIns="243840" bIns="121920" rtlCol="0" anchor="t">
            <a:noAutofit/>
          </a:bodyPr>
          <a:lstStyle/>
          <a:p>
            <a:pPr algn="ctr"/>
            <a:r>
              <a:rPr lang="en-US" dirty="0">
                <a:latin typeface="Helvetica"/>
                <a:cs typeface="Helvetica"/>
              </a:rPr>
              <a:t>J. Germán Rivera</a:t>
            </a:r>
          </a:p>
          <a:p>
            <a:pPr algn="ctr"/>
            <a:r>
              <a:rPr lang="en-US" dirty="0">
                <a:latin typeface="Helvetica"/>
                <a:cs typeface="Helvetica"/>
              </a:rPr>
              <a:t>(</a:t>
            </a:r>
            <a:r>
              <a:rPr lang="en-US" dirty="0">
                <a:latin typeface="Helvetica"/>
                <a:cs typeface="Helvetica"/>
                <a:hlinkClick r:id="rId2"/>
              </a:rPr>
              <a:t>jgrivera67@gmail.com</a:t>
            </a:r>
            <a:r>
              <a:rPr lang="en-US" dirty="0">
                <a:latin typeface="Helvetica"/>
                <a:cs typeface="Helvetica"/>
              </a:rPr>
              <a:t>)</a:t>
            </a:r>
          </a:p>
          <a:p>
            <a:pPr algn="ctr"/>
            <a:endParaRPr lang="en-US" dirty="0">
              <a:latin typeface="Helvetica"/>
              <a:cs typeface="Helvetica"/>
            </a:endParaRPr>
          </a:p>
          <a:p>
            <a:pPr algn="ctr"/>
            <a:r>
              <a:rPr lang="en-US" sz="4400" dirty="0">
                <a:latin typeface="Helvetica"/>
                <a:cs typeface="Helvetica"/>
              </a:rPr>
              <a:t>Industrial Track Presentation</a:t>
            </a:r>
          </a:p>
          <a:p>
            <a:pPr algn="ctr"/>
            <a:r>
              <a:rPr lang="en-US" sz="4400" dirty="0">
                <a:latin typeface="Helvetica"/>
                <a:cs typeface="Helvetica"/>
              </a:rPr>
              <a:t>28th Ada-Europe International Conference on </a:t>
            </a:r>
          </a:p>
          <a:p>
            <a:pPr algn="ctr"/>
            <a:r>
              <a:rPr lang="en-US" sz="4400" dirty="0">
                <a:latin typeface="Helvetica"/>
                <a:cs typeface="Helvetica"/>
              </a:rPr>
              <a:t>Reliable Software Technologies (</a:t>
            </a:r>
            <a:r>
              <a:rPr lang="en-US" sz="4400" dirty="0" err="1">
                <a:latin typeface="Helvetica"/>
                <a:cs typeface="Helvetica"/>
              </a:rPr>
              <a:t>AEiC</a:t>
            </a:r>
            <a:r>
              <a:rPr lang="en-US" sz="4400" dirty="0">
                <a:latin typeface="Helvetica"/>
                <a:cs typeface="Helvetica"/>
              </a:rPr>
              <a:t> 2024)</a:t>
            </a:r>
          </a:p>
          <a:p>
            <a:pPr algn="ctr"/>
            <a:r>
              <a:rPr lang="en-US" sz="4400" dirty="0">
                <a:latin typeface="Helvetica"/>
                <a:cs typeface="Helvetica"/>
              </a:rPr>
              <a:t>11-14 June 2024, Barcelona, Spain</a:t>
            </a:r>
          </a:p>
          <a:p>
            <a:endParaRPr lang="en-US" b="1" dirty="0">
              <a:latin typeface="Helvetica"/>
              <a:cs typeface="Helvetica"/>
            </a:endParaRPr>
          </a:p>
        </p:txBody>
      </p:sp>
      <p:sp>
        <p:nvSpPr>
          <p:cNvPr id="4" name="Slide Number Placeholder 3"/>
          <p:cNvSpPr>
            <a:spLocks noGrp="1"/>
          </p:cNvSpPr>
          <p:nvPr>
            <p:ph type="sldNum" sz="quarter" idx="4294967295"/>
          </p:nvPr>
        </p:nvSpPr>
        <p:spPr>
          <a:xfrm>
            <a:off x="6542088" y="4951143"/>
            <a:ext cx="2133600" cy="169043"/>
          </a:xfrm>
          <a:prstGeom prst="rect">
            <a:avLst/>
          </a:prstGeom>
        </p:spPr>
        <p:txBody>
          <a:bodyPr lIns="90000" rIns="0"/>
          <a:lstStyle>
            <a:defPPr>
              <a:defRPr lang="en-US"/>
            </a:defPPr>
            <a:lvl1pPr marL="0" algn="l" defTabSz="457200" rtl="0" eaLnBrk="1" latinLnBrk="0" hangingPunct="1">
              <a:defRPr sz="700" kern="1200">
                <a:solidFill>
                  <a:schemeClr val="bg1"/>
                </a:solidFill>
                <a:latin typeface="Helvetica"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31A15EAA-547D-4185-A4E0-DDC0B5B98EDA}" type="slidenum">
              <a:rPr lang="en-US" smtClean="0"/>
              <a:pPr algn="r"/>
              <a:t>1</a:t>
            </a:fld>
            <a:r>
              <a:rPr lang="en-US"/>
              <a:t> </a:t>
            </a:r>
            <a:endParaRPr lang="en-US" dirty="0"/>
          </a:p>
        </p:txBody>
      </p:sp>
    </p:spTree>
    <p:extLst>
      <p:ext uri="{BB962C8B-B14F-4D97-AF65-F5344CB8AC3E}">
        <p14:creationId xmlns:p14="http://schemas.microsoft.com/office/powerpoint/2010/main" val="245250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t>Agenda</a:t>
            </a:r>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3200403"/>
            <a:ext cx="21859545" cy="9051925"/>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Design Overview</a:t>
            </a:r>
          </a:p>
          <a:p>
            <a:r>
              <a:rPr lang="en-US" dirty="0" err="1">
                <a:latin typeface="Helvetica"/>
                <a:cs typeface="Helvetica"/>
              </a:rPr>
              <a:t>HiRTOS</a:t>
            </a:r>
            <a:r>
              <a:rPr lang="en-US" dirty="0">
                <a:latin typeface="Helvetica"/>
                <a:cs typeface="Helvetica"/>
              </a:rPr>
              <a:t> Z Specification Highlights</a:t>
            </a:r>
          </a:p>
          <a:p>
            <a:r>
              <a:rPr lang="en-US" dirty="0" err="1">
                <a:latin typeface="Helvetica"/>
                <a:cs typeface="Helvetica"/>
              </a:rPr>
              <a:t>HiRTOS</a:t>
            </a:r>
            <a:r>
              <a:rPr lang="en-US" dirty="0">
                <a:latin typeface="Helvetica"/>
                <a:cs typeface="Helvetica"/>
              </a:rPr>
              <a:t> Thread Scheduler TLA+ Model</a:t>
            </a:r>
          </a:p>
          <a:p>
            <a:r>
              <a:rPr lang="en-US" dirty="0">
                <a:latin typeface="Helvetica"/>
                <a:cs typeface="Helvetica"/>
              </a:rPr>
              <a:t>Lessons Learned</a:t>
            </a:r>
          </a:p>
          <a:p>
            <a:pPr marL="0" indent="0">
              <a:buNone/>
            </a:pPr>
            <a:endParaRPr lang="en-US" dirty="0">
              <a:latin typeface="Helvetica"/>
              <a:cs typeface="Helvetica"/>
            </a:endParaRPr>
          </a:p>
          <a:p>
            <a:pPr marL="0" indent="0">
              <a:buNone/>
            </a:pPr>
            <a:endParaRPr lang="en-US" dirty="0">
              <a:cs typeface="Helvetica" pitchFamily="34" charset="0"/>
            </a:endParaRPr>
          </a:p>
        </p:txBody>
      </p:sp>
    </p:spTree>
    <p:extLst>
      <p:ext uri="{BB962C8B-B14F-4D97-AF65-F5344CB8AC3E}">
        <p14:creationId xmlns:p14="http://schemas.microsoft.com/office/powerpoint/2010/main" val="92345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What is </a:t>
            </a:r>
            <a:r>
              <a:rPr lang="en-US" dirty="0" err="1">
                <a:latin typeface="Helvetica"/>
                <a:cs typeface="Helvetica"/>
              </a:rPr>
              <a:t>HiRTOS</a:t>
            </a:r>
            <a:r>
              <a:rPr lang="en-US" dirty="0">
                <a:latin typeface="Helvetica"/>
                <a:cs typeface="Helvetica"/>
              </a:rPr>
              <a:t>?</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a:t>
            </a:r>
            <a:r>
              <a:rPr lang="en-US" i="1" dirty="0">
                <a:latin typeface="Helvetica"/>
                <a:cs typeface="Helvetica"/>
              </a:rPr>
              <a:t>High-Integrity</a:t>
            </a:r>
            <a:r>
              <a:rPr lang="en-US" dirty="0">
                <a:latin typeface="Helvetica"/>
                <a:cs typeface="Helvetica"/>
              </a:rPr>
              <a:t> RTOS</a:t>
            </a:r>
          </a:p>
          <a:p>
            <a:pPr lvl="1"/>
            <a:r>
              <a:rPr lang="en-US" dirty="0">
                <a:latin typeface="Helvetica"/>
                <a:cs typeface="Helvetica"/>
              </a:rPr>
              <a:t>A small real-time operating system kernel and separation kernel written in </a:t>
            </a:r>
          </a:p>
          <a:p>
            <a:pPr marL="914400" lvl="1" indent="0">
              <a:buNone/>
            </a:pPr>
            <a:r>
              <a:rPr lang="en-US" dirty="0">
                <a:latin typeface="Helvetica"/>
                <a:cs typeface="Helvetica"/>
              </a:rPr>
              <a:t>   SPARK Ada, and designed for simplicity, code safety and determinism.</a:t>
            </a:r>
          </a:p>
          <a:p>
            <a:pPr lvl="1"/>
            <a:r>
              <a:rPr lang="en-US" dirty="0" err="1">
                <a:latin typeface="Helvetica"/>
                <a:cs typeface="Helvetica"/>
              </a:rPr>
              <a:t>HiRTOS</a:t>
            </a:r>
            <a:r>
              <a:rPr lang="en-US" dirty="0">
                <a:latin typeface="Helvetica"/>
                <a:cs typeface="Helvetica"/>
              </a:rPr>
              <a:t> targets deeply embedded software applications that run in small single-core and multi-core embedded platforms</a:t>
            </a:r>
          </a:p>
          <a:p>
            <a:pPr lvl="1"/>
            <a:r>
              <a:rPr lang="en-US" dirty="0" err="1">
                <a:latin typeface="Helvetica"/>
                <a:cs typeface="Helvetica"/>
              </a:rPr>
              <a:t>HiRTOS</a:t>
            </a:r>
            <a:r>
              <a:rPr lang="en-US" dirty="0">
                <a:latin typeface="Helvetica"/>
                <a:cs typeface="Helvetica"/>
              </a:rPr>
              <a:t> won the “2023 </a:t>
            </a:r>
            <a:r>
              <a:rPr lang="en-US" dirty="0" err="1">
                <a:latin typeface="Helvetica"/>
                <a:cs typeface="Helvetica"/>
              </a:rPr>
              <a:t>Alire</a:t>
            </a:r>
            <a:r>
              <a:rPr lang="en-US" dirty="0">
                <a:latin typeface="Helvetica"/>
                <a:cs typeface="Helvetica"/>
              </a:rPr>
              <a:t> Embedded Crate of the Year” award</a:t>
            </a:r>
          </a:p>
          <a:p>
            <a:r>
              <a:rPr lang="en-US" dirty="0" err="1">
                <a:latin typeface="Helvetica"/>
                <a:cs typeface="Helvetica"/>
              </a:rPr>
              <a:t>HiRTOS</a:t>
            </a:r>
            <a:r>
              <a:rPr lang="en-US" dirty="0">
                <a:latin typeface="Helvetica"/>
                <a:cs typeface="Helvetica"/>
              </a:rPr>
              <a:t> is available for download as two </a:t>
            </a:r>
            <a:r>
              <a:rPr lang="en-US" dirty="0" err="1">
                <a:latin typeface="Helvetica"/>
                <a:cs typeface="Helvetica"/>
              </a:rPr>
              <a:t>Alire</a:t>
            </a:r>
            <a:r>
              <a:rPr lang="en-US" dirty="0">
                <a:latin typeface="Helvetica"/>
                <a:cs typeface="Helvetica"/>
              </a:rPr>
              <a:t> crates:</a:t>
            </a:r>
          </a:p>
          <a:p>
            <a:pPr lvl="1"/>
            <a:r>
              <a:rPr lang="en-US" dirty="0" err="1">
                <a:latin typeface="Helvetica"/>
                <a:cs typeface="Helvetica"/>
              </a:rPr>
              <a:t>HiRTOS</a:t>
            </a:r>
            <a:r>
              <a:rPr lang="en-US" dirty="0">
                <a:latin typeface="Helvetica"/>
                <a:cs typeface="Helvetica"/>
              </a:rPr>
              <a:t> kernel at </a:t>
            </a:r>
            <a:r>
              <a:rPr lang="en-US" dirty="0">
                <a:latin typeface="Helvetica"/>
                <a:cs typeface="Helvetica"/>
                <a:hlinkClick r:id="rId2"/>
              </a:rPr>
              <a:t>https://alire.ada.dev/crates/hirtos</a:t>
            </a:r>
            <a:endParaRPr lang="en-US" dirty="0">
              <a:latin typeface="Helvetica"/>
              <a:cs typeface="Helvetica"/>
            </a:endParaRPr>
          </a:p>
          <a:p>
            <a:pPr lvl="1"/>
            <a:r>
              <a:rPr lang="en-US" dirty="0" err="1">
                <a:latin typeface="Helvetica"/>
                <a:cs typeface="Helvetica"/>
              </a:rPr>
              <a:t>HiRTOS</a:t>
            </a:r>
            <a:r>
              <a:rPr lang="en-US" dirty="0">
                <a:latin typeface="Helvetica"/>
                <a:cs typeface="Helvetica"/>
              </a:rPr>
              <a:t> separation kernel at </a:t>
            </a:r>
            <a:r>
              <a:rPr lang="en-US" dirty="0">
                <a:latin typeface="Helvetica"/>
                <a:cs typeface="Helvetica"/>
                <a:hlinkClick r:id="rId3"/>
              </a:rPr>
              <a:t>https://alire.ada.dev/crates/hirtos_separation_kernel</a:t>
            </a:r>
            <a:endParaRPr lang="en-US" dirty="0">
              <a:latin typeface="Helvetica"/>
              <a:cs typeface="Helvetica"/>
            </a:endParaRPr>
          </a:p>
          <a:p>
            <a:r>
              <a:rPr lang="en-US" dirty="0" err="1">
                <a:latin typeface="Helvetica"/>
                <a:cs typeface="Helvetica"/>
              </a:rPr>
              <a:t>HiRTOS</a:t>
            </a:r>
            <a:r>
              <a:rPr lang="en-US" dirty="0">
                <a:latin typeface="Helvetica"/>
                <a:cs typeface="Helvetica"/>
              </a:rPr>
              <a:t> code is available in GitHub at </a:t>
            </a:r>
            <a:r>
              <a:rPr lang="en-US" dirty="0">
                <a:latin typeface="Helvetica"/>
                <a:cs typeface="Helvetica"/>
                <a:hlinkClick r:id="rId4"/>
              </a:rPr>
              <a:t>https://github.com/jgrivera67/HiRTOS</a:t>
            </a:r>
            <a:endParaRPr lang="en-US" dirty="0">
              <a:latin typeface="Helvetica"/>
              <a:cs typeface="Helvetica"/>
            </a:endParaRPr>
          </a:p>
          <a:p>
            <a:pPr lvl="1"/>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48225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rPr>
              <a:t>Why Writing an RTOS in Ada?</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An RTOS can be seen as a safety-critical component of many deeply</a:t>
            </a:r>
          </a:p>
          <a:p>
            <a:pPr marL="0" indent="0">
              <a:buNone/>
            </a:pPr>
            <a:r>
              <a:rPr lang="en-US" dirty="0">
                <a:latin typeface="Helvetica"/>
                <a:cs typeface="Helvetica"/>
              </a:rPr>
              <a:t>  embedded  software systems.</a:t>
            </a:r>
          </a:p>
          <a:p>
            <a:r>
              <a:rPr lang="en-US" dirty="0">
                <a:latin typeface="Helvetica"/>
                <a:cs typeface="Helvetica"/>
              </a:rPr>
              <a:t>Yet, most </a:t>
            </a:r>
            <a:r>
              <a:rPr lang="en-US" dirty="0" err="1">
                <a:latin typeface="Helvetica"/>
                <a:cs typeface="Helvetica"/>
              </a:rPr>
              <a:t>RTOSes</a:t>
            </a:r>
            <a:r>
              <a:rPr lang="en-US" dirty="0">
                <a:latin typeface="Helvetica"/>
                <a:cs typeface="Helvetica"/>
              </a:rPr>
              <a:t> are written in C (which is an unsafe language). </a:t>
            </a:r>
          </a:p>
          <a:p>
            <a:r>
              <a:rPr lang="en-US" dirty="0">
                <a:latin typeface="Helvetica"/>
                <a:cs typeface="Helvetica"/>
              </a:rPr>
              <a:t>It would be safer to use an RTOS written in a safer language such as  </a:t>
            </a:r>
          </a:p>
          <a:p>
            <a:pPr marL="0" indent="0">
              <a:buNone/>
            </a:pPr>
            <a:r>
              <a:rPr lang="en-US" dirty="0">
                <a:latin typeface="Helvetica"/>
                <a:cs typeface="Helvetica"/>
              </a:rPr>
              <a:t>  Ada, or in the even safer SPARK Ada language subset.</a:t>
            </a:r>
          </a:p>
          <a:p>
            <a:r>
              <a:rPr lang="en-US" dirty="0">
                <a:latin typeface="Helvetica"/>
                <a:cs typeface="Helvetica"/>
              </a:rPr>
              <a:t>Also, given that bare-metal Ada runtimes are available only for a very </a:t>
            </a:r>
          </a:p>
          <a:p>
            <a:pPr marL="0" indent="0">
              <a:buNone/>
            </a:pPr>
            <a:r>
              <a:rPr lang="en-US" dirty="0">
                <a:latin typeface="Helvetica"/>
                <a:cs typeface="Helvetica"/>
              </a:rPr>
              <a:t>  limited number of embedded platforms, more portable Ada bare-metal </a:t>
            </a:r>
          </a:p>
          <a:p>
            <a:pPr marL="0" indent="0">
              <a:buNone/>
            </a:pPr>
            <a:r>
              <a:rPr lang="en-US" dirty="0">
                <a:latin typeface="Helvetica"/>
                <a:cs typeface="Helvetica"/>
              </a:rPr>
              <a:t>  applications could be written using an Ada RTOS + a minimal platform-</a:t>
            </a:r>
          </a:p>
          <a:p>
            <a:pPr marL="0" indent="0">
              <a:buNone/>
            </a:pPr>
            <a:r>
              <a:rPr lang="en-US" dirty="0">
                <a:latin typeface="Helvetica"/>
                <a:cs typeface="Helvetica"/>
              </a:rPr>
              <a:t>  independent Ada runtime. </a:t>
            </a: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266098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Why writing </a:t>
            </a:r>
            <a:r>
              <a:rPr lang="en-US" dirty="0" err="1">
                <a:latin typeface="Helvetica"/>
                <a:cs typeface="Helvetica"/>
              </a:rPr>
              <a:t>HiRTOS</a:t>
            </a:r>
            <a:r>
              <a:rPr lang="en-US" dirty="0">
                <a:latin typeface="Helvetica"/>
                <a:cs typeface="Helvetica"/>
              </a:rPr>
              <a:t> in SPARK Ada?</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Ada has built-in ”programming-by-contract” constructs</a:t>
            </a:r>
          </a:p>
          <a:p>
            <a:pPr lvl="1"/>
            <a:r>
              <a:rPr lang="en-US" dirty="0">
                <a:latin typeface="Helvetica"/>
                <a:cs typeface="Helvetica"/>
              </a:rPr>
              <a:t>Contracts allow the programmer to express correctness properties, such as</a:t>
            </a:r>
          </a:p>
          <a:p>
            <a:pPr marL="914400" lvl="1" indent="0">
              <a:buNone/>
            </a:pPr>
            <a:r>
              <a:rPr lang="en-US" dirty="0">
                <a:latin typeface="Helvetica"/>
                <a:cs typeface="Helvetica"/>
              </a:rPr>
              <a:t>   preconditions, postconditions, object state invariants and loop invariants, as</a:t>
            </a:r>
          </a:p>
          <a:p>
            <a:pPr marL="914400" lvl="1" indent="0">
              <a:buNone/>
            </a:pPr>
            <a:r>
              <a:rPr lang="en-US" dirty="0">
                <a:latin typeface="Helvetica"/>
                <a:cs typeface="Helvetica"/>
              </a:rPr>
              <a:t>   code </a:t>
            </a:r>
          </a:p>
          <a:p>
            <a:pPr lvl="1"/>
            <a:r>
              <a:rPr lang="en-US" dirty="0">
                <a:latin typeface="Helvetica"/>
                <a:cs typeface="Helvetica"/>
              </a:rPr>
              <a:t>This encourages a more rigorous and methodical way of writing code “asserts”</a:t>
            </a:r>
          </a:p>
          <a:p>
            <a:r>
              <a:rPr lang="en-US" dirty="0">
                <a:latin typeface="Helvetica"/>
                <a:cs typeface="Helvetica"/>
              </a:rPr>
              <a:t>With SPARK, contracts can be formally verified with </a:t>
            </a:r>
            <a:r>
              <a:rPr lang="en-US" dirty="0" err="1">
                <a:latin typeface="Helvetica"/>
                <a:cs typeface="Helvetica"/>
              </a:rPr>
              <a:t>gnatprove</a:t>
            </a:r>
            <a:r>
              <a:rPr lang="en-US" dirty="0">
                <a:latin typeface="Helvetica"/>
                <a:cs typeface="Helvetica"/>
              </a:rPr>
              <a:t> </a:t>
            </a:r>
          </a:p>
          <a:p>
            <a:pPr lvl="1"/>
            <a:r>
              <a:rPr lang="en-US" dirty="0">
                <a:latin typeface="Helvetica"/>
                <a:cs typeface="Helvetica"/>
              </a:rPr>
              <a:t>This has not been done for </a:t>
            </a:r>
            <a:r>
              <a:rPr lang="en-US" dirty="0" err="1">
                <a:latin typeface="Helvetica"/>
                <a:cs typeface="Helvetica"/>
              </a:rPr>
              <a:t>HiRTOS</a:t>
            </a:r>
            <a:r>
              <a:rPr lang="en-US" dirty="0">
                <a:latin typeface="Helvetica"/>
                <a:cs typeface="Helvetica"/>
              </a:rPr>
              <a:t> yet</a:t>
            </a:r>
          </a:p>
          <a:p>
            <a:r>
              <a:rPr lang="en-US" dirty="0">
                <a:latin typeface="Helvetica"/>
                <a:cs typeface="Helvetica"/>
              </a:rPr>
              <a:t>One challenge of using contracts effectively is to have awareness of all</a:t>
            </a:r>
          </a:p>
          <a:p>
            <a:pPr marL="0" indent="0">
              <a:buNone/>
            </a:pPr>
            <a:r>
              <a:rPr lang="en-US" dirty="0">
                <a:latin typeface="Helvetica"/>
                <a:cs typeface="Helvetica"/>
              </a:rPr>
              <a:t>   the correctness conditions that should be checked (asserted) in the </a:t>
            </a:r>
          </a:p>
          <a:p>
            <a:pPr marL="0" indent="0">
              <a:buNone/>
            </a:pPr>
            <a:r>
              <a:rPr lang="en-US" dirty="0">
                <a:latin typeface="Helvetica"/>
                <a:cs typeface="Helvetica"/>
              </a:rPr>
              <a:t>   code.</a:t>
            </a:r>
          </a:p>
          <a:p>
            <a:pPr lvl="1"/>
            <a:r>
              <a:rPr lang="en-US" dirty="0">
                <a:latin typeface="Helvetica"/>
                <a:cs typeface="Helvetica"/>
              </a:rPr>
              <a:t>Modeling code in a formal notation like Z can help identify/elicit such correctness </a:t>
            </a:r>
          </a:p>
          <a:p>
            <a:pPr marL="914400" lvl="1" indent="0">
              <a:buNone/>
            </a:pPr>
            <a:r>
              <a:rPr lang="en-US" dirty="0">
                <a:latin typeface="Helvetica"/>
                <a:cs typeface="Helvetica"/>
              </a:rPr>
              <a:t>   conditions in a more thorough and methodical way </a:t>
            </a:r>
          </a:p>
          <a:p>
            <a:pPr lvl="1"/>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2134775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In a multi-core platform, there is one </a:t>
            </a:r>
            <a:r>
              <a:rPr lang="en-US" dirty="0" err="1">
                <a:latin typeface="Helvetica"/>
                <a:cs typeface="Helvetica"/>
              </a:rPr>
              <a:t>HiRTOS</a:t>
            </a:r>
            <a:r>
              <a:rPr lang="en-US" dirty="0">
                <a:latin typeface="Helvetica"/>
                <a:cs typeface="Helvetica"/>
              </a:rPr>
              <a:t> instance per CPU.</a:t>
            </a:r>
          </a:p>
          <a:p>
            <a:pPr lvl="1"/>
            <a:r>
              <a:rPr lang="en-US" dirty="0">
                <a:latin typeface="Helvetica"/>
                <a:cs typeface="Helvetica"/>
              </a:rPr>
              <a:t>Each </a:t>
            </a:r>
            <a:r>
              <a:rPr lang="en-US" dirty="0" err="1">
                <a:latin typeface="Helvetica"/>
                <a:cs typeface="Helvetica"/>
              </a:rPr>
              <a:t>HiRTOS</a:t>
            </a:r>
            <a:r>
              <a:rPr lang="en-US" dirty="0">
                <a:latin typeface="Helvetica"/>
                <a:cs typeface="Helvetica"/>
              </a:rPr>
              <a:t> instance is independent of each other. No RTOS resources</a:t>
            </a:r>
          </a:p>
          <a:p>
            <a:pPr marL="914400" lvl="1" indent="0">
              <a:buNone/>
            </a:pPr>
            <a:r>
              <a:rPr lang="en-US" dirty="0">
                <a:latin typeface="Helvetica"/>
                <a:cs typeface="Helvetica"/>
              </a:rPr>
              <a:t>   are shared between CPUs.</a:t>
            </a:r>
          </a:p>
          <a:p>
            <a:pPr lvl="1"/>
            <a:r>
              <a:rPr lang="en-US" dirty="0">
                <a:latin typeface="Helvetica"/>
                <a:cs typeface="Helvetica"/>
              </a:rPr>
              <a:t>No communication/synchronization between CPU cores is supported by</a:t>
            </a:r>
          </a:p>
          <a:p>
            <a:pPr marL="914400" lvl="1" indent="0">
              <a:buNone/>
            </a:pPr>
            <a:r>
              <a:rPr lang="en-US" dirty="0">
                <a:latin typeface="Helvetica"/>
                <a:cs typeface="Helvetica"/>
              </a:rPr>
              <a:t>   </a:t>
            </a:r>
            <a:r>
              <a:rPr lang="en-US" dirty="0" err="1">
                <a:latin typeface="Helvetica"/>
                <a:cs typeface="Helvetica"/>
              </a:rPr>
              <a:t>HiRTOS</a:t>
            </a:r>
            <a:r>
              <a:rPr lang="en-US" dirty="0">
                <a:latin typeface="Helvetica"/>
                <a:cs typeface="Helvetica"/>
              </a:rPr>
              <a:t>.</a:t>
            </a:r>
          </a:p>
          <a:p>
            <a:r>
              <a:rPr lang="en-US" dirty="0">
                <a:latin typeface="Helvetica"/>
                <a:cs typeface="Helvetica"/>
              </a:rPr>
              <a:t>Mutexes and condition variables are the only synchronization </a:t>
            </a:r>
          </a:p>
          <a:p>
            <a:pPr marL="0" indent="0">
              <a:buNone/>
            </a:pPr>
            <a:r>
              <a:rPr lang="en-US" dirty="0">
                <a:latin typeface="Helvetica"/>
                <a:cs typeface="Helvetica"/>
              </a:rPr>
              <a:t>  primitives in </a:t>
            </a:r>
            <a:r>
              <a:rPr lang="en-US" dirty="0" err="1">
                <a:latin typeface="Helvetica"/>
                <a:cs typeface="Helvetica"/>
              </a:rPr>
              <a:t>HiRTOS</a:t>
            </a:r>
            <a:r>
              <a:rPr lang="en-US" dirty="0">
                <a:latin typeface="Helvetica"/>
                <a:cs typeface="Helvetica"/>
              </a:rPr>
              <a:t> </a:t>
            </a:r>
          </a:p>
          <a:p>
            <a:pPr lvl="1"/>
            <a:r>
              <a:rPr lang="en-US" dirty="0">
                <a:latin typeface="Helvetica"/>
                <a:cs typeface="Helvetica"/>
              </a:rPr>
              <a:t>Other synchronization primitives such as semaphores, event flags and </a:t>
            </a:r>
          </a:p>
          <a:p>
            <a:pPr marL="914400" lvl="1" indent="0">
              <a:buNone/>
            </a:pPr>
            <a:r>
              <a:rPr lang="en-US" dirty="0">
                <a:latin typeface="Helvetica"/>
                <a:cs typeface="Helvetica"/>
              </a:rPr>
              <a:t>   message queues can be implemented on top of mutexes and condition </a:t>
            </a:r>
          </a:p>
          <a:p>
            <a:pPr marL="914400" lvl="1" indent="0">
              <a:buNone/>
            </a:pPr>
            <a:r>
              <a:rPr lang="en-US" dirty="0">
                <a:latin typeface="Helvetica"/>
                <a:cs typeface="Helvetica"/>
              </a:rPr>
              <a:t>   variables.</a:t>
            </a:r>
          </a:p>
          <a:p>
            <a:r>
              <a:rPr lang="en-US" dirty="0" err="1">
                <a:latin typeface="Helvetica"/>
                <a:cs typeface="Helvetica"/>
              </a:rPr>
              <a:t>HiRTOS</a:t>
            </a:r>
            <a:r>
              <a:rPr lang="en-US" dirty="0">
                <a:latin typeface="Helvetica"/>
                <a:cs typeface="Helvetica"/>
              </a:rPr>
              <a:t> mutexes support both priority inheritance and priority</a:t>
            </a:r>
          </a:p>
          <a:p>
            <a:pPr marL="0" indent="0">
              <a:buNone/>
            </a:pPr>
            <a:r>
              <a:rPr lang="en-US" dirty="0">
                <a:latin typeface="Helvetica"/>
                <a:cs typeface="Helvetica"/>
              </a:rPr>
              <a:t>  ceiling protocols. (Protocol chosen at mutex creation time)</a:t>
            </a:r>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386974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latin typeface="Helvetica"/>
                <a:cs typeface="Helvetica"/>
              </a:rPr>
              <a:t>HiRTOS</a:t>
            </a:r>
            <a:r>
              <a:rPr lang="en-US" dirty="0">
                <a:latin typeface="Helvetica"/>
                <a:cs typeface="Helvetica"/>
              </a:rPr>
              <a:t> condition variables can also be waited on while having interrupts disabled, not just while holding a mutex. </a:t>
            </a:r>
          </a:p>
          <a:p>
            <a:pPr lvl="1"/>
            <a:r>
              <a:rPr lang="en-US" dirty="0">
                <a:latin typeface="Helvetica"/>
                <a:cs typeface="Helvetica"/>
              </a:rPr>
              <a:t>This prevents missing ”thread wakeups”, when signaling condition </a:t>
            </a:r>
          </a:p>
          <a:p>
            <a:pPr marL="914400" lvl="1" indent="0">
              <a:buNone/>
            </a:pPr>
            <a:r>
              <a:rPr lang="en-US" dirty="0">
                <a:latin typeface="Helvetica"/>
                <a:cs typeface="Helvetica"/>
              </a:rPr>
              <a:t>   variables from interrupt service routines. (Semaphore not needed)</a:t>
            </a:r>
          </a:p>
          <a:p>
            <a:r>
              <a:rPr lang="en-US" dirty="0" err="1">
                <a:latin typeface="Helvetica"/>
                <a:cs typeface="Helvetica"/>
              </a:rPr>
              <a:t>HiRTOS</a:t>
            </a:r>
            <a:r>
              <a:rPr lang="en-US" dirty="0">
                <a:latin typeface="Helvetica"/>
                <a:cs typeface="Helvetica"/>
              </a:rPr>
              <a:t> atomic levels can be used to disable the thread</a:t>
            </a:r>
          </a:p>
          <a:p>
            <a:pPr marL="0" indent="0">
              <a:buNone/>
            </a:pPr>
            <a:r>
              <a:rPr lang="en-US" dirty="0">
                <a:latin typeface="Helvetica"/>
                <a:cs typeface="Helvetica"/>
              </a:rPr>
              <a:t>  scheduler or to disable interrupts at and below a given priority or to </a:t>
            </a:r>
          </a:p>
          <a:p>
            <a:pPr marL="0" indent="0">
              <a:buNone/>
            </a:pPr>
            <a:r>
              <a:rPr lang="en-US" dirty="0">
                <a:latin typeface="Helvetica"/>
                <a:cs typeface="Helvetica"/>
              </a:rPr>
              <a:t>  disable all interrupts.</a:t>
            </a:r>
          </a:p>
          <a:p>
            <a:r>
              <a:rPr lang="en-US" dirty="0">
                <a:latin typeface="Helvetica"/>
                <a:cs typeface="Helvetica"/>
              </a:rPr>
              <a:t>Threads are bound to the CPU core in which they were created, for the lifetime of the thread. </a:t>
            </a:r>
          </a:p>
          <a:p>
            <a:pPr lvl="1"/>
            <a:r>
              <a:rPr lang="en-US" dirty="0">
                <a:latin typeface="Helvetica"/>
                <a:cs typeface="Helvetica"/>
              </a:rPr>
              <a:t>No thread migration between CPU cores is supported</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85879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Design Overview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All RTOS objects such as threads, mutexes and condition  variables are allocated internally by </a:t>
            </a:r>
            <a:r>
              <a:rPr lang="en-US" dirty="0" err="1">
                <a:latin typeface="Helvetica"/>
                <a:cs typeface="Helvetica"/>
              </a:rPr>
              <a:t>HiRTOS</a:t>
            </a:r>
            <a:r>
              <a:rPr lang="en-US" dirty="0">
                <a:latin typeface="Helvetica"/>
                <a:cs typeface="Helvetica"/>
              </a:rPr>
              <a:t> from statically   allocated internal object arrays </a:t>
            </a:r>
          </a:p>
          <a:p>
            <a:pPr lvl="1"/>
            <a:r>
              <a:rPr lang="en-US" dirty="0">
                <a:latin typeface="Helvetica"/>
                <a:cs typeface="Helvetica"/>
              </a:rPr>
              <a:t>Once allocated, RTOS objects cannot be deallocated</a:t>
            </a:r>
          </a:p>
          <a:p>
            <a:pPr lvl="1"/>
            <a:r>
              <a:rPr lang="en-US" dirty="0">
                <a:latin typeface="Helvetica"/>
                <a:cs typeface="Helvetica"/>
              </a:rPr>
              <a:t>RTOS object handles provided to application code are just indices into these internal object arrays. </a:t>
            </a:r>
          </a:p>
          <a:p>
            <a:r>
              <a:rPr lang="en-US" dirty="0">
                <a:latin typeface="Helvetica"/>
                <a:cs typeface="Helvetica"/>
              </a:rPr>
              <a:t>All application threads run in unprivileged mode by default </a:t>
            </a:r>
          </a:p>
          <a:p>
            <a:pPr lvl="1"/>
            <a:r>
              <a:rPr lang="en-US" dirty="0">
                <a:latin typeface="Helvetica"/>
                <a:cs typeface="Helvetica"/>
              </a:rPr>
              <a:t>In unprivileged mode, a thread can only access its own stack.</a:t>
            </a:r>
          </a:p>
          <a:p>
            <a:pPr lvl="1"/>
            <a:r>
              <a:rPr lang="en-US" dirty="0">
                <a:latin typeface="Helvetica"/>
                <a:cs typeface="Helvetica"/>
              </a:rPr>
              <a:t>To access global variables or MMIO space, application threads must explicitly request permission to </a:t>
            </a:r>
            <a:r>
              <a:rPr lang="en-US" dirty="0" err="1">
                <a:latin typeface="Helvetica"/>
                <a:cs typeface="Helvetica"/>
              </a:rPr>
              <a:t>HiRTOS</a:t>
            </a:r>
            <a:r>
              <a:rPr lang="en-US" dirty="0">
                <a:latin typeface="Helvetica"/>
                <a:cs typeface="Helvetica"/>
              </a:rPr>
              <a:t>.</a:t>
            </a:r>
          </a:p>
          <a:p>
            <a:pPr marL="0" indent="0">
              <a:buNone/>
            </a:pPr>
            <a:endParaRPr lang="en-US" dirty="0">
              <a:cs typeface="Helvetica" pitchFamily="34" charset="0"/>
            </a:endParaRPr>
          </a:p>
        </p:txBody>
      </p:sp>
    </p:spTree>
    <p:extLst>
      <p:ext uri="{BB962C8B-B14F-4D97-AF65-F5344CB8AC3E}">
        <p14:creationId xmlns:p14="http://schemas.microsoft.com/office/powerpoint/2010/main" val="421492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Using Z to design </a:t>
            </a:r>
            <a:r>
              <a:rPr lang="en-US" dirty="0" err="1">
                <a:latin typeface="Helvetica"/>
                <a:cs typeface="Helvetica"/>
              </a:rPr>
              <a:t>HiRTOS</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364682"/>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Z is a software modeling notation based on discrete mathematics</a:t>
            </a:r>
          </a:p>
          <a:p>
            <a:pPr marL="0" indent="0">
              <a:buNone/>
            </a:pPr>
            <a:r>
              <a:rPr lang="en-US" dirty="0">
                <a:latin typeface="Helvetica"/>
                <a:cs typeface="Helvetica"/>
              </a:rPr>
              <a:t>  structures (such as sets, relations and functions) and predicate </a:t>
            </a:r>
          </a:p>
          <a:p>
            <a:pPr marL="0" indent="0">
              <a:buNone/>
            </a:pPr>
            <a:r>
              <a:rPr lang="en-US" dirty="0">
                <a:latin typeface="Helvetica"/>
                <a:cs typeface="Helvetica"/>
              </a:rPr>
              <a:t>  logic. </a:t>
            </a:r>
          </a:p>
          <a:p>
            <a:pPr lvl="1"/>
            <a:r>
              <a:rPr lang="en-US" dirty="0">
                <a:latin typeface="Helvetica"/>
                <a:cs typeface="Helvetica"/>
              </a:rPr>
              <a:t>With Z, data structures can be specified in terms of mathematical structures </a:t>
            </a:r>
          </a:p>
          <a:p>
            <a:pPr lvl="1"/>
            <a:r>
              <a:rPr lang="en-US" dirty="0">
                <a:latin typeface="Helvetica"/>
                <a:cs typeface="Helvetica"/>
              </a:rPr>
              <a:t>Data structure invariants and Pre/Post-condition contracts for major functionality</a:t>
            </a:r>
          </a:p>
          <a:p>
            <a:pPr marL="914400" lvl="1" indent="0">
              <a:buNone/>
            </a:pPr>
            <a:r>
              <a:rPr lang="en-US" dirty="0">
                <a:latin typeface="Helvetica"/>
                <a:cs typeface="Helvetica"/>
              </a:rPr>
              <a:t>   can be specified using mathematical predicates </a:t>
            </a:r>
          </a:p>
          <a:p>
            <a:r>
              <a:rPr lang="en-US" dirty="0" err="1">
                <a:latin typeface="Helvetica"/>
                <a:cs typeface="Helvetica"/>
              </a:rPr>
              <a:t>HiRTOS</a:t>
            </a:r>
            <a:r>
              <a:rPr lang="en-US" dirty="0">
                <a:latin typeface="Helvetica"/>
                <a:cs typeface="Helvetica"/>
              </a:rPr>
              <a:t> internal data structures were modeled in Z at a level of</a:t>
            </a:r>
          </a:p>
          <a:p>
            <a:pPr marL="0" indent="0">
              <a:buNone/>
            </a:pPr>
            <a:r>
              <a:rPr lang="en-US" dirty="0">
                <a:latin typeface="Helvetica"/>
                <a:cs typeface="Helvetica"/>
              </a:rPr>
              <a:t>   abstraction that could be mapped directly to corresponding </a:t>
            </a:r>
          </a:p>
          <a:p>
            <a:pPr marL="0" indent="0">
              <a:buNone/>
            </a:pPr>
            <a:r>
              <a:rPr lang="en-US" dirty="0">
                <a:latin typeface="Helvetica"/>
                <a:cs typeface="Helvetica"/>
              </a:rPr>
              <a:t>   data types in Ada. </a:t>
            </a:r>
          </a:p>
          <a:p>
            <a:pPr lvl="1"/>
            <a:r>
              <a:rPr lang="en-US" dirty="0">
                <a:latin typeface="Helvetica"/>
                <a:cs typeface="Helvetica"/>
              </a:rPr>
              <a:t>The Z model guided design decisions at the code level, resulting in a</a:t>
            </a:r>
          </a:p>
          <a:p>
            <a:pPr marL="914400" lvl="1" indent="0">
              <a:buNone/>
            </a:pPr>
            <a:r>
              <a:rPr lang="en-US" dirty="0">
                <a:latin typeface="Helvetica"/>
                <a:cs typeface="Helvetica"/>
              </a:rPr>
              <a:t>   completely pointer-less implementation, which makes </a:t>
            </a:r>
            <a:r>
              <a:rPr lang="en-US" dirty="0" err="1">
                <a:latin typeface="Helvetica"/>
                <a:cs typeface="Helvetica"/>
              </a:rPr>
              <a:t>HiRTOS</a:t>
            </a:r>
            <a:r>
              <a:rPr lang="en-US" dirty="0">
                <a:latin typeface="Helvetica"/>
                <a:cs typeface="Helvetica"/>
              </a:rPr>
              <a:t> code safer.</a:t>
            </a: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426744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Configuration Parameters</a:t>
            </a:r>
          </a:p>
        </p:txBody>
      </p:sp>
      <p:pic>
        <p:nvPicPr>
          <p:cNvPr id="12" name="Picture 11">
            <a:extLst>
              <a:ext uri="{FF2B5EF4-FFF2-40B4-BE49-F238E27FC236}">
                <a16:creationId xmlns:a16="http://schemas.microsoft.com/office/drawing/2014/main" id="{4A4128F0-6244-311B-D727-0465D22484E5}"/>
              </a:ext>
            </a:extLst>
          </p:cNvPr>
          <p:cNvPicPr>
            <a:picLocks noChangeAspect="1"/>
          </p:cNvPicPr>
          <p:nvPr/>
        </p:nvPicPr>
        <p:blipFill>
          <a:blip r:embed="rId3"/>
          <a:stretch>
            <a:fillRect/>
          </a:stretch>
        </p:blipFill>
        <p:spPr>
          <a:xfrm>
            <a:off x="2744787" y="4643901"/>
            <a:ext cx="8991600" cy="6619582"/>
          </a:xfrm>
          <a:prstGeom prst="rect">
            <a:avLst/>
          </a:prstGeom>
        </p:spPr>
      </p:pic>
      <p:grpSp>
        <p:nvGrpSpPr>
          <p:cNvPr id="14" name="Group 13">
            <a:extLst>
              <a:ext uri="{FF2B5EF4-FFF2-40B4-BE49-F238E27FC236}">
                <a16:creationId xmlns:a16="http://schemas.microsoft.com/office/drawing/2014/main" id="{C4083B32-4158-6C88-59D5-537510E7BE45}"/>
              </a:ext>
            </a:extLst>
          </p:cNvPr>
          <p:cNvGrpSpPr/>
          <p:nvPr/>
        </p:nvGrpSpPr>
        <p:grpSpPr>
          <a:xfrm>
            <a:off x="13869987" y="4648255"/>
            <a:ext cx="6629400" cy="6484856"/>
            <a:chOff x="13869987" y="4259344"/>
            <a:chExt cx="6045200" cy="5888650"/>
          </a:xfrm>
        </p:grpSpPr>
        <p:pic>
          <p:nvPicPr>
            <p:cNvPr id="9" name="Picture 8">
              <a:extLst>
                <a:ext uri="{FF2B5EF4-FFF2-40B4-BE49-F238E27FC236}">
                  <a16:creationId xmlns:a16="http://schemas.microsoft.com/office/drawing/2014/main" id="{59D4F263-5959-3DDE-A176-F5CF5859A6DB}"/>
                </a:ext>
              </a:extLst>
            </p:cNvPr>
            <p:cNvPicPr>
              <a:picLocks noChangeAspect="1"/>
            </p:cNvPicPr>
            <p:nvPr/>
          </p:nvPicPr>
          <p:blipFill>
            <a:blip r:embed="rId4"/>
            <a:stretch>
              <a:fillRect/>
            </a:stretch>
          </p:blipFill>
          <p:spPr>
            <a:xfrm>
              <a:off x="13869987" y="6250530"/>
              <a:ext cx="6019800" cy="1930400"/>
            </a:xfrm>
            <a:prstGeom prst="rect">
              <a:avLst/>
            </a:prstGeom>
          </p:spPr>
        </p:pic>
        <p:pic>
          <p:nvPicPr>
            <p:cNvPr id="10" name="Picture 9">
              <a:extLst>
                <a:ext uri="{FF2B5EF4-FFF2-40B4-BE49-F238E27FC236}">
                  <a16:creationId xmlns:a16="http://schemas.microsoft.com/office/drawing/2014/main" id="{109FE570-DAD2-C5D2-17BD-F15BB0F5C93B}"/>
                </a:ext>
              </a:extLst>
            </p:cNvPr>
            <p:cNvPicPr>
              <a:picLocks noChangeAspect="1"/>
            </p:cNvPicPr>
            <p:nvPr/>
          </p:nvPicPr>
          <p:blipFill>
            <a:blip r:embed="rId5"/>
            <a:stretch>
              <a:fillRect/>
            </a:stretch>
          </p:blipFill>
          <p:spPr>
            <a:xfrm>
              <a:off x="13869987" y="8230294"/>
              <a:ext cx="5702300" cy="1917700"/>
            </a:xfrm>
            <a:prstGeom prst="rect">
              <a:avLst/>
            </a:prstGeom>
          </p:spPr>
        </p:pic>
        <p:pic>
          <p:nvPicPr>
            <p:cNvPr id="13" name="Picture 12">
              <a:extLst>
                <a:ext uri="{FF2B5EF4-FFF2-40B4-BE49-F238E27FC236}">
                  <a16:creationId xmlns:a16="http://schemas.microsoft.com/office/drawing/2014/main" id="{BA1D7A02-DEFF-56E4-7B56-C5D5DCAE6421}"/>
                </a:ext>
              </a:extLst>
            </p:cNvPr>
            <p:cNvPicPr>
              <a:picLocks noChangeAspect="1"/>
            </p:cNvPicPr>
            <p:nvPr/>
          </p:nvPicPr>
          <p:blipFill>
            <a:blip r:embed="rId6"/>
            <a:stretch>
              <a:fillRect/>
            </a:stretch>
          </p:blipFill>
          <p:spPr>
            <a:xfrm>
              <a:off x="13869987" y="4259344"/>
              <a:ext cx="6045200" cy="1943100"/>
            </a:xfrm>
            <a:prstGeom prst="rect">
              <a:avLst/>
            </a:prstGeom>
          </p:spPr>
        </p:pic>
      </p:grpSp>
    </p:spTree>
    <p:extLst>
      <p:ext uri="{BB962C8B-B14F-4D97-AF65-F5344CB8AC3E}">
        <p14:creationId xmlns:p14="http://schemas.microsoft.com/office/powerpoint/2010/main" val="63681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Primitive Types</a:t>
            </a:r>
          </a:p>
        </p:txBody>
      </p:sp>
      <p:grpSp>
        <p:nvGrpSpPr>
          <p:cNvPr id="19" name="Group 18">
            <a:extLst>
              <a:ext uri="{FF2B5EF4-FFF2-40B4-BE49-F238E27FC236}">
                <a16:creationId xmlns:a16="http://schemas.microsoft.com/office/drawing/2014/main" id="{2ED1AF58-2327-CCA1-A811-FCA2AFB89155}"/>
              </a:ext>
            </a:extLst>
          </p:cNvPr>
          <p:cNvGrpSpPr/>
          <p:nvPr/>
        </p:nvGrpSpPr>
        <p:grpSpPr>
          <a:xfrm>
            <a:off x="3018517" y="3917950"/>
            <a:ext cx="7612970" cy="9130302"/>
            <a:chOff x="3018517" y="3917950"/>
            <a:chExt cx="7612970" cy="9130302"/>
          </a:xfrm>
        </p:grpSpPr>
        <p:pic>
          <p:nvPicPr>
            <p:cNvPr id="17" name="Picture 16">
              <a:extLst>
                <a:ext uri="{FF2B5EF4-FFF2-40B4-BE49-F238E27FC236}">
                  <a16:creationId xmlns:a16="http://schemas.microsoft.com/office/drawing/2014/main" id="{6CC55B64-2C70-946F-BFA7-0C54371420E5}"/>
                </a:ext>
              </a:extLst>
            </p:cNvPr>
            <p:cNvPicPr>
              <a:picLocks noChangeAspect="1"/>
            </p:cNvPicPr>
            <p:nvPr/>
          </p:nvPicPr>
          <p:blipFill>
            <a:blip r:embed="rId3"/>
            <a:stretch>
              <a:fillRect/>
            </a:stretch>
          </p:blipFill>
          <p:spPr>
            <a:xfrm>
              <a:off x="3049587" y="3917950"/>
              <a:ext cx="7581900" cy="5880100"/>
            </a:xfrm>
            <a:prstGeom prst="rect">
              <a:avLst/>
            </a:prstGeom>
          </p:spPr>
        </p:pic>
        <p:pic>
          <p:nvPicPr>
            <p:cNvPr id="18" name="Picture 17">
              <a:extLst>
                <a:ext uri="{FF2B5EF4-FFF2-40B4-BE49-F238E27FC236}">
                  <a16:creationId xmlns:a16="http://schemas.microsoft.com/office/drawing/2014/main" id="{2CD63E21-65AF-EE65-3E3C-3F64DABCBCA9}"/>
                </a:ext>
              </a:extLst>
            </p:cNvPr>
            <p:cNvPicPr>
              <a:picLocks noChangeAspect="1"/>
            </p:cNvPicPr>
            <p:nvPr/>
          </p:nvPicPr>
          <p:blipFill>
            <a:blip r:embed="rId4"/>
            <a:stretch>
              <a:fillRect/>
            </a:stretch>
          </p:blipFill>
          <p:spPr>
            <a:xfrm>
              <a:off x="3018517" y="10076452"/>
              <a:ext cx="6667500" cy="2971800"/>
            </a:xfrm>
            <a:prstGeom prst="rect">
              <a:avLst/>
            </a:prstGeom>
          </p:spPr>
        </p:pic>
      </p:grpSp>
      <p:grpSp>
        <p:nvGrpSpPr>
          <p:cNvPr id="30" name="Group 29">
            <a:extLst>
              <a:ext uri="{FF2B5EF4-FFF2-40B4-BE49-F238E27FC236}">
                <a16:creationId xmlns:a16="http://schemas.microsoft.com/office/drawing/2014/main" id="{130EEABC-92AE-111D-566F-61331CC2AD11}"/>
              </a:ext>
            </a:extLst>
          </p:cNvPr>
          <p:cNvGrpSpPr/>
          <p:nvPr/>
        </p:nvGrpSpPr>
        <p:grpSpPr>
          <a:xfrm>
            <a:off x="14098587" y="3917950"/>
            <a:ext cx="7772400" cy="8683029"/>
            <a:chOff x="14096908" y="4194911"/>
            <a:chExt cx="7772400" cy="8683029"/>
          </a:xfrm>
        </p:grpSpPr>
        <p:pic>
          <p:nvPicPr>
            <p:cNvPr id="22" name="Picture 21">
              <a:extLst>
                <a:ext uri="{FF2B5EF4-FFF2-40B4-BE49-F238E27FC236}">
                  <a16:creationId xmlns:a16="http://schemas.microsoft.com/office/drawing/2014/main" id="{081CB688-B060-32A9-8E5C-8C5998993652}"/>
                </a:ext>
              </a:extLst>
            </p:cNvPr>
            <p:cNvPicPr>
              <a:picLocks noChangeAspect="1"/>
            </p:cNvPicPr>
            <p:nvPr/>
          </p:nvPicPr>
          <p:blipFill>
            <a:blip r:embed="rId5"/>
            <a:stretch>
              <a:fillRect/>
            </a:stretch>
          </p:blipFill>
          <p:spPr>
            <a:xfrm>
              <a:off x="14096908" y="4194911"/>
              <a:ext cx="7772400" cy="1890583"/>
            </a:xfrm>
            <a:prstGeom prst="rect">
              <a:avLst/>
            </a:prstGeom>
          </p:spPr>
        </p:pic>
        <p:pic>
          <p:nvPicPr>
            <p:cNvPr id="23" name="Picture 22">
              <a:extLst>
                <a:ext uri="{FF2B5EF4-FFF2-40B4-BE49-F238E27FC236}">
                  <a16:creationId xmlns:a16="http://schemas.microsoft.com/office/drawing/2014/main" id="{5DF9D049-966D-9DA2-5F18-C78C34980077}"/>
                </a:ext>
              </a:extLst>
            </p:cNvPr>
            <p:cNvPicPr>
              <a:picLocks noChangeAspect="1"/>
            </p:cNvPicPr>
            <p:nvPr/>
          </p:nvPicPr>
          <p:blipFill>
            <a:blip r:embed="rId6"/>
            <a:stretch>
              <a:fillRect/>
            </a:stretch>
          </p:blipFill>
          <p:spPr>
            <a:xfrm>
              <a:off x="14096908" y="10635022"/>
              <a:ext cx="7772400" cy="2242918"/>
            </a:xfrm>
            <a:prstGeom prst="rect">
              <a:avLst/>
            </a:prstGeom>
          </p:spPr>
        </p:pic>
        <p:pic>
          <p:nvPicPr>
            <p:cNvPr id="24" name="Picture 23">
              <a:extLst>
                <a:ext uri="{FF2B5EF4-FFF2-40B4-BE49-F238E27FC236}">
                  <a16:creationId xmlns:a16="http://schemas.microsoft.com/office/drawing/2014/main" id="{69A6FBD5-B3DD-F6B3-2801-1394259738C5}"/>
                </a:ext>
              </a:extLst>
            </p:cNvPr>
            <p:cNvPicPr>
              <a:picLocks noChangeAspect="1"/>
            </p:cNvPicPr>
            <p:nvPr/>
          </p:nvPicPr>
          <p:blipFill>
            <a:blip r:embed="rId7"/>
            <a:stretch>
              <a:fillRect/>
            </a:stretch>
          </p:blipFill>
          <p:spPr>
            <a:xfrm>
              <a:off x="14096908" y="8489687"/>
              <a:ext cx="7772400" cy="2069275"/>
            </a:xfrm>
            <a:prstGeom prst="rect">
              <a:avLst/>
            </a:prstGeom>
          </p:spPr>
        </p:pic>
        <p:pic>
          <p:nvPicPr>
            <p:cNvPr id="25" name="Picture 24">
              <a:extLst>
                <a:ext uri="{FF2B5EF4-FFF2-40B4-BE49-F238E27FC236}">
                  <a16:creationId xmlns:a16="http://schemas.microsoft.com/office/drawing/2014/main" id="{A489CDB0-BE43-0D2C-6BA2-1A56BBFA3B1F}"/>
                </a:ext>
              </a:extLst>
            </p:cNvPr>
            <p:cNvPicPr>
              <a:picLocks noChangeAspect="1"/>
            </p:cNvPicPr>
            <p:nvPr/>
          </p:nvPicPr>
          <p:blipFill>
            <a:blip r:embed="rId8"/>
            <a:stretch>
              <a:fillRect/>
            </a:stretch>
          </p:blipFill>
          <p:spPr>
            <a:xfrm>
              <a:off x="14096908" y="6161554"/>
              <a:ext cx="7772400" cy="2252073"/>
            </a:xfrm>
            <a:prstGeom prst="rect">
              <a:avLst/>
            </a:prstGeom>
          </p:spPr>
        </p:pic>
      </p:grpSp>
    </p:spTree>
    <p:extLst>
      <p:ext uri="{BB962C8B-B14F-4D97-AF65-F5344CB8AC3E}">
        <p14:creationId xmlns:p14="http://schemas.microsoft.com/office/powerpoint/2010/main" val="356029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Primitive Types (cont.)</a:t>
            </a:r>
          </a:p>
        </p:txBody>
      </p:sp>
      <p:grpSp>
        <p:nvGrpSpPr>
          <p:cNvPr id="16" name="Group 15">
            <a:extLst>
              <a:ext uri="{FF2B5EF4-FFF2-40B4-BE49-F238E27FC236}">
                <a16:creationId xmlns:a16="http://schemas.microsoft.com/office/drawing/2014/main" id="{BFD223B6-0BCF-998E-2C09-FAAA68BD4354}"/>
              </a:ext>
            </a:extLst>
          </p:cNvPr>
          <p:cNvGrpSpPr/>
          <p:nvPr/>
        </p:nvGrpSpPr>
        <p:grpSpPr>
          <a:xfrm>
            <a:off x="13336587" y="2133600"/>
            <a:ext cx="9805358" cy="10820400"/>
            <a:chOff x="14250987" y="3286396"/>
            <a:chExt cx="6781800" cy="8098080"/>
          </a:xfrm>
        </p:grpSpPr>
        <p:pic>
          <p:nvPicPr>
            <p:cNvPr id="11" name="Picture 10">
              <a:extLst>
                <a:ext uri="{FF2B5EF4-FFF2-40B4-BE49-F238E27FC236}">
                  <a16:creationId xmlns:a16="http://schemas.microsoft.com/office/drawing/2014/main" id="{49A3A2D4-B1DF-FE26-39E3-A98939591D3D}"/>
                </a:ext>
              </a:extLst>
            </p:cNvPr>
            <p:cNvPicPr>
              <a:picLocks noChangeAspect="1"/>
            </p:cNvPicPr>
            <p:nvPr/>
          </p:nvPicPr>
          <p:blipFill>
            <a:blip r:embed="rId3"/>
            <a:stretch>
              <a:fillRect/>
            </a:stretch>
          </p:blipFill>
          <p:spPr>
            <a:xfrm>
              <a:off x="14250987" y="3286396"/>
              <a:ext cx="5499100" cy="1244600"/>
            </a:xfrm>
            <a:prstGeom prst="rect">
              <a:avLst/>
            </a:prstGeom>
          </p:spPr>
        </p:pic>
        <p:pic>
          <p:nvPicPr>
            <p:cNvPr id="12" name="Picture 11">
              <a:extLst>
                <a:ext uri="{FF2B5EF4-FFF2-40B4-BE49-F238E27FC236}">
                  <a16:creationId xmlns:a16="http://schemas.microsoft.com/office/drawing/2014/main" id="{85936B20-883E-B92E-B662-0A9472995025}"/>
                </a:ext>
              </a:extLst>
            </p:cNvPr>
            <p:cNvPicPr>
              <a:picLocks noChangeAspect="1"/>
            </p:cNvPicPr>
            <p:nvPr/>
          </p:nvPicPr>
          <p:blipFill>
            <a:blip r:embed="rId4"/>
            <a:stretch>
              <a:fillRect/>
            </a:stretch>
          </p:blipFill>
          <p:spPr>
            <a:xfrm>
              <a:off x="14263687" y="9149276"/>
              <a:ext cx="6769100" cy="2235200"/>
            </a:xfrm>
            <a:prstGeom prst="rect">
              <a:avLst/>
            </a:prstGeom>
          </p:spPr>
        </p:pic>
        <p:pic>
          <p:nvPicPr>
            <p:cNvPr id="13" name="Picture 12">
              <a:extLst>
                <a:ext uri="{FF2B5EF4-FFF2-40B4-BE49-F238E27FC236}">
                  <a16:creationId xmlns:a16="http://schemas.microsoft.com/office/drawing/2014/main" id="{7D5BDBAF-6E1D-D225-5942-7B300661EFCD}"/>
                </a:ext>
              </a:extLst>
            </p:cNvPr>
            <p:cNvPicPr>
              <a:picLocks noChangeAspect="1"/>
            </p:cNvPicPr>
            <p:nvPr/>
          </p:nvPicPr>
          <p:blipFill>
            <a:blip r:embed="rId5"/>
            <a:stretch>
              <a:fillRect/>
            </a:stretch>
          </p:blipFill>
          <p:spPr>
            <a:xfrm>
              <a:off x="14250987" y="4634417"/>
              <a:ext cx="5245100" cy="1409700"/>
            </a:xfrm>
            <a:prstGeom prst="rect">
              <a:avLst/>
            </a:prstGeom>
          </p:spPr>
        </p:pic>
        <p:pic>
          <p:nvPicPr>
            <p:cNvPr id="14" name="Picture 13">
              <a:extLst>
                <a:ext uri="{FF2B5EF4-FFF2-40B4-BE49-F238E27FC236}">
                  <a16:creationId xmlns:a16="http://schemas.microsoft.com/office/drawing/2014/main" id="{F7A095F3-167A-6BB0-275D-130FE75D4295}"/>
                </a:ext>
              </a:extLst>
            </p:cNvPr>
            <p:cNvPicPr>
              <a:picLocks noChangeAspect="1"/>
            </p:cNvPicPr>
            <p:nvPr/>
          </p:nvPicPr>
          <p:blipFill>
            <a:blip r:embed="rId6"/>
            <a:stretch>
              <a:fillRect/>
            </a:stretch>
          </p:blipFill>
          <p:spPr>
            <a:xfrm>
              <a:off x="14250987" y="6124846"/>
              <a:ext cx="5702300" cy="1384300"/>
            </a:xfrm>
            <a:prstGeom prst="rect">
              <a:avLst/>
            </a:prstGeom>
          </p:spPr>
        </p:pic>
        <p:pic>
          <p:nvPicPr>
            <p:cNvPr id="15" name="Picture 14">
              <a:extLst>
                <a:ext uri="{FF2B5EF4-FFF2-40B4-BE49-F238E27FC236}">
                  <a16:creationId xmlns:a16="http://schemas.microsoft.com/office/drawing/2014/main" id="{6981A1AF-94D5-77D1-E48D-39B789AB7ABA}"/>
                </a:ext>
              </a:extLst>
            </p:cNvPr>
            <p:cNvPicPr>
              <a:picLocks noChangeAspect="1"/>
            </p:cNvPicPr>
            <p:nvPr/>
          </p:nvPicPr>
          <p:blipFill>
            <a:blip r:embed="rId7"/>
            <a:stretch>
              <a:fillRect/>
            </a:stretch>
          </p:blipFill>
          <p:spPr>
            <a:xfrm>
              <a:off x="14263687" y="7631617"/>
              <a:ext cx="5232400" cy="1397000"/>
            </a:xfrm>
            <a:prstGeom prst="rect">
              <a:avLst/>
            </a:prstGeom>
          </p:spPr>
        </p:pic>
      </p:grpSp>
      <p:pic>
        <p:nvPicPr>
          <p:cNvPr id="17" name="Picture 16">
            <a:extLst>
              <a:ext uri="{FF2B5EF4-FFF2-40B4-BE49-F238E27FC236}">
                <a16:creationId xmlns:a16="http://schemas.microsoft.com/office/drawing/2014/main" id="{6C4A7323-74C2-1BFB-8E1C-82952F975ED0}"/>
              </a:ext>
            </a:extLst>
          </p:cNvPr>
          <p:cNvPicPr>
            <a:picLocks noChangeAspect="1"/>
          </p:cNvPicPr>
          <p:nvPr/>
        </p:nvPicPr>
        <p:blipFill>
          <a:blip r:embed="rId8"/>
          <a:stretch>
            <a:fillRect/>
          </a:stretch>
        </p:blipFill>
        <p:spPr>
          <a:xfrm>
            <a:off x="1906586" y="3941314"/>
            <a:ext cx="11038625" cy="9012686"/>
          </a:xfrm>
          <a:prstGeom prst="rect">
            <a:avLst/>
          </a:prstGeom>
        </p:spPr>
      </p:pic>
    </p:spTree>
    <p:extLst>
      <p:ext uri="{BB962C8B-B14F-4D97-AF65-F5344CB8AC3E}">
        <p14:creationId xmlns:p14="http://schemas.microsoft.com/office/powerpoint/2010/main" val="207790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(4)</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575537"/>
            <a:ext cx="21859545" cy="10363223"/>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State Variables</a:t>
            </a:r>
          </a:p>
        </p:txBody>
      </p:sp>
      <p:pic>
        <p:nvPicPr>
          <p:cNvPr id="8" name="Picture 7">
            <a:extLst>
              <a:ext uri="{FF2B5EF4-FFF2-40B4-BE49-F238E27FC236}">
                <a16:creationId xmlns:a16="http://schemas.microsoft.com/office/drawing/2014/main" id="{58AC6CBA-85B4-7D14-D7D1-08F2EA5D0517}"/>
              </a:ext>
            </a:extLst>
          </p:cNvPr>
          <p:cNvPicPr>
            <a:picLocks noChangeAspect="1"/>
          </p:cNvPicPr>
          <p:nvPr/>
        </p:nvPicPr>
        <p:blipFill>
          <a:blip r:embed="rId3"/>
          <a:stretch>
            <a:fillRect/>
          </a:stretch>
        </p:blipFill>
        <p:spPr>
          <a:xfrm>
            <a:off x="11481152" y="6133728"/>
            <a:ext cx="10923236" cy="6606194"/>
          </a:xfrm>
          <a:prstGeom prst="rect">
            <a:avLst/>
          </a:prstGeom>
        </p:spPr>
      </p:pic>
      <p:pic>
        <p:nvPicPr>
          <p:cNvPr id="3" name="Picture 2">
            <a:extLst>
              <a:ext uri="{FF2B5EF4-FFF2-40B4-BE49-F238E27FC236}">
                <a16:creationId xmlns:a16="http://schemas.microsoft.com/office/drawing/2014/main" id="{14179C78-AAE6-EDEA-235E-38692D8E3BDA}"/>
              </a:ext>
            </a:extLst>
          </p:cNvPr>
          <p:cNvPicPr>
            <a:picLocks noChangeAspect="1"/>
          </p:cNvPicPr>
          <p:nvPr/>
        </p:nvPicPr>
        <p:blipFill>
          <a:blip r:embed="rId4"/>
          <a:stretch>
            <a:fillRect/>
          </a:stretch>
        </p:blipFill>
        <p:spPr>
          <a:xfrm>
            <a:off x="1982787" y="3884757"/>
            <a:ext cx="6988815" cy="9054003"/>
          </a:xfrm>
          <a:prstGeom prst="rect">
            <a:avLst/>
          </a:prstGeom>
        </p:spPr>
      </p:pic>
      <p:sp>
        <p:nvSpPr>
          <p:cNvPr id="6" name="Content Placeholder 1">
            <a:extLst>
              <a:ext uri="{FF2B5EF4-FFF2-40B4-BE49-F238E27FC236}">
                <a16:creationId xmlns:a16="http://schemas.microsoft.com/office/drawing/2014/main" id="{1C5ACFC6-1591-01F7-4102-4FD4E182D837}"/>
              </a:ext>
            </a:extLst>
          </p:cNvPr>
          <p:cNvSpPr txBox="1">
            <a:spLocks/>
          </p:cNvSpPr>
          <p:nvPr/>
        </p:nvSpPr>
        <p:spPr>
          <a:xfrm>
            <a:off x="10771323" y="2818659"/>
            <a:ext cx="13071009" cy="3100991"/>
          </a:xfrm>
        </p:spPr>
        <p:txBody>
          <a:bodyPr vert="horz" lIns="243840" tIns="121920" rIns="243840" bIns="121920" rtlCol="0" anchor="t">
            <a:normAutofit fontScale="92500"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State invariants:</a:t>
            </a:r>
          </a:p>
          <a:p>
            <a:pPr lvl="1"/>
            <a:r>
              <a:rPr lang="en-US" dirty="0"/>
              <a:t>A thread cannot be in two CPUs at the same time</a:t>
            </a:r>
          </a:p>
          <a:p>
            <a:pPr lvl="1"/>
            <a:r>
              <a:rPr lang="en-US" dirty="0"/>
              <a:t>Thread stacks do not overlap</a:t>
            </a:r>
          </a:p>
          <a:p>
            <a:pPr lvl="1"/>
            <a:r>
              <a:rPr lang="en-US" dirty="0">
                <a:cs typeface="Helvetica" pitchFamily="34" charset="0"/>
              </a:rPr>
              <a:t>RTOS resources are not shared across CPUs</a:t>
            </a:r>
          </a:p>
          <a:p>
            <a:pPr lvl="1"/>
            <a:endParaRPr lang="en-US" dirty="0">
              <a:cs typeface="Helvetica" pitchFamily="34" charset="0"/>
            </a:endParaRPr>
          </a:p>
        </p:txBody>
      </p:sp>
    </p:spTree>
    <p:extLst>
      <p:ext uri="{BB962C8B-B14F-4D97-AF65-F5344CB8AC3E}">
        <p14:creationId xmlns:p14="http://schemas.microsoft.com/office/powerpoint/2010/main" val="97897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FFFB5B-B4C9-618D-251C-1D3AFAEE5DC8}"/>
              </a:ext>
            </a:extLst>
          </p:cNvPr>
          <p:cNvPicPr>
            <a:picLocks noChangeAspect="1"/>
          </p:cNvPicPr>
          <p:nvPr/>
        </p:nvPicPr>
        <p:blipFill>
          <a:blip r:embed="rId3"/>
          <a:stretch>
            <a:fillRect/>
          </a:stretch>
        </p:blipFill>
        <p:spPr>
          <a:xfrm>
            <a:off x="13534049" y="3505200"/>
            <a:ext cx="10517314" cy="8174006"/>
          </a:xfrm>
          <a:prstGeom prst="rect">
            <a:avLst/>
          </a:prstGeom>
        </p:spPr>
      </p:pic>
      <p:pic>
        <p:nvPicPr>
          <p:cNvPr id="20" name="Picture 19">
            <a:extLst>
              <a:ext uri="{FF2B5EF4-FFF2-40B4-BE49-F238E27FC236}">
                <a16:creationId xmlns:a16="http://schemas.microsoft.com/office/drawing/2014/main" id="{32FD0B43-3854-F986-4C7E-537B02FF8A25}"/>
              </a:ext>
            </a:extLst>
          </p:cNvPr>
          <p:cNvPicPr>
            <a:picLocks noChangeAspect="1"/>
          </p:cNvPicPr>
          <p:nvPr/>
        </p:nvPicPr>
        <p:blipFill>
          <a:blip r:embed="rId4"/>
          <a:stretch>
            <a:fillRect/>
          </a:stretch>
        </p:blipFill>
        <p:spPr>
          <a:xfrm>
            <a:off x="2569691" y="3255991"/>
            <a:ext cx="9638717" cy="8423215"/>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(5)</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44050" y="2192156"/>
            <a:ext cx="21859545" cy="11295244"/>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State Variables (cont.)</a:t>
            </a:r>
          </a:p>
        </p:txBody>
      </p:sp>
      <p:sp>
        <p:nvSpPr>
          <p:cNvPr id="9" name="Rounded Rectangular Callout 8">
            <a:extLst>
              <a:ext uri="{FF2B5EF4-FFF2-40B4-BE49-F238E27FC236}">
                <a16:creationId xmlns:a16="http://schemas.microsoft.com/office/drawing/2014/main" id="{242EC4FA-EB4F-8E6F-E09C-6FF3AFCCF8A2}"/>
              </a:ext>
            </a:extLst>
          </p:cNvPr>
          <p:cNvSpPr/>
          <p:nvPr/>
        </p:nvSpPr>
        <p:spPr>
          <a:xfrm>
            <a:off x="16384587" y="2297778"/>
            <a:ext cx="3160908" cy="797601"/>
          </a:xfrm>
          <a:prstGeom prst="wedgeRoundRectCallout">
            <a:avLst>
              <a:gd name="adj1" fmla="val -85061"/>
              <a:gd name="adj2" fmla="val 10780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state invariants</a:t>
            </a:r>
          </a:p>
        </p:txBody>
      </p:sp>
      <p:sp>
        <p:nvSpPr>
          <p:cNvPr id="13" name="Rounded Rectangular Callout 12">
            <a:extLst>
              <a:ext uri="{FF2B5EF4-FFF2-40B4-BE49-F238E27FC236}">
                <a16:creationId xmlns:a16="http://schemas.microsoft.com/office/drawing/2014/main" id="{CD6EABF0-B449-B240-94AC-41DA9491061F}"/>
              </a:ext>
            </a:extLst>
          </p:cNvPr>
          <p:cNvSpPr/>
          <p:nvPr/>
        </p:nvSpPr>
        <p:spPr>
          <a:xfrm rot="16200000">
            <a:off x="-2182602" y="6816026"/>
            <a:ext cx="6784132" cy="1303144"/>
          </a:xfrm>
          <a:prstGeom prst="wedgeRoundRectCallout">
            <a:avLst>
              <a:gd name="adj1" fmla="val -14364"/>
              <a:gd name="adj2" fmla="val 12133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Finite partial injective functions representing</a:t>
            </a:r>
          </a:p>
          <a:p>
            <a:pPr algn="ctr"/>
            <a:r>
              <a:rPr lang="en-US" sz="2800" dirty="0">
                <a:solidFill>
                  <a:schemeClr val="tx1"/>
                </a:solidFill>
              </a:rPr>
              <a:t>“partially used” arrays of RTOS objects</a:t>
            </a:r>
          </a:p>
        </p:txBody>
      </p:sp>
      <p:sp>
        <p:nvSpPr>
          <p:cNvPr id="14" name="Double Brace 13">
            <a:extLst>
              <a:ext uri="{FF2B5EF4-FFF2-40B4-BE49-F238E27FC236}">
                <a16:creationId xmlns:a16="http://schemas.microsoft.com/office/drawing/2014/main" id="{18622143-8D99-1AAB-0593-75C609BC1F99}"/>
              </a:ext>
            </a:extLst>
          </p:cNvPr>
          <p:cNvSpPr/>
          <p:nvPr/>
        </p:nvSpPr>
        <p:spPr>
          <a:xfrm flipH="1">
            <a:off x="2749343" y="7839778"/>
            <a:ext cx="7463043" cy="1219201"/>
          </a:xfrm>
          <a:prstGeom prst="brace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n w="0">
                <a:solidFill>
                  <a:schemeClr val="tx1"/>
                </a:solidFill>
              </a:ln>
              <a:solidFill>
                <a:sysClr val="windowText" lastClr="00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77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34ECA1-F588-2DFA-ECBD-23491C7F26CD}"/>
              </a:ext>
            </a:extLst>
          </p:cNvPr>
          <p:cNvPicPr>
            <a:picLocks noChangeAspect="1"/>
          </p:cNvPicPr>
          <p:nvPr/>
        </p:nvPicPr>
        <p:blipFill>
          <a:blip r:embed="rId3"/>
          <a:stretch>
            <a:fillRect/>
          </a:stretch>
        </p:blipFill>
        <p:spPr>
          <a:xfrm>
            <a:off x="5039685" y="3673486"/>
            <a:ext cx="8719712" cy="9441645"/>
          </a:xfrm>
          <a:prstGeom prst="rect">
            <a:avLst/>
          </a:prstGeom>
        </p:spPr>
      </p:pic>
      <p:pic>
        <p:nvPicPr>
          <p:cNvPr id="18" name="Picture 17">
            <a:extLst>
              <a:ext uri="{FF2B5EF4-FFF2-40B4-BE49-F238E27FC236}">
                <a16:creationId xmlns:a16="http://schemas.microsoft.com/office/drawing/2014/main" id="{81413355-8863-023D-1337-4AE5F66F0476}"/>
              </a:ext>
            </a:extLst>
          </p:cNvPr>
          <p:cNvPicPr>
            <a:picLocks noChangeAspect="1"/>
          </p:cNvPicPr>
          <p:nvPr/>
        </p:nvPicPr>
        <p:blipFill>
          <a:blip r:embed="rId4"/>
          <a:stretch>
            <a:fillRect/>
          </a:stretch>
        </p:blipFill>
        <p:spPr>
          <a:xfrm>
            <a:off x="14418469" y="3674983"/>
            <a:ext cx="8719712" cy="6248059"/>
          </a:xfrm>
          <a:prstGeom prst="rect">
            <a:avLst/>
          </a:prstGeom>
        </p:spPr>
      </p:pic>
      <p:pic>
        <p:nvPicPr>
          <p:cNvPr id="19" name="Picture 18">
            <a:extLst>
              <a:ext uri="{FF2B5EF4-FFF2-40B4-BE49-F238E27FC236}">
                <a16:creationId xmlns:a16="http://schemas.microsoft.com/office/drawing/2014/main" id="{F948D59D-C5D6-8051-4F04-042D2B040C53}"/>
              </a:ext>
            </a:extLst>
          </p:cNvPr>
          <p:cNvPicPr>
            <a:picLocks noChangeAspect="1"/>
          </p:cNvPicPr>
          <p:nvPr/>
        </p:nvPicPr>
        <p:blipFill>
          <a:blip r:embed="rId5"/>
          <a:stretch>
            <a:fillRect/>
          </a:stretch>
        </p:blipFill>
        <p:spPr>
          <a:xfrm>
            <a:off x="14425135" y="10131801"/>
            <a:ext cx="7195187" cy="1637481"/>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(6)</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3622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State Variables (cont.): Pointer-less data structures</a:t>
            </a:r>
          </a:p>
        </p:txBody>
      </p:sp>
      <p:sp>
        <p:nvSpPr>
          <p:cNvPr id="7" name="Double Brace 6">
            <a:extLst>
              <a:ext uri="{FF2B5EF4-FFF2-40B4-BE49-F238E27FC236}">
                <a16:creationId xmlns:a16="http://schemas.microsoft.com/office/drawing/2014/main" id="{7A0CD922-E7B1-B0BC-35D6-4B51C6AEBE44}"/>
              </a:ext>
            </a:extLst>
          </p:cNvPr>
          <p:cNvSpPr/>
          <p:nvPr/>
        </p:nvSpPr>
        <p:spPr>
          <a:xfrm flipH="1">
            <a:off x="5039685" y="10716339"/>
            <a:ext cx="4867902" cy="1052941"/>
          </a:xfrm>
          <a:prstGeom prst="brace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n w="0">
                <a:solidFill>
                  <a:schemeClr val="tx1"/>
                </a:solidFill>
              </a:ln>
              <a:solidFill>
                <a:sysClr val="windowText" lastClr="000000"/>
              </a:solidFill>
              <a:effectLst>
                <a:outerShdw blurRad="38100" dist="19050" dir="2700000" algn="tl" rotWithShape="0">
                  <a:schemeClr val="dk1">
                    <a:alpha val="40000"/>
                  </a:schemeClr>
                </a:outerShdw>
              </a:effectLst>
            </a:endParaRPr>
          </a:p>
        </p:txBody>
      </p:sp>
      <p:sp>
        <p:nvSpPr>
          <p:cNvPr id="3" name="Rounded Rectangular Callout 2">
            <a:extLst>
              <a:ext uri="{FF2B5EF4-FFF2-40B4-BE49-F238E27FC236}">
                <a16:creationId xmlns:a16="http://schemas.microsoft.com/office/drawing/2014/main" id="{51BFF52E-EEEF-F924-B406-51BF89B164A2}"/>
              </a:ext>
            </a:extLst>
          </p:cNvPr>
          <p:cNvSpPr/>
          <p:nvPr/>
        </p:nvSpPr>
        <p:spPr>
          <a:xfrm>
            <a:off x="686449" y="8771731"/>
            <a:ext cx="3626036" cy="823320"/>
          </a:xfrm>
          <a:prstGeom prst="wedgeRoundRectCallout">
            <a:avLst>
              <a:gd name="adj1" fmla="val 69214"/>
              <a:gd name="adj2" fmla="val 24257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Arrays of RTOS objects</a:t>
            </a:r>
          </a:p>
        </p:txBody>
      </p:sp>
      <p:sp>
        <p:nvSpPr>
          <p:cNvPr id="13" name="Rounded Rectangular Callout 12">
            <a:extLst>
              <a:ext uri="{FF2B5EF4-FFF2-40B4-BE49-F238E27FC236}">
                <a16:creationId xmlns:a16="http://schemas.microsoft.com/office/drawing/2014/main" id="{A4717108-2D09-28FB-DD6B-FC8F6F705F1A}"/>
              </a:ext>
            </a:extLst>
          </p:cNvPr>
          <p:cNvSpPr/>
          <p:nvPr/>
        </p:nvSpPr>
        <p:spPr>
          <a:xfrm>
            <a:off x="19845300" y="4131442"/>
            <a:ext cx="3763816" cy="823320"/>
          </a:xfrm>
          <a:prstGeom prst="wedgeRoundRectCallout">
            <a:avLst>
              <a:gd name="adj1" fmla="val -43916"/>
              <a:gd name="adj2" fmla="val -810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 linked lists</a:t>
            </a:r>
          </a:p>
        </p:txBody>
      </p:sp>
      <p:sp>
        <p:nvSpPr>
          <p:cNvPr id="14" name="Rounded Rectangular Callout 13">
            <a:extLst>
              <a:ext uri="{FF2B5EF4-FFF2-40B4-BE49-F238E27FC236}">
                <a16:creationId xmlns:a16="http://schemas.microsoft.com/office/drawing/2014/main" id="{09D4F894-B089-5CDE-EA97-C35E6D9BD8AB}"/>
              </a:ext>
            </a:extLst>
          </p:cNvPr>
          <p:cNvSpPr/>
          <p:nvPr/>
        </p:nvSpPr>
        <p:spPr>
          <a:xfrm>
            <a:off x="686449" y="11199986"/>
            <a:ext cx="3408255" cy="1509314"/>
          </a:xfrm>
          <a:prstGeom prst="wedgeRoundRectCallout">
            <a:avLst>
              <a:gd name="adj1" fmla="val 76799"/>
              <a:gd name="adj2" fmla="val 114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Arrays of nodes for linked lists of the corresponding type</a:t>
            </a:r>
          </a:p>
        </p:txBody>
      </p:sp>
      <p:sp>
        <p:nvSpPr>
          <p:cNvPr id="15" name="Double Brace 14">
            <a:extLst>
              <a:ext uri="{FF2B5EF4-FFF2-40B4-BE49-F238E27FC236}">
                <a16:creationId xmlns:a16="http://schemas.microsoft.com/office/drawing/2014/main" id="{9C1E5BFD-BDAD-AFD1-F4DF-4ACFE68CCF22}"/>
              </a:ext>
            </a:extLst>
          </p:cNvPr>
          <p:cNvSpPr/>
          <p:nvPr/>
        </p:nvSpPr>
        <p:spPr>
          <a:xfrm flipH="1">
            <a:off x="5039685" y="11769281"/>
            <a:ext cx="6620502" cy="728259"/>
          </a:xfrm>
          <a:prstGeom prst="bracePair">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ln w="0">
                <a:solidFill>
                  <a:schemeClr val="tx1"/>
                </a:solidFill>
              </a:ln>
              <a:solidFill>
                <a:sysClr val="windowText" lastClr="000000"/>
              </a:solidFill>
              <a:effectLst>
                <a:outerShdw blurRad="38100" dist="19050" dir="2700000" algn="tl" rotWithShape="0">
                  <a:schemeClr val="dk1">
                    <a:alpha val="40000"/>
                  </a:schemeClr>
                </a:outerShdw>
              </a:effectLst>
            </a:endParaRPr>
          </a:p>
        </p:txBody>
      </p:sp>
      <p:sp>
        <p:nvSpPr>
          <p:cNvPr id="21" name="Rounded Rectangular Callout 20">
            <a:extLst>
              <a:ext uri="{FF2B5EF4-FFF2-40B4-BE49-F238E27FC236}">
                <a16:creationId xmlns:a16="http://schemas.microsoft.com/office/drawing/2014/main" id="{4920FD21-2D98-E8CC-5AED-C6FDA589B365}"/>
              </a:ext>
            </a:extLst>
          </p:cNvPr>
          <p:cNvSpPr/>
          <p:nvPr/>
        </p:nvSpPr>
        <p:spPr>
          <a:xfrm>
            <a:off x="19845300" y="5745952"/>
            <a:ext cx="3763816" cy="823320"/>
          </a:xfrm>
          <a:prstGeom prst="wedgeRoundRectCallout">
            <a:avLst>
              <a:gd name="adj1" fmla="val -51551"/>
              <a:gd name="adj2" fmla="val -9061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 linked lists</a:t>
            </a:r>
          </a:p>
        </p:txBody>
      </p:sp>
      <p:sp>
        <p:nvSpPr>
          <p:cNvPr id="22" name="Rounded Rectangular Callout 21">
            <a:extLst>
              <a:ext uri="{FF2B5EF4-FFF2-40B4-BE49-F238E27FC236}">
                <a16:creationId xmlns:a16="http://schemas.microsoft.com/office/drawing/2014/main" id="{CF9CE518-4C6B-FE56-A651-BB6AF37845DF}"/>
              </a:ext>
            </a:extLst>
          </p:cNvPr>
          <p:cNvSpPr/>
          <p:nvPr/>
        </p:nvSpPr>
        <p:spPr>
          <a:xfrm>
            <a:off x="21609066" y="11230566"/>
            <a:ext cx="2393198" cy="981692"/>
          </a:xfrm>
          <a:prstGeom prst="wedgeRoundRectCallout">
            <a:avLst>
              <a:gd name="adj1" fmla="val -71631"/>
              <a:gd name="adj2" fmla="val -14641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pointer-less</a:t>
            </a:r>
          </a:p>
          <a:p>
            <a:pPr algn="ctr"/>
            <a:r>
              <a:rPr lang="en-US" sz="2800" dirty="0">
                <a:solidFill>
                  <a:schemeClr val="tx1"/>
                </a:solidFill>
              </a:rPr>
              <a:t>linked lists</a:t>
            </a:r>
          </a:p>
        </p:txBody>
      </p:sp>
    </p:spTree>
    <p:extLst>
      <p:ext uri="{BB962C8B-B14F-4D97-AF65-F5344CB8AC3E}">
        <p14:creationId xmlns:p14="http://schemas.microsoft.com/office/powerpoint/2010/main" val="27341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animBg="1"/>
      <p:bldP spid="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(7)</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44050" y="2192156"/>
            <a:ext cx="21859545" cy="11295244"/>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State Variables (cont.)</a:t>
            </a:r>
          </a:p>
        </p:txBody>
      </p:sp>
      <p:pic>
        <p:nvPicPr>
          <p:cNvPr id="2" name="Picture 1">
            <a:extLst>
              <a:ext uri="{FF2B5EF4-FFF2-40B4-BE49-F238E27FC236}">
                <a16:creationId xmlns:a16="http://schemas.microsoft.com/office/drawing/2014/main" id="{DE9767C7-BA71-706F-E266-5A7224214D6C}"/>
              </a:ext>
            </a:extLst>
          </p:cNvPr>
          <p:cNvPicPr>
            <a:picLocks noChangeAspect="1"/>
          </p:cNvPicPr>
          <p:nvPr/>
        </p:nvPicPr>
        <p:blipFill>
          <a:blip r:embed="rId3"/>
          <a:stretch>
            <a:fillRect/>
          </a:stretch>
        </p:blipFill>
        <p:spPr>
          <a:xfrm>
            <a:off x="2058987" y="3581400"/>
            <a:ext cx="8895044" cy="8985196"/>
          </a:xfrm>
          <a:prstGeom prst="rect">
            <a:avLst/>
          </a:prstGeom>
        </p:spPr>
      </p:pic>
      <p:pic>
        <p:nvPicPr>
          <p:cNvPr id="7" name="Picture 6">
            <a:extLst>
              <a:ext uri="{FF2B5EF4-FFF2-40B4-BE49-F238E27FC236}">
                <a16:creationId xmlns:a16="http://schemas.microsoft.com/office/drawing/2014/main" id="{B271C5CE-54D0-74C2-0CB8-E97A4BFD6E59}"/>
              </a:ext>
            </a:extLst>
          </p:cNvPr>
          <p:cNvPicPr>
            <a:picLocks noChangeAspect="1"/>
          </p:cNvPicPr>
          <p:nvPr/>
        </p:nvPicPr>
        <p:blipFill>
          <a:blip r:embed="rId4"/>
          <a:stretch>
            <a:fillRect/>
          </a:stretch>
        </p:blipFill>
        <p:spPr>
          <a:xfrm>
            <a:off x="12422187" y="3581400"/>
            <a:ext cx="10523757" cy="8985196"/>
          </a:xfrm>
          <a:prstGeom prst="rect">
            <a:avLst/>
          </a:prstGeom>
        </p:spPr>
      </p:pic>
    </p:spTree>
    <p:extLst>
      <p:ext uri="{BB962C8B-B14F-4D97-AF65-F5344CB8AC3E}">
        <p14:creationId xmlns:p14="http://schemas.microsoft.com/office/powerpoint/2010/main" val="271580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(8)</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3622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pointer-less linked lists</a:t>
            </a:r>
          </a:p>
        </p:txBody>
      </p:sp>
      <p:pic>
        <p:nvPicPr>
          <p:cNvPr id="20" name="Picture 19">
            <a:extLst>
              <a:ext uri="{FF2B5EF4-FFF2-40B4-BE49-F238E27FC236}">
                <a16:creationId xmlns:a16="http://schemas.microsoft.com/office/drawing/2014/main" id="{D7AA9C25-1673-1347-8049-B0CAEE58F373}"/>
              </a:ext>
            </a:extLst>
          </p:cNvPr>
          <p:cNvPicPr>
            <a:picLocks noChangeAspect="1"/>
          </p:cNvPicPr>
          <p:nvPr/>
        </p:nvPicPr>
        <p:blipFill>
          <a:blip r:embed="rId3"/>
          <a:stretch>
            <a:fillRect/>
          </a:stretch>
        </p:blipFill>
        <p:spPr>
          <a:xfrm>
            <a:off x="1677987" y="3276600"/>
            <a:ext cx="11506200" cy="9742970"/>
          </a:xfrm>
          <a:prstGeom prst="rect">
            <a:avLst/>
          </a:prstGeom>
        </p:spPr>
      </p:pic>
      <p:pic>
        <p:nvPicPr>
          <p:cNvPr id="21" name="Picture 20">
            <a:extLst>
              <a:ext uri="{FF2B5EF4-FFF2-40B4-BE49-F238E27FC236}">
                <a16:creationId xmlns:a16="http://schemas.microsoft.com/office/drawing/2014/main" id="{8C31EE93-BFF4-7BB0-C86C-33D150E6509C}"/>
              </a:ext>
            </a:extLst>
          </p:cNvPr>
          <p:cNvPicPr>
            <a:picLocks noChangeAspect="1"/>
          </p:cNvPicPr>
          <p:nvPr/>
        </p:nvPicPr>
        <p:blipFill>
          <a:blip r:embed="rId4"/>
          <a:stretch>
            <a:fillRect/>
          </a:stretch>
        </p:blipFill>
        <p:spPr>
          <a:xfrm>
            <a:off x="14883356" y="3599993"/>
            <a:ext cx="7772400" cy="3476543"/>
          </a:xfrm>
          <a:prstGeom prst="rect">
            <a:avLst/>
          </a:prstGeom>
        </p:spPr>
      </p:pic>
      <p:pic>
        <p:nvPicPr>
          <p:cNvPr id="22" name="Picture 21">
            <a:extLst>
              <a:ext uri="{FF2B5EF4-FFF2-40B4-BE49-F238E27FC236}">
                <a16:creationId xmlns:a16="http://schemas.microsoft.com/office/drawing/2014/main" id="{69764C07-2073-D9BD-C6AF-B2934DAFC626}"/>
              </a:ext>
            </a:extLst>
          </p:cNvPr>
          <p:cNvPicPr>
            <a:picLocks noChangeAspect="1"/>
          </p:cNvPicPr>
          <p:nvPr/>
        </p:nvPicPr>
        <p:blipFill>
          <a:blip r:embed="rId5"/>
          <a:stretch>
            <a:fillRect/>
          </a:stretch>
        </p:blipFill>
        <p:spPr>
          <a:xfrm>
            <a:off x="14883356" y="8148085"/>
            <a:ext cx="7772400" cy="3495930"/>
          </a:xfrm>
          <a:prstGeom prst="rect">
            <a:avLst/>
          </a:prstGeom>
        </p:spPr>
      </p:pic>
    </p:spTree>
    <p:extLst>
      <p:ext uri="{BB962C8B-B14F-4D97-AF65-F5344CB8AC3E}">
        <p14:creationId xmlns:p14="http://schemas.microsoft.com/office/powerpoint/2010/main" val="167351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(9)</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3622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pointer-less linked lists (cont.)</a:t>
            </a:r>
          </a:p>
        </p:txBody>
      </p:sp>
      <p:pic>
        <p:nvPicPr>
          <p:cNvPr id="3" name="Picture 2">
            <a:extLst>
              <a:ext uri="{FF2B5EF4-FFF2-40B4-BE49-F238E27FC236}">
                <a16:creationId xmlns:a16="http://schemas.microsoft.com/office/drawing/2014/main" id="{E059634A-2DEE-9C70-83A7-05EB39BB0441}"/>
              </a:ext>
            </a:extLst>
          </p:cNvPr>
          <p:cNvPicPr>
            <a:picLocks noChangeAspect="1"/>
          </p:cNvPicPr>
          <p:nvPr/>
        </p:nvPicPr>
        <p:blipFill>
          <a:blip r:embed="rId3"/>
          <a:stretch>
            <a:fillRect/>
          </a:stretch>
        </p:blipFill>
        <p:spPr>
          <a:xfrm>
            <a:off x="3811587" y="3962400"/>
            <a:ext cx="6832600" cy="5067300"/>
          </a:xfrm>
          <a:prstGeom prst="rect">
            <a:avLst/>
          </a:prstGeom>
        </p:spPr>
      </p:pic>
      <p:pic>
        <p:nvPicPr>
          <p:cNvPr id="7" name="Picture 6">
            <a:extLst>
              <a:ext uri="{FF2B5EF4-FFF2-40B4-BE49-F238E27FC236}">
                <a16:creationId xmlns:a16="http://schemas.microsoft.com/office/drawing/2014/main" id="{2151C626-D0DC-07B8-67CE-1950D6B4530E}"/>
              </a:ext>
            </a:extLst>
          </p:cNvPr>
          <p:cNvPicPr>
            <a:picLocks noChangeAspect="1"/>
          </p:cNvPicPr>
          <p:nvPr/>
        </p:nvPicPr>
        <p:blipFill>
          <a:blip r:embed="rId4"/>
          <a:stretch>
            <a:fillRect/>
          </a:stretch>
        </p:blipFill>
        <p:spPr>
          <a:xfrm>
            <a:off x="14098587" y="2622822"/>
            <a:ext cx="7772400" cy="5667576"/>
          </a:xfrm>
          <a:prstGeom prst="rect">
            <a:avLst/>
          </a:prstGeom>
        </p:spPr>
      </p:pic>
      <p:pic>
        <p:nvPicPr>
          <p:cNvPr id="8" name="Picture 7">
            <a:extLst>
              <a:ext uri="{FF2B5EF4-FFF2-40B4-BE49-F238E27FC236}">
                <a16:creationId xmlns:a16="http://schemas.microsoft.com/office/drawing/2014/main" id="{DCD41A5E-ECD5-1D4C-5D86-73DF7AD95644}"/>
              </a:ext>
            </a:extLst>
          </p:cNvPr>
          <p:cNvPicPr>
            <a:picLocks noChangeAspect="1"/>
          </p:cNvPicPr>
          <p:nvPr/>
        </p:nvPicPr>
        <p:blipFill>
          <a:blip r:embed="rId5"/>
          <a:stretch>
            <a:fillRect/>
          </a:stretch>
        </p:blipFill>
        <p:spPr>
          <a:xfrm>
            <a:off x="14098587" y="8364936"/>
            <a:ext cx="7772400" cy="4690386"/>
          </a:xfrm>
          <a:prstGeom prst="rect">
            <a:avLst/>
          </a:prstGeom>
        </p:spPr>
      </p:pic>
      <p:sp>
        <p:nvSpPr>
          <p:cNvPr id="12" name="Rounded Rectangular Callout 11">
            <a:extLst>
              <a:ext uri="{FF2B5EF4-FFF2-40B4-BE49-F238E27FC236}">
                <a16:creationId xmlns:a16="http://schemas.microsoft.com/office/drawing/2014/main" id="{3233B26D-C5E7-1217-FEA1-3309BEF8259B}"/>
              </a:ext>
            </a:extLst>
          </p:cNvPr>
          <p:cNvSpPr/>
          <p:nvPr/>
        </p:nvSpPr>
        <p:spPr>
          <a:xfrm>
            <a:off x="3559174" y="11083355"/>
            <a:ext cx="7086600" cy="1143741"/>
          </a:xfrm>
          <a:prstGeom prst="wedgeRoundRectCallout">
            <a:avLst>
              <a:gd name="adj1" fmla="val 97403"/>
              <a:gd name="adj2" fmla="val 11187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Backing storage for all the linked lists (pairs of next/</a:t>
            </a:r>
            <a:r>
              <a:rPr lang="en-US" sz="2800" dirty="0" err="1">
                <a:solidFill>
                  <a:schemeClr val="tx1"/>
                </a:solidFill>
              </a:rPr>
              <a:t>prev</a:t>
            </a:r>
            <a:r>
              <a:rPr lang="en-US" sz="2800" dirty="0">
                <a:solidFill>
                  <a:schemeClr val="tx1"/>
                </a:solidFill>
              </a:rPr>
              <a:t> injective functions) of a given type </a:t>
            </a:r>
          </a:p>
        </p:txBody>
      </p:sp>
      <p:sp>
        <p:nvSpPr>
          <p:cNvPr id="11" name="Rounded Rectangular Callout 10">
            <a:extLst>
              <a:ext uri="{FF2B5EF4-FFF2-40B4-BE49-F238E27FC236}">
                <a16:creationId xmlns:a16="http://schemas.microsoft.com/office/drawing/2014/main" id="{D3922A41-AF47-8B53-E19B-306F87E2A1B0}"/>
              </a:ext>
            </a:extLst>
          </p:cNvPr>
          <p:cNvSpPr/>
          <p:nvPr/>
        </p:nvSpPr>
        <p:spPr>
          <a:xfrm>
            <a:off x="3560761" y="11083355"/>
            <a:ext cx="7086600" cy="1143741"/>
          </a:xfrm>
          <a:prstGeom prst="wedgeRoundRectCallout">
            <a:avLst>
              <a:gd name="adj1" fmla="val -16882"/>
              <a:gd name="adj2" fmla="val -23075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Backing storage for all the linked lists (pairs of “next/</a:t>
            </a:r>
            <a:r>
              <a:rPr lang="en-US" sz="2800" dirty="0" err="1">
                <a:solidFill>
                  <a:schemeClr val="tx1"/>
                </a:solidFill>
              </a:rPr>
              <a:t>prev</a:t>
            </a:r>
            <a:r>
              <a:rPr lang="en-US" sz="2800" dirty="0">
                <a:solidFill>
                  <a:schemeClr val="tx1"/>
                </a:solidFill>
              </a:rPr>
              <a:t>” injective functions) of a given type </a:t>
            </a:r>
          </a:p>
        </p:txBody>
      </p:sp>
    </p:spTree>
    <p:extLst>
      <p:ext uri="{BB962C8B-B14F-4D97-AF65-F5344CB8AC3E}">
        <p14:creationId xmlns:p14="http://schemas.microsoft.com/office/powerpoint/2010/main" val="3093517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Z Specification Highlights (10)</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44050" y="2192156"/>
            <a:ext cx="21859545" cy="11295244"/>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operations: </a:t>
            </a:r>
          </a:p>
        </p:txBody>
      </p:sp>
      <p:pic>
        <p:nvPicPr>
          <p:cNvPr id="7" name="Picture 6">
            <a:extLst>
              <a:ext uri="{FF2B5EF4-FFF2-40B4-BE49-F238E27FC236}">
                <a16:creationId xmlns:a16="http://schemas.microsoft.com/office/drawing/2014/main" id="{84A6A1F2-812D-C49C-E38E-C9B70848CFD1}"/>
              </a:ext>
            </a:extLst>
          </p:cNvPr>
          <p:cNvPicPr>
            <a:picLocks noChangeAspect="1"/>
          </p:cNvPicPr>
          <p:nvPr/>
        </p:nvPicPr>
        <p:blipFill>
          <a:blip r:embed="rId3"/>
          <a:stretch>
            <a:fillRect/>
          </a:stretch>
        </p:blipFill>
        <p:spPr>
          <a:xfrm>
            <a:off x="12650787" y="3962400"/>
            <a:ext cx="9406472" cy="6474954"/>
          </a:xfrm>
          <a:prstGeom prst="rect">
            <a:avLst/>
          </a:prstGeom>
        </p:spPr>
      </p:pic>
      <p:pic>
        <p:nvPicPr>
          <p:cNvPr id="8" name="Picture 7">
            <a:extLst>
              <a:ext uri="{FF2B5EF4-FFF2-40B4-BE49-F238E27FC236}">
                <a16:creationId xmlns:a16="http://schemas.microsoft.com/office/drawing/2014/main" id="{406A6280-AD9B-72F9-0EF9-DDAE05BDB433}"/>
              </a:ext>
            </a:extLst>
          </p:cNvPr>
          <p:cNvPicPr>
            <a:picLocks noChangeAspect="1"/>
          </p:cNvPicPr>
          <p:nvPr/>
        </p:nvPicPr>
        <p:blipFill>
          <a:blip r:embed="rId4"/>
          <a:stretch>
            <a:fillRect/>
          </a:stretch>
        </p:blipFill>
        <p:spPr>
          <a:xfrm>
            <a:off x="565244" y="3354846"/>
            <a:ext cx="11608578" cy="8168998"/>
          </a:xfrm>
          <a:prstGeom prst="rect">
            <a:avLst/>
          </a:prstGeom>
        </p:spPr>
      </p:pic>
    </p:spTree>
    <p:extLst>
      <p:ext uri="{BB962C8B-B14F-4D97-AF65-F5344CB8AC3E}">
        <p14:creationId xmlns:p14="http://schemas.microsoft.com/office/powerpoint/2010/main" val="211744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HIRTOS Thread Scheduler Initialization</a:t>
            </a:r>
          </a:p>
        </p:txBody>
      </p:sp>
      <p:pic>
        <p:nvPicPr>
          <p:cNvPr id="2" name="Picture 1">
            <a:extLst>
              <a:ext uri="{FF2B5EF4-FFF2-40B4-BE49-F238E27FC236}">
                <a16:creationId xmlns:a16="http://schemas.microsoft.com/office/drawing/2014/main" id="{8F5687C0-14E6-8A6E-A6F8-3EDB0ECB39AC}"/>
              </a:ext>
            </a:extLst>
          </p:cNvPr>
          <p:cNvPicPr>
            <a:picLocks noChangeAspect="1"/>
          </p:cNvPicPr>
          <p:nvPr/>
        </p:nvPicPr>
        <p:blipFill>
          <a:blip r:embed="rId3"/>
          <a:stretch>
            <a:fillRect/>
          </a:stretch>
        </p:blipFill>
        <p:spPr>
          <a:xfrm>
            <a:off x="3201987" y="4115477"/>
            <a:ext cx="16952423" cy="9067864"/>
          </a:xfrm>
          <a:prstGeom prst="rect">
            <a:avLst/>
          </a:prstGeom>
        </p:spPr>
      </p:pic>
    </p:spTree>
    <p:extLst>
      <p:ext uri="{BB962C8B-B14F-4D97-AF65-F5344CB8AC3E}">
        <p14:creationId xmlns:p14="http://schemas.microsoft.com/office/powerpoint/2010/main" val="281263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HIRTOS Thread Scheduler Initialization (cont.)</a:t>
            </a:r>
          </a:p>
        </p:txBody>
      </p:sp>
      <p:pic>
        <p:nvPicPr>
          <p:cNvPr id="3" name="Picture 2">
            <a:extLst>
              <a:ext uri="{FF2B5EF4-FFF2-40B4-BE49-F238E27FC236}">
                <a16:creationId xmlns:a16="http://schemas.microsoft.com/office/drawing/2014/main" id="{C89F6A67-B41F-992D-27A6-0C7A7B0E0FF8}"/>
              </a:ext>
            </a:extLst>
          </p:cNvPr>
          <p:cNvPicPr>
            <a:picLocks noChangeAspect="1"/>
          </p:cNvPicPr>
          <p:nvPr/>
        </p:nvPicPr>
        <p:blipFill>
          <a:blip r:embed="rId3"/>
          <a:stretch>
            <a:fillRect/>
          </a:stretch>
        </p:blipFill>
        <p:spPr>
          <a:xfrm>
            <a:off x="3414616" y="4419600"/>
            <a:ext cx="17587583" cy="7543800"/>
          </a:xfrm>
          <a:prstGeom prst="rect">
            <a:avLst/>
          </a:prstGeom>
        </p:spPr>
      </p:pic>
      <p:sp>
        <p:nvSpPr>
          <p:cNvPr id="7" name="Rounded Rectangular Callout 6">
            <a:extLst>
              <a:ext uri="{FF2B5EF4-FFF2-40B4-BE49-F238E27FC236}">
                <a16:creationId xmlns:a16="http://schemas.microsoft.com/office/drawing/2014/main" id="{260BE594-90CB-B15D-230D-68B4E734A28B}"/>
              </a:ext>
            </a:extLst>
          </p:cNvPr>
          <p:cNvSpPr/>
          <p:nvPr/>
        </p:nvSpPr>
        <p:spPr>
          <a:xfrm>
            <a:off x="10136187" y="9372600"/>
            <a:ext cx="2867394" cy="823320"/>
          </a:xfrm>
          <a:prstGeom prst="wedgeRoundRectCallout">
            <a:avLst>
              <a:gd name="adj1" fmla="val 93956"/>
              <a:gd name="adj2" fmla="val -16042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highest priority</a:t>
            </a:r>
          </a:p>
          <a:p>
            <a:pPr algn="ctr"/>
            <a:r>
              <a:rPr lang="en-US" sz="2400" dirty="0">
                <a:solidFill>
                  <a:schemeClr val="tx1"/>
                </a:solidFill>
              </a:rPr>
              <a:t> thread stack</a:t>
            </a:r>
          </a:p>
        </p:txBody>
      </p:sp>
    </p:spTree>
    <p:extLst>
      <p:ext uri="{BB962C8B-B14F-4D97-AF65-F5344CB8AC3E}">
        <p14:creationId xmlns:p14="http://schemas.microsoft.com/office/powerpoint/2010/main" val="3930263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a:t>
            </a:r>
          </a:p>
          <a:p>
            <a:pPr lvl="1"/>
            <a:r>
              <a:rPr lang="en-US" dirty="0">
                <a:cs typeface="Helvetica" pitchFamily="34" charset="0"/>
              </a:rPr>
              <a:t>In </a:t>
            </a:r>
            <a:r>
              <a:rPr lang="en-US" dirty="0" err="1">
                <a:cs typeface="Helvetica" pitchFamily="34" charset="0"/>
              </a:rPr>
              <a:t>HiRTOS</a:t>
            </a:r>
            <a:r>
              <a:rPr lang="en-US" dirty="0">
                <a:cs typeface="Helvetica" pitchFamily="34" charset="0"/>
              </a:rPr>
              <a:t>, thread preemption is implemented by invoking the thread scheduler on the exit path of an interrupt handler.</a:t>
            </a:r>
          </a:p>
          <a:p>
            <a:pPr lvl="1"/>
            <a:r>
              <a:rPr lang="en-US" dirty="0">
                <a:cs typeface="Helvetica" pitchFamily="34" charset="0"/>
              </a:rPr>
              <a:t>When an interrupt fires while a thread is running, the executing thread’s CPU context is saved on thread’s stack by the interrupt handler prolog. </a:t>
            </a:r>
          </a:p>
          <a:p>
            <a:pPr lvl="1"/>
            <a:r>
              <a:rPr lang="en-US" dirty="0">
                <a:cs typeface="Helvetica" pitchFamily="34" charset="0"/>
              </a:rPr>
              <a:t>Then, before calling the actual interrupt handler, the stack is switched to the interrupt handling stack. After the interrupt handler returns, the interrupt handler epilog invokes the </a:t>
            </a:r>
            <a:r>
              <a:rPr lang="en-US" dirty="0" err="1">
                <a:cs typeface="Helvetica" pitchFamily="34" charset="0"/>
              </a:rPr>
              <a:t>HiRTOS</a:t>
            </a:r>
            <a:r>
              <a:rPr lang="en-US" dirty="0">
                <a:cs typeface="Helvetica" pitchFamily="34" charset="0"/>
              </a:rPr>
              <a:t> thread scheduler, to select the highest</a:t>
            </a:r>
          </a:p>
          <a:p>
            <a:pPr lvl="1"/>
            <a:r>
              <a:rPr lang="en-US" dirty="0">
                <a:cs typeface="Helvetica" pitchFamily="34" charset="0"/>
              </a:rPr>
              <a:t>priority runnable thread. </a:t>
            </a:r>
          </a:p>
          <a:p>
            <a:pPr lvl="1"/>
            <a:r>
              <a:rPr lang="en-US" dirty="0">
                <a:cs typeface="Helvetica" pitchFamily="34" charset="0"/>
              </a:rPr>
              <a:t>Then, if the newly selected thread is different from the one that was running before the interrupt, the extended context of the old thread is saved and the extended context of the new thread is restored.</a:t>
            </a:r>
          </a:p>
        </p:txBody>
      </p:sp>
    </p:spTree>
    <p:extLst>
      <p:ext uri="{BB962C8B-B14F-4D97-AF65-F5344CB8AC3E}">
        <p14:creationId xmlns:p14="http://schemas.microsoft.com/office/powerpoint/2010/main" val="1869198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368A62-D466-6D50-1DDC-C583FCA5F6C8}"/>
              </a:ext>
            </a:extLst>
          </p:cNvPr>
          <p:cNvPicPr>
            <a:picLocks noChangeAspect="1"/>
          </p:cNvPicPr>
          <p:nvPr/>
        </p:nvPicPr>
        <p:blipFill>
          <a:blip r:embed="rId3"/>
          <a:stretch>
            <a:fillRect/>
          </a:stretch>
        </p:blipFill>
        <p:spPr>
          <a:xfrm>
            <a:off x="5335587" y="3789855"/>
            <a:ext cx="14325600" cy="9467783"/>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(4)</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 (cont.)</a:t>
            </a:r>
          </a:p>
        </p:txBody>
      </p:sp>
      <p:sp>
        <p:nvSpPr>
          <p:cNvPr id="3" name="Rounded Rectangular Callout 2">
            <a:extLst>
              <a:ext uri="{FF2B5EF4-FFF2-40B4-BE49-F238E27FC236}">
                <a16:creationId xmlns:a16="http://schemas.microsoft.com/office/drawing/2014/main" id="{1BC720EF-D814-5C32-BBB4-2EB4EB41F9D2}"/>
              </a:ext>
            </a:extLst>
          </p:cNvPr>
          <p:cNvSpPr/>
          <p:nvPr/>
        </p:nvSpPr>
        <p:spPr>
          <a:xfrm>
            <a:off x="2720790" y="6877617"/>
            <a:ext cx="3400794" cy="681070"/>
          </a:xfrm>
          <a:prstGeom prst="wedgeRoundRectCallout">
            <a:avLst>
              <a:gd name="adj1" fmla="val 136209"/>
              <a:gd name="adj2" fmla="val -36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Interrupt handling stack</a:t>
            </a:r>
          </a:p>
        </p:txBody>
      </p:sp>
      <p:sp>
        <p:nvSpPr>
          <p:cNvPr id="6" name="Rounded Rectangular Callout 5">
            <a:extLst>
              <a:ext uri="{FF2B5EF4-FFF2-40B4-BE49-F238E27FC236}">
                <a16:creationId xmlns:a16="http://schemas.microsoft.com/office/drawing/2014/main" id="{73066426-6275-3FFC-8D94-3072C144B189}"/>
              </a:ext>
            </a:extLst>
          </p:cNvPr>
          <p:cNvSpPr/>
          <p:nvPr/>
        </p:nvSpPr>
        <p:spPr>
          <a:xfrm>
            <a:off x="3506787" y="9939208"/>
            <a:ext cx="2567522" cy="681070"/>
          </a:xfrm>
          <a:prstGeom prst="wedgeRoundRectCallout">
            <a:avLst>
              <a:gd name="adj1" fmla="val 165650"/>
              <a:gd name="adj2" fmla="val -863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New thread stack</a:t>
            </a:r>
          </a:p>
        </p:txBody>
      </p:sp>
    </p:spTree>
    <p:extLst>
      <p:ext uri="{BB962C8B-B14F-4D97-AF65-F5344CB8AC3E}">
        <p14:creationId xmlns:p14="http://schemas.microsoft.com/office/powerpoint/2010/main" val="4187782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(5)</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Asynchronous Thread Context Switch (cont.)</a:t>
            </a:r>
          </a:p>
        </p:txBody>
      </p:sp>
      <p:pic>
        <p:nvPicPr>
          <p:cNvPr id="7" name="Picture 6">
            <a:extLst>
              <a:ext uri="{FF2B5EF4-FFF2-40B4-BE49-F238E27FC236}">
                <a16:creationId xmlns:a16="http://schemas.microsoft.com/office/drawing/2014/main" id="{3D833C80-50A0-4123-FDF4-70088AA01367}"/>
              </a:ext>
            </a:extLst>
          </p:cNvPr>
          <p:cNvPicPr>
            <a:picLocks noChangeAspect="1"/>
          </p:cNvPicPr>
          <p:nvPr/>
        </p:nvPicPr>
        <p:blipFill>
          <a:blip r:embed="rId3"/>
          <a:stretch>
            <a:fillRect/>
          </a:stretch>
        </p:blipFill>
        <p:spPr>
          <a:xfrm>
            <a:off x="2135187" y="4039341"/>
            <a:ext cx="20504729" cy="9144000"/>
          </a:xfrm>
          <a:prstGeom prst="rect">
            <a:avLst/>
          </a:prstGeom>
        </p:spPr>
      </p:pic>
    </p:spTree>
    <p:extLst>
      <p:ext uri="{BB962C8B-B14F-4D97-AF65-F5344CB8AC3E}">
        <p14:creationId xmlns:p14="http://schemas.microsoft.com/office/powerpoint/2010/main" val="2184412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(6)</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2421151" cy="10135341"/>
          </a:xfrm>
        </p:spPr>
        <p:txBody>
          <a:bodyPr vert="horz" lIns="243840" tIns="121920" rIns="243840" bIns="121920" rtlCol="0" anchor="t">
            <a:normAutofit lnSpcReduction="100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In </a:t>
            </a:r>
            <a:r>
              <a:rPr lang="en-US" dirty="0" err="1">
                <a:cs typeface="Helvetica" pitchFamily="34" charset="0"/>
              </a:rPr>
              <a:t>HiRTOS</a:t>
            </a:r>
            <a:r>
              <a:rPr lang="en-US" dirty="0">
                <a:cs typeface="Helvetica" pitchFamily="34" charset="0"/>
              </a:rPr>
              <a:t>, a synchronous thread context switch occurs when:</a:t>
            </a:r>
          </a:p>
          <a:p>
            <a:pPr lvl="1"/>
            <a:r>
              <a:rPr lang="en-US" sz="5400" dirty="0">
                <a:cs typeface="Helvetica" pitchFamily="34" charset="0"/>
              </a:rPr>
              <a:t>A thread calls </a:t>
            </a:r>
            <a:r>
              <a:rPr lang="en-US" sz="5400" dirty="0" err="1">
                <a:cs typeface="Helvetica" pitchFamily="34" charset="0"/>
              </a:rPr>
              <a:t>HiRTOS.Condvar.Wait</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HiRTOS.Condvar.Signal</a:t>
            </a:r>
            <a:r>
              <a:rPr lang="en-US" sz="5400" dirty="0">
                <a:cs typeface="Helvetica" pitchFamily="34" charset="0"/>
              </a:rPr>
              <a:t> or </a:t>
            </a:r>
            <a:r>
              <a:rPr lang="en-US" sz="5400" dirty="0" err="1">
                <a:cs typeface="Helvetica" pitchFamily="34" charset="0"/>
              </a:rPr>
              <a:t>HiRTOS.Condvar.Broadcast</a:t>
            </a:r>
            <a:r>
              <a:rPr lang="en-US" sz="5400" dirty="0">
                <a:cs typeface="Helvetica" pitchFamily="34" charset="0"/>
              </a:rPr>
              <a:t>,</a:t>
            </a:r>
          </a:p>
          <a:p>
            <a:pPr marL="914400" lvl="1" indent="0">
              <a:buNone/>
            </a:pPr>
            <a:r>
              <a:rPr lang="en-US" sz="5400" dirty="0">
                <a:cs typeface="Helvetica" pitchFamily="34" charset="0"/>
              </a:rPr>
              <a:t>   and there are threads waiting on the condition variable</a:t>
            </a:r>
          </a:p>
          <a:p>
            <a:pPr lvl="1"/>
            <a:r>
              <a:rPr lang="en-US" sz="5400" dirty="0">
                <a:cs typeface="Helvetica" pitchFamily="34" charset="0"/>
              </a:rPr>
              <a:t>A thread calls </a:t>
            </a:r>
            <a:r>
              <a:rPr lang="en-US" sz="5400" dirty="0" err="1">
                <a:cs typeface="Helvetica" pitchFamily="34" charset="0"/>
              </a:rPr>
              <a:t>HiRTOS.Mutex.Acquire</a:t>
            </a:r>
            <a:r>
              <a:rPr lang="en-US" sz="5400" dirty="0">
                <a:cs typeface="Helvetica" pitchFamily="34" charset="0"/>
              </a:rPr>
              <a:t> and the mutex is not available</a:t>
            </a:r>
          </a:p>
          <a:p>
            <a:pPr lvl="1"/>
            <a:r>
              <a:rPr lang="en-US" sz="5400" dirty="0">
                <a:cs typeface="Helvetica" pitchFamily="34" charset="0"/>
              </a:rPr>
              <a:t>A thread calls </a:t>
            </a:r>
            <a:r>
              <a:rPr lang="en-US" sz="5400" dirty="0" err="1">
                <a:cs typeface="Helvetica" pitchFamily="34" charset="0"/>
              </a:rPr>
              <a:t>HiRTOs.Mutex.Release</a:t>
            </a:r>
            <a:r>
              <a:rPr lang="en-US" sz="5400" dirty="0">
                <a:cs typeface="Helvetica" pitchFamily="34" charset="0"/>
              </a:rPr>
              <a:t> and there are threads waiting to</a:t>
            </a:r>
          </a:p>
          <a:p>
            <a:pPr marL="914400" lvl="1" indent="0">
              <a:buNone/>
            </a:pPr>
            <a:r>
              <a:rPr lang="en-US" sz="5400" dirty="0">
                <a:cs typeface="Helvetica" pitchFamily="34" charset="0"/>
              </a:rPr>
              <a:t>   acquire the mutex</a:t>
            </a:r>
          </a:p>
          <a:p>
            <a:pPr lvl="1"/>
            <a:r>
              <a:rPr lang="en-US" sz="5400" dirty="0">
                <a:cs typeface="Helvetica" pitchFamily="34" charset="0"/>
              </a:rPr>
              <a:t>A thread calls </a:t>
            </a:r>
            <a:r>
              <a:rPr lang="en-US" sz="5400" dirty="0" err="1">
                <a:cs typeface="Helvetica" pitchFamily="34" charset="0"/>
              </a:rPr>
              <a:t>HiRTOS.Thread.Thread_Delay_Until</a:t>
            </a:r>
            <a:r>
              <a:rPr lang="en-US" sz="5400" dirty="0">
                <a:cs typeface="Helvetica" pitchFamily="34" charset="0"/>
              </a:rPr>
              <a:t> (which calls </a:t>
            </a:r>
            <a:r>
              <a:rPr lang="en-US" sz="5400" dirty="0" err="1">
                <a:cs typeface="Helvetica" pitchFamily="34" charset="0"/>
              </a:rPr>
              <a:t>HiRTOS.Condvar.Wait</a:t>
            </a:r>
            <a:r>
              <a:rPr lang="en-US" sz="5400" dirty="0">
                <a:cs typeface="Helvetica" pitchFamily="34" charset="0"/>
              </a:rPr>
              <a:t>)</a:t>
            </a:r>
          </a:p>
          <a:p>
            <a:pPr lvl="1"/>
            <a:r>
              <a:rPr lang="en-US" sz="5400" dirty="0">
                <a:cs typeface="Helvetica" pitchFamily="34" charset="0"/>
              </a:rPr>
              <a:t>A thread calls </a:t>
            </a:r>
            <a:r>
              <a:rPr lang="en-US" sz="5400" dirty="0" err="1">
                <a:cs typeface="Helvetica" pitchFamily="34" charset="0"/>
              </a:rPr>
              <a:t>HiRTOS.Thread.Suspend_Current_Thread</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HiRTOS.Thread.Resume_Thread</a:t>
            </a:r>
            <a:endParaRPr lang="en-US" sz="5400" dirty="0">
              <a:cs typeface="Helvetica" pitchFamily="34" charset="0"/>
            </a:endParaRPr>
          </a:p>
          <a:p>
            <a:pPr lvl="1"/>
            <a:r>
              <a:rPr lang="en-US" sz="5400" dirty="0">
                <a:cs typeface="Helvetica" pitchFamily="34" charset="0"/>
              </a:rPr>
              <a:t>A thread calls </a:t>
            </a:r>
            <a:r>
              <a:rPr lang="en-US" sz="5400" dirty="0" err="1">
                <a:cs typeface="Helvetica" pitchFamily="34" charset="0"/>
              </a:rPr>
              <a:t>HiRTOS.Restore_Atomic_Level</a:t>
            </a:r>
            <a:r>
              <a:rPr lang="en-US" sz="5400" dirty="0">
                <a:cs typeface="Helvetica" pitchFamily="34" charset="0"/>
              </a:rPr>
              <a:t> and the old atomic level is </a:t>
            </a:r>
            <a:r>
              <a:rPr lang="en-US" sz="5400" dirty="0" err="1">
                <a:cs typeface="Helvetica" pitchFamily="34" charset="0"/>
              </a:rPr>
              <a:t>Atomic_Level_None</a:t>
            </a:r>
            <a:endParaRPr lang="en-US" sz="5400" dirty="0">
              <a:cs typeface="Helvetica" pitchFamily="34" charset="0"/>
            </a:endParaRPr>
          </a:p>
        </p:txBody>
      </p:sp>
    </p:spTree>
    <p:extLst>
      <p:ext uri="{BB962C8B-B14F-4D97-AF65-F5344CB8AC3E}">
        <p14:creationId xmlns:p14="http://schemas.microsoft.com/office/powerpoint/2010/main" val="936315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(7)</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Synchronous Thread Context Switch </a:t>
            </a:r>
          </a:p>
        </p:txBody>
      </p:sp>
      <p:pic>
        <p:nvPicPr>
          <p:cNvPr id="6" name="Picture 5">
            <a:extLst>
              <a:ext uri="{FF2B5EF4-FFF2-40B4-BE49-F238E27FC236}">
                <a16:creationId xmlns:a16="http://schemas.microsoft.com/office/drawing/2014/main" id="{3F2F7314-6852-31E0-4C97-D560D4679449}"/>
              </a:ext>
            </a:extLst>
          </p:cNvPr>
          <p:cNvPicPr>
            <a:picLocks noChangeAspect="1"/>
          </p:cNvPicPr>
          <p:nvPr/>
        </p:nvPicPr>
        <p:blipFill>
          <a:blip r:embed="rId3"/>
          <a:stretch>
            <a:fillRect/>
          </a:stretch>
        </p:blipFill>
        <p:spPr>
          <a:xfrm>
            <a:off x="3049587" y="4343400"/>
            <a:ext cx="19748918" cy="7664742"/>
          </a:xfrm>
          <a:prstGeom prst="rect">
            <a:avLst/>
          </a:prstGeom>
        </p:spPr>
      </p:pic>
    </p:spTree>
    <p:extLst>
      <p:ext uri="{BB962C8B-B14F-4D97-AF65-F5344CB8AC3E}">
        <p14:creationId xmlns:p14="http://schemas.microsoft.com/office/powerpoint/2010/main" val="2943976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7D91E95-9F14-5B72-4A3D-52901FDDE28D}"/>
              </a:ext>
            </a:extLst>
          </p:cNvPr>
          <p:cNvPicPr>
            <a:picLocks noChangeAspect="1"/>
          </p:cNvPicPr>
          <p:nvPr/>
        </p:nvPicPr>
        <p:blipFill>
          <a:blip r:embed="rId3"/>
          <a:stretch>
            <a:fillRect/>
          </a:stretch>
        </p:blipFill>
        <p:spPr>
          <a:xfrm>
            <a:off x="4040187" y="3988894"/>
            <a:ext cx="16306800" cy="9224927"/>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(8)</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Synchronous Thread Context Switch (cont.) </a:t>
            </a:r>
          </a:p>
        </p:txBody>
      </p:sp>
      <p:sp>
        <p:nvSpPr>
          <p:cNvPr id="6" name="Rounded Rectangular Callout 5">
            <a:extLst>
              <a:ext uri="{FF2B5EF4-FFF2-40B4-BE49-F238E27FC236}">
                <a16:creationId xmlns:a16="http://schemas.microsoft.com/office/drawing/2014/main" id="{FE3AAF2C-F1ED-DC36-3835-B51C26019B77}"/>
              </a:ext>
            </a:extLst>
          </p:cNvPr>
          <p:cNvSpPr/>
          <p:nvPr/>
        </p:nvSpPr>
        <p:spPr>
          <a:xfrm>
            <a:off x="6707187" y="7103272"/>
            <a:ext cx="3248394" cy="545027"/>
          </a:xfrm>
          <a:prstGeom prst="wedgeRoundRectCallout">
            <a:avLst>
              <a:gd name="adj1" fmla="val 84767"/>
              <a:gd name="adj2" fmla="val -824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Interrupt handling stack</a:t>
            </a:r>
          </a:p>
        </p:txBody>
      </p:sp>
      <p:sp>
        <p:nvSpPr>
          <p:cNvPr id="7" name="Rounded Rectangular Callout 6">
            <a:extLst>
              <a:ext uri="{FF2B5EF4-FFF2-40B4-BE49-F238E27FC236}">
                <a16:creationId xmlns:a16="http://schemas.microsoft.com/office/drawing/2014/main" id="{260BE594-90CB-B15D-230D-68B4E734A28B}"/>
              </a:ext>
            </a:extLst>
          </p:cNvPr>
          <p:cNvSpPr/>
          <p:nvPr/>
        </p:nvSpPr>
        <p:spPr>
          <a:xfrm>
            <a:off x="6959784" y="9500850"/>
            <a:ext cx="2743200" cy="545027"/>
          </a:xfrm>
          <a:prstGeom prst="wedgeRoundRectCallout">
            <a:avLst>
              <a:gd name="adj1" fmla="val 99391"/>
              <a:gd name="adj2" fmla="val -1871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New thread stack</a:t>
            </a:r>
          </a:p>
        </p:txBody>
      </p:sp>
    </p:spTree>
    <p:extLst>
      <p:ext uri="{BB962C8B-B14F-4D97-AF65-F5344CB8AC3E}">
        <p14:creationId xmlns:p14="http://schemas.microsoft.com/office/powerpoint/2010/main" val="2027787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cs typeface="Helvetica"/>
              </a:rPr>
              <a:t>Using TLA+ to Verify </a:t>
            </a:r>
            <a:r>
              <a:rPr lang="en-US" dirty="0" err="1">
                <a:latin typeface="Helvetica"/>
                <a:cs typeface="Helvetica"/>
              </a:rPr>
              <a:t>HiRTOS</a:t>
            </a:r>
            <a:r>
              <a:rPr lang="en-US" dirty="0">
                <a:latin typeface="Helvetica"/>
                <a:cs typeface="Helvetica"/>
              </a:rPr>
              <a:t> Design</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TLA+ is a mathematical language for modeling concurrent systems and distributed systems</a:t>
            </a:r>
          </a:p>
          <a:p>
            <a:pPr lvl="1"/>
            <a:r>
              <a:rPr lang="en-US" dirty="0">
                <a:latin typeface="Helvetica"/>
                <a:cs typeface="Helvetica"/>
              </a:rPr>
              <a:t>Like Z, it is based on set theory and first-order logic (but it is type-less)</a:t>
            </a:r>
          </a:p>
          <a:p>
            <a:pPr lvl="1"/>
            <a:r>
              <a:rPr lang="en-US" dirty="0">
                <a:latin typeface="Helvetica"/>
                <a:cs typeface="Helvetica"/>
              </a:rPr>
              <a:t>Unlike Z, it also uses temporal logic</a:t>
            </a:r>
          </a:p>
          <a:p>
            <a:pPr lvl="1"/>
            <a:r>
              <a:rPr lang="en-US" dirty="0">
                <a:latin typeface="Helvetica"/>
                <a:cs typeface="Helvetica"/>
              </a:rPr>
              <a:t>Safety invariants and liveness properties of a TLA+ model can be verified</a:t>
            </a:r>
          </a:p>
          <a:p>
            <a:pPr marL="914400" lvl="1" indent="0">
              <a:buNone/>
            </a:pPr>
            <a:r>
              <a:rPr lang="en-US" dirty="0">
                <a:latin typeface="Helvetica"/>
                <a:cs typeface="Helvetica"/>
              </a:rPr>
              <a:t>   using the TLC model checker</a:t>
            </a:r>
          </a:p>
          <a:p>
            <a:r>
              <a:rPr lang="en-US" dirty="0" err="1">
                <a:latin typeface="Helvetica"/>
                <a:cs typeface="Helvetica"/>
              </a:rPr>
              <a:t>PlusCal</a:t>
            </a:r>
            <a:r>
              <a:rPr lang="en-US" dirty="0">
                <a:latin typeface="Helvetica"/>
                <a:cs typeface="Helvetica"/>
              </a:rPr>
              <a:t> is a higher-level (procedural) modeling/specification language on top of TLA+</a:t>
            </a:r>
          </a:p>
          <a:p>
            <a:pPr lvl="1"/>
            <a:r>
              <a:rPr lang="en-US" dirty="0">
                <a:latin typeface="Helvetica"/>
                <a:cs typeface="Helvetica"/>
              </a:rPr>
              <a:t>A </a:t>
            </a:r>
            <a:r>
              <a:rPr lang="en-US" dirty="0" err="1">
                <a:latin typeface="Helvetica"/>
                <a:cs typeface="Helvetica"/>
              </a:rPr>
              <a:t>PlusCal</a:t>
            </a:r>
            <a:r>
              <a:rPr lang="en-US" dirty="0">
                <a:latin typeface="Helvetica"/>
                <a:cs typeface="Helvetica"/>
              </a:rPr>
              <a:t> model is “compiled” to an equivalent pure TLA+ model</a:t>
            </a:r>
          </a:p>
          <a:p>
            <a:r>
              <a:rPr lang="en-US" dirty="0">
                <a:latin typeface="Helvetica"/>
                <a:cs typeface="Helvetica"/>
              </a:rPr>
              <a:t>A TLA+/</a:t>
            </a:r>
            <a:r>
              <a:rPr lang="en-US" dirty="0" err="1">
                <a:latin typeface="Helvetica"/>
                <a:cs typeface="Helvetica"/>
              </a:rPr>
              <a:t>PlusCal</a:t>
            </a:r>
            <a:r>
              <a:rPr lang="en-US" dirty="0">
                <a:latin typeface="Helvetica"/>
                <a:cs typeface="Helvetica"/>
              </a:rPr>
              <a:t> model of the </a:t>
            </a:r>
            <a:r>
              <a:rPr lang="en-US" dirty="0" err="1">
                <a:latin typeface="Helvetica"/>
                <a:cs typeface="Helvetica"/>
              </a:rPr>
              <a:t>HiRTOS</a:t>
            </a:r>
            <a:r>
              <a:rPr lang="en-US" dirty="0">
                <a:latin typeface="Helvetica"/>
                <a:cs typeface="Helvetica"/>
              </a:rPr>
              <a:t> thread scheduler was created from the Z spec and the SPARK Ada code</a:t>
            </a:r>
          </a:p>
          <a:p>
            <a:pPr lvl="1"/>
            <a:r>
              <a:rPr lang="en-US" dirty="0">
                <a:latin typeface="Helvetica"/>
                <a:cs typeface="Helvetica"/>
              </a:rPr>
              <a:t>The TLA+ model was verified using the TLC model checker</a:t>
            </a:r>
          </a:p>
          <a:p>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95502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HiRTOS</a:t>
            </a:r>
            <a:r>
              <a:rPr lang="en-US" dirty="0">
                <a:cs typeface="Helvetica" pitchFamily="34" charset="0"/>
              </a:rPr>
              <a:t> TLA+/</a:t>
            </a:r>
            <a:r>
              <a:rPr lang="en-US" dirty="0" err="1">
                <a:cs typeface="Helvetica" pitchFamily="34" charset="0"/>
              </a:rPr>
              <a:t>PlusCal</a:t>
            </a:r>
            <a:r>
              <a:rPr lang="en-US" dirty="0">
                <a:cs typeface="Helvetica" pitchFamily="34" charset="0"/>
              </a:rPr>
              <a:t> modeling had different goals from Z modeling</a:t>
            </a:r>
          </a:p>
          <a:p>
            <a:r>
              <a:rPr lang="en-US" dirty="0">
                <a:cs typeface="Helvetica" pitchFamily="34" charset="0"/>
              </a:rPr>
              <a:t> Z modeling helped design/specify overall </a:t>
            </a:r>
            <a:r>
              <a:rPr lang="en-US" dirty="0" err="1">
                <a:cs typeface="Helvetica" pitchFamily="34" charset="0"/>
              </a:rPr>
              <a:t>HiRTOS</a:t>
            </a:r>
            <a:r>
              <a:rPr lang="en-US" dirty="0">
                <a:cs typeface="Helvetica" pitchFamily="34" charset="0"/>
              </a:rPr>
              <a:t> functionality:</a:t>
            </a:r>
          </a:p>
          <a:p>
            <a:pPr lvl="1"/>
            <a:r>
              <a:rPr lang="en-US" dirty="0">
                <a:cs typeface="Helvetica" pitchFamily="34" charset="0"/>
              </a:rPr>
              <a:t> </a:t>
            </a:r>
            <a:r>
              <a:rPr lang="en-US" dirty="0" err="1">
                <a:cs typeface="Helvetica" pitchFamily="34" charset="0"/>
              </a:rPr>
              <a:t>HiRTOS</a:t>
            </a:r>
            <a:r>
              <a:rPr lang="en-US" dirty="0">
                <a:cs typeface="Helvetica" pitchFamily="34" charset="0"/>
              </a:rPr>
              <a:t> internal data structures and their state invariants</a:t>
            </a:r>
          </a:p>
          <a:p>
            <a:pPr lvl="1"/>
            <a:r>
              <a:rPr lang="en-US" dirty="0" err="1">
                <a:cs typeface="Helvetica" pitchFamily="34" charset="0"/>
              </a:rPr>
              <a:t>HiRTOS</a:t>
            </a:r>
            <a:r>
              <a:rPr lang="en-US" dirty="0">
                <a:cs typeface="Helvetica" pitchFamily="34" charset="0"/>
              </a:rPr>
              <a:t> operations and their pre-conditions/post-conditions</a:t>
            </a:r>
          </a:p>
          <a:p>
            <a:pPr lvl="1"/>
            <a:r>
              <a:rPr lang="en-US" dirty="0">
                <a:cs typeface="Helvetica" pitchFamily="34" charset="0"/>
              </a:rPr>
              <a:t>Z modeling inspired Ada data structure design choices and API contracts</a:t>
            </a:r>
          </a:p>
          <a:p>
            <a:r>
              <a:rPr lang="en-US" dirty="0">
                <a:cs typeface="Helvetica" pitchFamily="34" charset="0"/>
              </a:rPr>
              <a:t>TLA+ modeling helped verify correctness of </a:t>
            </a:r>
            <a:r>
              <a:rPr lang="en-US" dirty="0" err="1">
                <a:cs typeface="Helvetica" pitchFamily="34" charset="0"/>
              </a:rPr>
              <a:t>HiRTOS</a:t>
            </a:r>
            <a:r>
              <a:rPr lang="en-US" dirty="0">
                <a:cs typeface="Helvetica" pitchFamily="34" charset="0"/>
              </a:rPr>
              <a:t> scheduler design:</a:t>
            </a:r>
          </a:p>
          <a:p>
            <a:pPr lvl="1"/>
            <a:r>
              <a:rPr lang="en-US" dirty="0">
                <a:cs typeface="Helvetica" pitchFamily="34" charset="0"/>
              </a:rPr>
              <a:t>Only a slice of </a:t>
            </a:r>
            <a:r>
              <a:rPr lang="en-US" dirty="0" err="1">
                <a:cs typeface="Helvetica" pitchFamily="34" charset="0"/>
              </a:rPr>
              <a:t>HiRTOS</a:t>
            </a:r>
            <a:r>
              <a:rPr lang="en-US" dirty="0">
                <a:cs typeface="Helvetica" pitchFamily="34" charset="0"/>
              </a:rPr>
              <a:t> functionality is modeled and the model is more like a test case of a simple multi-threaded program, rather than the whole RTOS</a:t>
            </a:r>
          </a:p>
          <a:p>
            <a:pPr lvl="1"/>
            <a:r>
              <a:rPr lang="en-US" dirty="0">
                <a:cs typeface="Helvetica" pitchFamily="34" charset="0"/>
              </a:rPr>
              <a:t> A mutex priority inheritance design flaw was uncovered during modeling</a:t>
            </a:r>
          </a:p>
          <a:p>
            <a:pPr lvl="1"/>
            <a:r>
              <a:rPr lang="en-US" dirty="0">
                <a:cs typeface="Helvetica" pitchFamily="34" charset="0"/>
              </a:rPr>
              <a:t>Complete TLA+/</a:t>
            </a:r>
            <a:r>
              <a:rPr lang="en-US" dirty="0" err="1">
                <a:cs typeface="Helvetica" pitchFamily="34" charset="0"/>
              </a:rPr>
              <a:t>PlusCal</a:t>
            </a:r>
            <a:r>
              <a:rPr lang="en-US" dirty="0">
                <a:cs typeface="Helvetica" pitchFamily="34" charset="0"/>
              </a:rPr>
              <a:t> model is 700 lines of text</a:t>
            </a:r>
          </a:p>
          <a:p>
            <a:pPr lvl="1"/>
            <a:r>
              <a:rPr lang="en-US" dirty="0">
                <a:cs typeface="Helvetica" pitchFamily="34" charset="0"/>
              </a:rPr>
              <a:t>TLC run of the </a:t>
            </a:r>
            <a:r>
              <a:rPr lang="en-US" dirty="0" err="1">
                <a:cs typeface="Helvetica" pitchFamily="34" charset="0"/>
              </a:rPr>
              <a:t>HiRTOS</a:t>
            </a:r>
            <a:r>
              <a:rPr lang="en-US" dirty="0">
                <a:cs typeface="Helvetica" pitchFamily="34" charset="0"/>
              </a:rPr>
              <a:t> scheduler model took 7+ hours to run to verify successfully 10 invariants and 3 liveness properties.</a:t>
            </a:r>
          </a:p>
        </p:txBody>
      </p:sp>
    </p:spTree>
    <p:extLst>
      <p:ext uri="{BB962C8B-B14F-4D97-AF65-F5344CB8AC3E}">
        <p14:creationId xmlns:p14="http://schemas.microsoft.com/office/powerpoint/2010/main" val="5236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5F1FF41-7EC0-AA8B-FA4D-DA796A9B5206}"/>
              </a:ext>
            </a:extLst>
          </p:cNvPr>
          <p:cNvPicPr>
            <a:picLocks noChangeAspect="1"/>
          </p:cNvPicPr>
          <p:nvPr/>
        </p:nvPicPr>
        <p:blipFill>
          <a:blip r:embed="rId3"/>
          <a:stretch>
            <a:fillRect/>
          </a:stretch>
        </p:blipFill>
        <p:spPr>
          <a:xfrm>
            <a:off x="2016296" y="4199933"/>
            <a:ext cx="11039098" cy="8754067"/>
          </a:xfrm>
          <a:prstGeom prst="rect">
            <a:avLst/>
          </a:prstGeom>
        </p:spPr>
      </p:pic>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TLA+ Declarations </a:t>
            </a:r>
          </a:p>
        </p:txBody>
      </p:sp>
      <p:sp>
        <p:nvSpPr>
          <p:cNvPr id="6" name="Rounded Rectangular Callout 5">
            <a:extLst>
              <a:ext uri="{FF2B5EF4-FFF2-40B4-BE49-F238E27FC236}">
                <a16:creationId xmlns:a16="http://schemas.microsoft.com/office/drawing/2014/main" id="{85091081-8043-FB13-51D5-7043953793B2}"/>
              </a:ext>
            </a:extLst>
          </p:cNvPr>
          <p:cNvSpPr/>
          <p:nvPr/>
        </p:nvSpPr>
        <p:spPr>
          <a:xfrm>
            <a:off x="10567792" y="4199934"/>
            <a:ext cx="4248294" cy="1221882"/>
          </a:xfrm>
          <a:prstGeom prst="wedgeRoundRectCallout">
            <a:avLst>
              <a:gd name="adj1" fmla="val -165311"/>
              <a:gd name="adj2" fmla="val 3695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Unspecified special value defined in TLC config as a “model value” </a:t>
            </a:r>
          </a:p>
        </p:txBody>
      </p:sp>
      <p:sp>
        <p:nvSpPr>
          <p:cNvPr id="7" name="Rounded Rectangular Callout 6">
            <a:extLst>
              <a:ext uri="{FF2B5EF4-FFF2-40B4-BE49-F238E27FC236}">
                <a16:creationId xmlns:a16="http://schemas.microsoft.com/office/drawing/2014/main" id="{8FB657C8-947D-B59D-A356-5B84EB87B493}"/>
              </a:ext>
            </a:extLst>
          </p:cNvPr>
          <p:cNvSpPr/>
          <p:nvPr/>
        </p:nvSpPr>
        <p:spPr>
          <a:xfrm>
            <a:off x="13793054" y="7192460"/>
            <a:ext cx="2733738" cy="785949"/>
          </a:xfrm>
          <a:prstGeom prst="wedgeRoundRectCallout">
            <a:avLst>
              <a:gd name="adj1" fmla="val -184974"/>
              <a:gd name="adj2" fmla="val 2698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Valid thread Ids</a:t>
            </a:r>
          </a:p>
        </p:txBody>
      </p:sp>
    </p:spTree>
    <p:extLst>
      <p:ext uri="{BB962C8B-B14F-4D97-AF65-F5344CB8AC3E}">
        <p14:creationId xmlns:p14="http://schemas.microsoft.com/office/powerpoint/2010/main" val="3593263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TLA+ Declarations (cont.) </a:t>
            </a:r>
          </a:p>
        </p:txBody>
      </p:sp>
      <p:pic>
        <p:nvPicPr>
          <p:cNvPr id="6" name="Picture 5">
            <a:extLst>
              <a:ext uri="{FF2B5EF4-FFF2-40B4-BE49-F238E27FC236}">
                <a16:creationId xmlns:a16="http://schemas.microsoft.com/office/drawing/2014/main" id="{1B89C49C-B204-56E3-0B6A-62FCA65369BF}"/>
              </a:ext>
            </a:extLst>
          </p:cNvPr>
          <p:cNvPicPr>
            <a:picLocks noChangeAspect="1"/>
          </p:cNvPicPr>
          <p:nvPr/>
        </p:nvPicPr>
        <p:blipFill>
          <a:blip r:embed="rId3"/>
          <a:stretch>
            <a:fillRect/>
          </a:stretch>
        </p:blipFill>
        <p:spPr>
          <a:xfrm>
            <a:off x="2885711" y="8814540"/>
            <a:ext cx="7277100" cy="4368800"/>
          </a:xfrm>
          <a:prstGeom prst="rect">
            <a:avLst/>
          </a:prstGeom>
        </p:spPr>
      </p:pic>
      <p:pic>
        <p:nvPicPr>
          <p:cNvPr id="11" name="Picture 10">
            <a:extLst>
              <a:ext uri="{FF2B5EF4-FFF2-40B4-BE49-F238E27FC236}">
                <a16:creationId xmlns:a16="http://schemas.microsoft.com/office/drawing/2014/main" id="{285F0807-2933-D203-52FD-20DD76BE4807}"/>
              </a:ext>
            </a:extLst>
          </p:cNvPr>
          <p:cNvPicPr>
            <a:picLocks noChangeAspect="1"/>
          </p:cNvPicPr>
          <p:nvPr/>
        </p:nvPicPr>
        <p:blipFill>
          <a:blip r:embed="rId4"/>
          <a:stretch>
            <a:fillRect/>
          </a:stretch>
        </p:blipFill>
        <p:spPr>
          <a:xfrm>
            <a:off x="2668587" y="3990703"/>
            <a:ext cx="11549895" cy="4594497"/>
          </a:xfrm>
          <a:prstGeom prst="rect">
            <a:avLst/>
          </a:prstGeom>
        </p:spPr>
      </p:pic>
      <p:sp>
        <p:nvSpPr>
          <p:cNvPr id="12" name="Rounded Rectangular Callout 11">
            <a:extLst>
              <a:ext uri="{FF2B5EF4-FFF2-40B4-BE49-F238E27FC236}">
                <a16:creationId xmlns:a16="http://schemas.microsoft.com/office/drawing/2014/main" id="{DDBD733A-7608-733D-3330-1298657A490D}"/>
              </a:ext>
            </a:extLst>
          </p:cNvPr>
          <p:cNvSpPr/>
          <p:nvPr/>
        </p:nvSpPr>
        <p:spPr>
          <a:xfrm>
            <a:off x="15118868" y="6731895"/>
            <a:ext cx="4466119" cy="1152257"/>
          </a:xfrm>
          <a:prstGeom prst="wedgeRoundRectCallout">
            <a:avLst>
              <a:gd name="adj1" fmla="val -268559"/>
              <a:gd name="adj2" fmla="val -2848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Simplified state of a per-CPU </a:t>
            </a:r>
            <a:r>
              <a:rPr lang="en-US" sz="2800" dirty="0" err="1">
                <a:solidFill>
                  <a:schemeClr val="tx1"/>
                </a:solidFill>
              </a:rPr>
              <a:t>HiRTOS</a:t>
            </a:r>
            <a:r>
              <a:rPr lang="en-US" sz="2800" dirty="0">
                <a:solidFill>
                  <a:schemeClr val="tx1"/>
                </a:solidFill>
              </a:rPr>
              <a:t> instance</a:t>
            </a:r>
          </a:p>
        </p:txBody>
      </p:sp>
      <p:sp>
        <p:nvSpPr>
          <p:cNvPr id="13" name="Rounded Rectangular Callout 12">
            <a:extLst>
              <a:ext uri="{FF2B5EF4-FFF2-40B4-BE49-F238E27FC236}">
                <a16:creationId xmlns:a16="http://schemas.microsoft.com/office/drawing/2014/main" id="{A0EC58E3-C1AE-7F4D-BC74-F996E9A9FF0B}"/>
              </a:ext>
            </a:extLst>
          </p:cNvPr>
          <p:cNvSpPr/>
          <p:nvPr/>
        </p:nvSpPr>
        <p:spPr>
          <a:xfrm>
            <a:off x="15142226" y="8834278"/>
            <a:ext cx="4466119" cy="1584797"/>
          </a:xfrm>
          <a:prstGeom prst="wedgeRoundRectCallout">
            <a:avLst>
              <a:gd name="adj1" fmla="val -236971"/>
              <a:gd name="adj2" fmla="val -3569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rPr>
              <a:t>HiRTOS</a:t>
            </a:r>
            <a:r>
              <a:rPr lang="en-US" sz="2800" dirty="0">
                <a:solidFill>
                  <a:schemeClr val="tx1"/>
                </a:solidFill>
              </a:rPr>
              <a:t> instance state before thread scheduler starts running</a:t>
            </a:r>
          </a:p>
        </p:txBody>
      </p:sp>
    </p:spTree>
    <p:extLst>
      <p:ext uri="{BB962C8B-B14F-4D97-AF65-F5344CB8AC3E}">
        <p14:creationId xmlns:p14="http://schemas.microsoft.com/office/powerpoint/2010/main" val="439492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(4)</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TLA+ Declarations (cont.) </a:t>
            </a:r>
          </a:p>
        </p:txBody>
      </p:sp>
      <p:pic>
        <p:nvPicPr>
          <p:cNvPr id="2" name="Picture 1">
            <a:extLst>
              <a:ext uri="{FF2B5EF4-FFF2-40B4-BE49-F238E27FC236}">
                <a16:creationId xmlns:a16="http://schemas.microsoft.com/office/drawing/2014/main" id="{F9160764-2809-922E-2C60-CE2BC08746CA}"/>
              </a:ext>
            </a:extLst>
          </p:cNvPr>
          <p:cNvPicPr>
            <a:picLocks noChangeAspect="1"/>
          </p:cNvPicPr>
          <p:nvPr/>
        </p:nvPicPr>
        <p:blipFill>
          <a:blip r:embed="rId3"/>
          <a:stretch>
            <a:fillRect/>
          </a:stretch>
        </p:blipFill>
        <p:spPr>
          <a:xfrm>
            <a:off x="2287587" y="3921984"/>
            <a:ext cx="8645276" cy="9097161"/>
          </a:xfrm>
          <a:prstGeom prst="rect">
            <a:avLst/>
          </a:prstGeom>
        </p:spPr>
      </p:pic>
      <p:grpSp>
        <p:nvGrpSpPr>
          <p:cNvPr id="11" name="Group 10">
            <a:extLst>
              <a:ext uri="{FF2B5EF4-FFF2-40B4-BE49-F238E27FC236}">
                <a16:creationId xmlns:a16="http://schemas.microsoft.com/office/drawing/2014/main" id="{E50C5511-25EF-227D-F3E8-C65634252C6F}"/>
              </a:ext>
            </a:extLst>
          </p:cNvPr>
          <p:cNvGrpSpPr/>
          <p:nvPr/>
        </p:nvGrpSpPr>
        <p:grpSpPr>
          <a:xfrm>
            <a:off x="12791020" y="3530600"/>
            <a:ext cx="8489004" cy="8509000"/>
            <a:chOff x="12791020" y="3530600"/>
            <a:chExt cx="8489004" cy="8509000"/>
          </a:xfrm>
        </p:grpSpPr>
        <p:pic>
          <p:nvPicPr>
            <p:cNvPr id="9" name="Picture 8">
              <a:extLst>
                <a:ext uri="{FF2B5EF4-FFF2-40B4-BE49-F238E27FC236}">
                  <a16:creationId xmlns:a16="http://schemas.microsoft.com/office/drawing/2014/main" id="{48A645A7-0672-40D6-7E80-A94CC0E3EFED}"/>
                </a:ext>
              </a:extLst>
            </p:cNvPr>
            <p:cNvPicPr>
              <a:picLocks noChangeAspect="1"/>
            </p:cNvPicPr>
            <p:nvPr/>
          </p:nvPicPr>
          <p:blipFill>
            <a:blip r:embed="rId4"/>
            <a:stretch>
              <a:fillRect/>
            </a:stretch>
          </p:blipFill>
          <p:spPr>
            <a:xfrm>
              <a:off x="12791020" y="6858000"/>
              <a:ext cx="8489004" cy="5181600"/>
            </a:xfrm>
            <a:prstGeom prst="rect">
              <a:avLst/>
            </a:prstGeom>
          </p:spPr>
        </p:pic>
        <p:pic>
          <p:nvPicPr>
            <p:cNvPr id="10" name="Picture 9">
              <a:extLst>
                <a:ext uri="{FF2B5EF4-FFF2-40B4-BE49-F238E27FC236}">
                  <a16:creationId xmlns:a16="http://schemas.microsoft.com/office/drawing/2014/main" id="{5070AE2B-4888-838E-16B5-387277ED0D10}"/>
                </a:ext>
              </a:extLst>
            </p:cNvPr>
            <p:cNvPicPr>
              <a:picLocks noChangeAspect="1"/>
            </p:cNvPicPr>
            <p:nvPr/>
          </p:nvPicPr>
          <p:blipFill>
            <a:blip r:embed="rId5"/>
            <a:stretch>
              <a:fillRect/>
            </a:stretch>
          </p:blipFill>
          <p:spPr>
            <a:xfrm>
              <a:off x="12814888" y="3530600"/>
              <a:ext cx="8378756" cy="3370402"/>
            </a:xfrm>
            <a:prstGeom prst="rect">
              <a:avLst/>
            </a:prstGeom>
          </p:spPr>
        </p:pic>
      </p:grpSp>
    </p:spTree>
    <p:extLst>
      <p:ext uri="{BB962C8B-B14F-4D97-AF65-F5344CB8AC3E}">
        <p14:creationId xmlns:p14="http://schemas.microsoft.com/office/powerpoint/2010/main" val="60842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(5)</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PlusCal</a:t>
            </a:r>
            <a:r>
              <a:rPr lang="en-US" dirty="0">
                <a:cs typeface="Helvetica" pitchFamily="34" charset="0"/>
              </a:rPr>
              <a:t> model </a:t>
            </a:r>
          </a:p>
        </p:txBody>
      </p:sp>
      <p:grpSp>
        <p:nvGrpSpPr>
          <p:cNvPr id="10" name="Group 9">
            <a:extLst>
              <a:ext uri="{FF2B5EF4-FFF2-40B4-BE49-F238E27FC236}">
                <a16:creationId xmlns:a16="http://schemas.microsoft.com/office/drawing/2014/main" id="{F50D4929-42B7-D3D0-2F4A-08FC971B640C}"/>
              </a:ext>
            </a:extLst>
          </p:cNvPr>
          <p:cNvGrpSpPr/>
          <p:nvPr/>
        </p:nvGrpSpPr>
        <p:grpSpPr>
          <a:xfrm>
            <a:off x="997496" y="4579933"/>
            <a:ext cx="11771880" cy="6612792"/>
            <a:chOff x="2287587" y="4158509"/>
            <a:chExt cx="11771880" cy="6612792"/>
          </a:xfrm>
        </p:grpSpPr>
        <p:pic>
          <p:nvPicPr>
            <p:cNvPr id="6" name="Picture 5">
              <a:extLst>
                <a:ext uri="{FF2B5EF4-FFF2-40B4-BE49-F238E27FC236}">
                  <a16:creationId xmlns:a16="http://schemas.microsoft.com/office/drawing/2014/main" id="{6A677E42-CBAD-2D6A-9E2E-9715E6B26F82}"/>
                </a:ext>
              </a:extLst>
            </p:cNvPr>
            <p:cNvPicPr>
              <a:picLocks noChangeAspect="1"/>
            </p:cNvPicPr>
            <p:nvPr/>
          </p:nvPicPr>
          <p:blipFill>
            <a:blip r:embed="rId3"/>
            <a:stretch>
              <a:fillRect/>
            </a:stretch>
          </p:blipFill>
          <p:spPr>
            <a:xfrm>
              <a:off x="2287587" y="4158509"/>
              <a:ext cx="5473700" cy="1892300"/>
            </a:xfrm>
            <a:prstGeom prst="rect">
              <a:avLst/>
            </a:prstGeom>
          </p:spPr>
        </p:pic>
        <p:pic>
          <p:nvPicPr>
            <p:cNvPr id="9" name="Picture 8">
              <a:extLst>
                <a:ext uri="{FF2B5EF4-FFF2-40B4-BE49-F238E27FC236}">
                  <a16:creationId xmlns:a16="http://schemas.microsoft.com/office/drawing/2014/main" id="{25FDA77A-3A34-C510-52E7-82F0678233E8}"/>
                </a:ext>
              </a:extLst>
            </p:cNvPr>
            <p:cNvPicPr>
              <a:picLocks noChangeAspect="1"/>
            </p:cNvPicPr>
            <p:nvPr/>
          </p:nvPicPr>
          <p:blipFill>
            <a:blip r:embed="rId4"/>
            <a:stretch>
              <a:fillRect/>
            </a:stretch>
          </p:blipFill>
          <p:spPr>
            <a:xfrm>
              <a:off x="3125787" y="6050809"/>
              <a:ext cx="10933680" cy="4720492"/>
            </a:xfrm>
            <a:prstGeom prst="rect">
              <a:avLst/>
            </a:prstGeom>
          </p:spPr>
        </p:pic>
      </p:grpSp>
      <p:pic>
        <p:nvPicPr>
          <p:cNvPr id="11" name="Picture 10">
            <a:extLst>
              <a:ext uri="{FF2B5EF4-FFF2-40B4-BE49-F238E27FC236}">
                <a16:creationId xmlns:a16="http://schemas.microsoft.com/office/drawing/2014/main" id="{C3B519C7-8381-C85F-FDF6-93EC95DE6058}"/>
              </a:ext>
            </a:extLst>
          </p:cNvPr>
          <p:cNvPicPr>
            <a:picLocks noChangeAspect="1"/>
          </p:cNvPicPr>
          <p:nvPr/>
        </p:nvPicPr>
        <p:blipFill>
          <a:blip r:embed="rId5"/>
          <a:stretch>
            <a:fillRect/>
          </a:stretch>
        </p:blipFill>
        <p:spPr>
          <a:xfrm>
            <a:off x="13915501" y="2287212"/>
            <a:ext cx="10011054" cy="6477741"/>
          </a:xfrm>
          <a:prstGeom prst="rect">
            <a:avLst/>
          </a:prstGeom>
        </p:spPr>
      </p:pic>
      <p:pic>
        <p:nvPicPr>
          <p:cNvPr id="12" name="Picture 11">
            <a:extLst>
              <a:ext uri="{FF2B5EF4-FFF2-40B4-BE49-F238E27FC236}">
                <a16:creationId xmlns:a16="http://schemas.microsoft.com/office/drawing/2014/main" id="{BFCAB07F-0048-8B78-6A9E-1E275908075F}"/>
              </a:ext>
            </a:extLst>
          </p:cNvPr>
          <p:cNvPicPr>
            <a:picLocks noChangeAspect="1"/>
          </p:cNvPicPr>
          <p:nvPr/>
        </p:nvPicPr>
        <p:blipFill>
          <a:blip r:embed="rId6"/>
          <a:stretch>
            <a:fillRect/>
          </a:stretch>
        </p:blipFill>
        <p:spPr>
          <a:xfrm>
            <a:off x="13915501" y="9012029"/>
            <a:ext cx="7772400" cy="4077848"/>
          </a:xfrm>
          <a:prstGeom prst="rect">
            <a:avLst/>
          </a:prstGeom>
        </p:spPr>
      </p:pic>
    </p:spTree>
    <p:extLst>
      <p:ext uri="{BB962C8B-B14F-4D97-AF65-F5344CB8AC3E}">
        <p14:creationId xmlns:p14="http://schemas.microsoft.com/office/powerpoint/2010/main" val="383807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(6)</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PlusCal</a:t>
            </a:r>
            <a:r>
              <a:rPr lang="en-US" dirty="0">
                <a:cs typeface="Helvetica" pitchFamily="34" charset="0"/>
              </a:rPr>
              <a:t> model (cont.) </a:t>
            </a:r>
          </a:p>
        </p:txBody>
      </p:sp>
      <p:pic>
        <p:nvPicPr>
          <p:cNvPr id="2" name="Picture 1">
            <a:extLst>
              <a:ext uri="{FF2B5EF4-FFF2-40B4-BE49-F238E27FC236}">
                <a16:creationId xmlns:a16="http://schemas.microsoft.com/office/drawing/2014/main" id="{19645300-770B-8AED-2036-6FE1B6724491}"/>
              </a:ext>
            </a:extLst>
          </p:cNvPr>
          <p:cNvPicPr>
            <a:picLocks noChangeAspect="1"/>
          </p:cNvPicPr>
          <p:nvPr/>
        </p:nvPicPr>
        <p:blipFill>
          <a:blip r:embed="rId3"/>
          <a:stretch>
            <a:fillRect/>
          </a:stretch>
        </p:blipFill>
        <p:spPr>
          <a:xfrm>
            <a:off x="992186" y="3991811"/>
            <a:ext cx="12503991" cy="9191529"/>
          </a:xfrm>
          <a:prstGeom prst="rect">
            <a:avLst/>
          </a:prstGeom>
        </p:spPr>
      </p:pic>
      <p:pic>
        <p:nvPicPr>
          <p:cNvPr id="7" name="Picture 6">
            <a:extLst>
              <a:ext uri="{FF2B5EF4-FFF2-40B4-BE49-F238E27FC236}">
                <a16:creationId xmlns:a16="http://schemas.microsoft.com/office/drawing/2014/main" id="{403F3F3B-684E-CCD4-8AD3-416143C4A834}"/>
              </a:ext>
            </a:extLst>
          </p:cNvPr>
          <p:cNvPicPr>
            <a:picLocks noChangeAspect="1"/>
          </p:cNvPicPr>
          <p:nvPr/>
        </p:nvPicPr>
        <p:blipFill>
          <a:blip r:embed="rId4"/>
          <a:stretch>
            <a:fillRect/>
          </a:stretch>
        </p:blipFill>
        <p:spPr>
          <a:xfrm>
            <a:off x="15652231" y="3991811"/>
            <a:ext cx="7772400" cy="6516493"/>
          </a:xfrm>
          <a:prstGeom prst="rect">
            <a:avLst/>
          </a:prstGeom>
        </p:spPr>
      </p:pic>
      <p:cxnSp>
        <p:nvCxnSpPr>
          <p:cNvPr id="6" name="Straight Arrow Connector 5">
            <a:extLst>
              <a:ext uri="{FF2B5EF4-FFF2-40B4-BE49-F238E27FC236}">
                <a16:creationId xmlns:a16="http://schemas.microsoft.com/office/drawing/2014/main" id="{DA7AFD1C-0AB3-625F-AE41-34D173811EB7}"/>
              </a:ext>
            </a:extLst>
          </p:cNvPr>
          <p:cNvCxnSpPr/>
          <p:nvPr/>
        </p:nvCxnSpPr>
        <p:spPr>
          <a:xfrm>
            <a:off x="1754187" y="6477000"/>
            <a:ext cx="0" cy="67063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EF55592-03FC-4C95-FF1F-909BA119566A}"/>
              </a:ext>
            </a:extLst>
          </p:cNvPr>
          <p:cNvCxnSpPr>
            <a:cxnSpLocks/>
          </p:cNvCxnSpPr>
          <p:nvPr/>
        </p:nvCxnSpPr>
        <p:spPr>
          <a:xfrm flipV="1">
            <a:off x="16308387" y="3991811"/>
            <a:ext cx="0" cy="45425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F10B5F4-F3EE-300D-085A-0C4F2B0D2B3D}"/>
              </a:ext>
            </a:extLst>
          </p:cNvPr>
          <p:cNvCxnSpPr>
            <a:cxnSpLocks/>
          </p:cNvCxnSpPr>
          <p:nvPr/>
        </p:nvCxnSpPr>
        <p:spPr>
          <a:xfrm flipH="1">
            <a:off x="1278636" y="5410200"/>
            <a:ext cx="52387" cy="77731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42E61FE-B451-1477-E595-E3B833410EBF}"/>
              </a:ext>
            </a:extLst>
          </p:cNvPr>
          <p:cNvCxnSpPr>
            <a:cxnSpLocks/>
          </p:cNvCxnSpPr>
          <p:nvPr/>
        </p:nvCxnSpPr>
        <p:spPr>
          <a:xfrm flipV="1">
            <a:off x="16003587" y="3581400"/>
            <a:ext cx="0" cy="61427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88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(7)</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PlusCal</a:t>
            </a:r>
            <a:r>
              <a:rPr lang="en-US" dirty="0">
                <a:cs typeface="Helvetica" pitchFamily="34" charset="0"/>
              </a:rPr>
              <a:t> model (cont.) </a:t>
            </a:r>
          </a:p>
        </p:txBody>
      </p:sp>
      <p:grpSp>
        <p:nvGrpSpPr>
          <p:cNvPr id="8" name="Group 7">
            <a:extLst>
              <a:ext uri="{FF2B5EF4-FFF2-40B4-BE49-F238E27FC236}">
                <a16:creationId xmlns:a16="http://schemas.microsoft.com/office/drawing/2014/main" id="{5CCCE441-CD75-10E6-EA4F-C9A01B5EA6AF}"/>
              </a:ext>
            </a:extLst>
          </p:cNvPr>
          <p:cNvGrpSpPr/>
          <p:nvPr/>
        </p:nvGrpSpPr>
        <p:grpSpPr>
          <a:xfrm>
            <a:off x="12193587" y="3160818"/>
            <a:ext cx="10134601" cy="9793182"/>
            <a:chOff x="1982787" y="4191000"/>
            <a:chExt cx="7772400" cy="7379019"/>
          </a:xfrm>
        </p:grpSpPr>
        <p:pic>
          <p:nvPicPr>
            <p:cNvPr id="3" name="Picture 2">
              <a:extLst>
                <a:ext uri="{FF2B5EF4-FFF2-40B4-BE49-F238E27FC236}">
                  <a16:creationId xmlns:a16="http://schemas.microsoft.com/office/drawing/2014/main" id="{B28EE19C-865C-F1DC-57D8-184CBBFB1D71}"/>
                </a:ext>
              </a:extLst>
            </p:cNvPr>
            <p:cNvPicPr>
              <a:picLocks noChangeAspect="1"/>
            </p:cNvPicPr>
            <p:nvPr/>
          </p:nvPicPr>
          <p:blipFill>
            <a:blip r:embed="rId3"/>
            <a:stretch>
              <a:fillRect/>
            </a:stretch>
          </p:blipFill>
          <p:spPr>
            <a:xfrm>
              <a:off x="1982787" y="4191000"/>
              <a:ext cx="7772400" cy="4530436"/>
            </a:xfrm>
            <a:prstGeom prst="rect">
              <a:avLst/>
            </a:prstGeom>
          </p:spPr>
        </p:pic>
        <p:pic>
          <p:nvPicPr>
            <p:cNvPr id="6" name="Picture 5">
              <a:extLst>
                <a:ext uri="{FF2B5EF4-FFF2-40B4-BE49-F238E27FC236}">
                  <a16:creationId xmlns:a16="http://schemas.microsoft.com/office/drawing/2014/main" id="{E3C0C635-9C7B-8D7C-F372-0EEC11AF9864}"/>
                </a:ext>
              </a:extLst>
            </p:cNvPr>
            <p:cNvPicPr>
              <a:picLocks noChangeAspect="1"/>
            </p:cNvPicPr>
            <p:nvPr/>
          </p:nvPicPr>
          <p:blipFill>
            <a:blip r:embed="rId4"/>
            <a:stretch>
              <a:fillRect/>
            </a:stretch>
          </p:blipFill>
          <p:spPr>
            <a:xfrm>
              <a:off x="1982787" y="8751916"/>
              <a:ext cx="7772400" cy="2818103"/>
            </a:xfrm>
            <a:prstGeom prst="rect">
              <a:avLst/>
            </a:prstGeom>
          </p:spPr>
        </p:pic>
      </p:grpSp>
      <p:pic>
        <p:nvPicPr>
          <p:cNvPr id="2" name="Picture 1">
            <a:extLst>
              <a:ext uri="{FF2B5EF4-FFF2-40B4-BE49-F238E27FC236}">
                <a16:creationId xmlns:a16="http://schemas.microsoft.com/office/drawing/2014/main" id="{74465ABB-AAE8-36EF-117F-E41302DCEAE3}"/>
              </a:ext>
            </a:extLst>
          </p:cNvPr>
          <p:cNvPicPr>
            <a:picLocks noChangeAspect="1"/>
          </p:cNvPicPr>
          <p:nvPr/>
        </p:nvPicPr>
        <p:blipFill>
          <a:blip r:embed="rId5"/>
          <a:stretch>
            <a:fillRect/>
          </a:stretch>
        </p:blipFill>
        <p:spPr>
          <a:xfrm>
            <a:off x="2058987" y="4267200"/>
            <a:ext cx="6324600" cy="4127500"/>
          </a:xfrm>
          <a:prstGeom prst="rect">
            <a:avLst/>
          </a:prstGeom>
        </p:spPr>
      </p:pic>
    </p:spTree>
    <p:extLst>
      <p:ext uri="{BB962C8B-B14F-4D97-AF65-F5344CB8AC3E}">
        <p14:creationId xmlns:p14="http://schemas.microsoft.com/office/powerpoint/2010/main" val="170936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(8)</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PlusCal</a:t>
            </a:r>
            <a:r>
              <a:rPr lang="en-US" dirty="0">
                <a:cs typeface="Helvetica" pitchFamily="34" charset="0"/>
              </a:rPr>
              <a:t> model (cont.) </a:t>
            </a:r>
          </a:p>
        </p:txBody>
      </p:sp>
      <p:pic>
        <p:nvPicPr>
          <p:cNvPr id="2" name="Picture 1">
            <a:extLst>
              <a:ext uri="{FF2B5EF4-FFF2-40B4-BE49-F238E27FC236}">
                <a16:creationId xmlns:a16="http://schemas.microsoft.com/office/drawing/2014/main" id="{0F0B676F-12FC-3F3F-FC1B-CF4E881D09E8}"/>
              </a:ext>
            </a:extLst>
          </p:cNvPr>
          <p:cNvPicPr>
            <a:picLocks noChangeAspect="1"/>
          </p:cNvPicPr>
          <p:nvPr/>
        </p:nvPicPr>
        <p:blipFill>
          <a:blip r:embed="rId3"/>
          <a:stretch>
            <a:fillRect/>
          </a:stretch>
        </p:blipFill>
        <p:spPr>
          <a:xfrm>
            <a:off x="2058987" y="4007465"/>
            <a:ext cx="12454183" cy="9156282"/>
          </a:xfrm>
          <a:prstGeom prst="rect">
            <a:avLst/>
          </a:prstGeom>
        </p:spPr>
      </p:pic>
    </p:spTree>
    <p:extLst>
      <p:ext uri="{BB962C8B-B14F-4D97-AF65-F5344CB8AC3E}">
        <p14:creationId xmlns:p14="http://schemas.microsoft.com/office/powerpoint/2010/main" val="1456845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(9)</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err="1">
                <a:cs typeface="Helvetica" pitchFamily="34" charset="0"/>
              </a:rPr>
              <a:t>PlusCal</a:t>
            </a:r>
            <a:r>
              <a:rPr lang="en-US" dirty="0">
                <a:cs typeface="Helvetica" pitchFamily="34" charset="0"/>
              </a:rPr>
              <a:t> model (cont.) </a:t>
            </a:r>
          </a:p>
        </p:txBody>
      </p:sp>
      <p:pic>
        <p:nvPicPr>
          <p:cNvPr id="3" name="Picture 2">
            <a:extLst>
              <a:ext uri="{FF2B5EF4-FFF2-40B4-BE49-F238E27FC236}">
                <a16:creationId xmlns:a16="http://schemas.microsoft.com/office/drawing/2014/main" id="{13A32FA8-0626-B683-7420-A3DE6A823F43}"/>
              </a:ext>
            </a:extLst>
          </p:cNvPr>
          <p:cNvPicPr>
            <a:picLocks noChangeAspect="1"/>
          </p:cNvPicPr>
          <p:nvPr/>
        </p:nvPicPr>
        <p:blipFill>
          <a:blip r:embed="rId3"/>
          <a:stretch>
            <a:fillRect/>
          </a:stretch>
        </p:blipFill>
        <p:spPr>
          <a:xfrm>
            <a:off x="778408" y="4484420"/>
            <a:ext cx="11430000" cy="5121638"/>
          </a:xfrm>
          <a:prstGeom prst="rect">
            <a:avLst/>
          </a:prstGeom>
        </p:spPr>
      </p:pic>
      <p:pic>
        <p:nvPicPr>
          <p:cNvPr id="6" name="Picture 5">
            <a:extLst>
              <a:ext uri="{FF2B5EF4-FFF2-40B4-BE49-F238E27FC236}">
                <a16:creationId xmlns:a16="http://schemas.microsoft.com/office/drawing/2014/main" id="{1AF09410-9DA3-8DEF-D2FC-AD2F330D0B9F}"/>
              </a:ext>
            </a:extLst>
          </p:cNvPr>
          <p:cNvPicPr>
            <a:picLocks noChangeAspect="1"/>
          </p:cNvPicPr>
          <p:nvPr/>
        </p:nvPicPr>
        <p:blipFill>
          <a:blip r:embed="rId4"/>
          <a:stretch>
            <a:fillRect/>
          </a:stretch>
        </p:blipFill>
        <p:spPr>
          <a:xfrm>
            <a:off x="12708636" y="4484420"/>
            <a:ext cx="11430000" cy="6803819"/>
          </a:xfrm>
          <a:prstGeom prst="rect">
            <a:avLst/>
          </a:prstGeom>
        </p:spPr>
      </p:pic>
    </p:spTree>
    <p:extLst>
      <p:ext uri="{BB962C8B-B14F-4D97-AF65-F5344CB8AC3E}">
        <p14:creationId xmlns:p14="http://schemas.microsoft.com/office/powerpoint/2010/main" val="419496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2268751"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(10)</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The </a:t>
            </a:r>
            <a:r>
              <a:rPr lang="en-US" dirty="0" err="1">
                <a:cs typeface="Helvetica" pitchFamily="34" charset="0"/>
              </a:rPr>
              <a:t>PlusCal</a:t>
            </a:r>
            <a:r>
              <a:rPr lang="en-US" dirty="0">
                <a:cs typeface="Helvetica" pitchFamily="34" charset="0"/>
              </a:rPr>
              <a:t> model is ”compiled” to pure TLA+: </a:t>
            </a:r>
          </a:p>
        </p:txBody>
      </p:sp>
      <p:grpSp>
        <p:nvGrpSpPr>
          <p:cNvPr id="15" name="Group 14">
            <a:extLst>
              <a:ext uri="{FF2B5EF4-FFF2-40B4-BE49-F238E27FC236}">
                <a16:creationId xmlns:a16="http://schemas.microsoft.com/office/drawing/2014/main" id="{A4AB58D9-302F-0C25-DC13-FEB54FA784FB}"/>
              </a:ext>
            </a:extLst>
          </p:cNvPr>
          <p:cNvGrpSpPr/>
          <p:nvPr/>
        </p:nvGrpSpPr>
        <p:grpSpPr>
          <a:xfrm>
            <a:off x="11762560" y="3824118"/>
            <a:ext cx="10258794" cy="5051022"/>
            <a:chOff x="12879387" y="4252604"/>
            <a:chExt cx="9554492" cy="4358864"/>
          </a:xfrm>
        </p:grpSpPr>
        <p:pic>
          <p:nvPicPr>
            <p:cNvPr id="6" name="Picture 5">
              <a:extLst>
                <a:ext uri="{FF2B5EF4-FFF2-40B4-BE49-F238E27FC236}">
                  <a16:creationId xmlns:a16="http://schemas.microsoft.com/office/drawing/2014/main" id="{8B6610FC-CF8F-D9B0-845D-E248CBA4A4BD}"/>
                </a:ext>
              </a:extLst>
            </p:cNvPr>
            <p:cNvPicPr>
              <a:picLocks noChangeAspect="1"/>
            </p:cNvPicPr>
            <p:nvPr/>
          </p:nvPicPr>
          <p:blipFill>
            <a:blip r:embed="rId3"/>
            <a:stretch>
              <a:fillRect/>
            </a:stretch>
          </p:blipFill>
          <p:spPr>
            <a:xfrm>
              <a:off x="12879387" y="4252604"/>
              <a:ext cx="7772400" cy="1704109"/>
            </a:xfrm>
            <a:prstGeom prst="rect">
              <a:avLst/>
            </a:prstGeom>
          </p:spPr>
        </p:pic>
        <p:pic>
          <p:nvPicPr>
            <p:cNvPr id="7" name="Picture 6">
              <a:extLst>
                <a:ext uri="{FF2B5EF4-FFF2-40B4-BE49-F238E27FC236}">
                  <a16:creationId xmlns:a16="http://schemas.microsoft.com/office/drawing/2014/main" id="{E3AF0BE5-76B7-8056-FF81-BA729B003D36}"/>
                </a:ext>
              </a:extLst>
            </p:cNvPr>
            <p:cNvPicPr>
              <a:picLocks noChangeAspect="1"/>
            </p:cNvPicPr>
            <p:nvPr/>
          </p:nvPicPr>
          <p:blipFill>
            <a:blip r:embed="rId4"/>
            <a:stretch>
              <a:fillRect/>
            </a:stretch>
          </p:blipFill>
          <p:spPr>
            <a:xfrm>
              <a:off x="14250987" y="5956713"/>
              <a:ext cx="8182892" cy="2654755"/>
            </a:xfrm>
            <a:prstGeom prst="rect">
              <a:avLst/>
            </a:prstGeom>
          </p:spPr>
        </p:pic>
      </p:grpSp>
      <p:pic>
        <p:nvPicPr>
          <p:cNvPr id="8" name="Picture 7">
            <a:extLst>
              <a:ext uri="{FF2B5EF4-FFF2-40B4-BE49-F238E27FC236}">
                <a16:creationId xmlns:a16="http://schemas.microsoft.com/office/drawing/2014/main" id="{F231C53B-BCD9-F150-A4BE-B13FC605949D}"/>
              </a:ext>
            </a:extLst>
          </p:cNvPr>
          <p:cNvPicPr>
            <a:picLocks noChangeAspect="1"/>
          </p:cNvPicPr>
          <p:nvPr/>
        </p:nvPicPr>
        <p:blipFill>
          <a:blip r:embed="rId5"/>
          <a:stretch>
            <a:fillRect/>
          </a:stretch>
        </p:blipFill>
        <p:spPr>
          <a:xfrm>
            <a:off x="1677987" y="4030539"/>
            <a:ext cx="8947155" cy="2866650"/>
          </a:xfrm>
          <a:prstGeom prst="rect">
            <a:avLst/>
          </a:prstGeom>
        </p:spPr>
      </p:pic>
      <p:pic>
        <p:nvPicPr>
          <p:cNvPr id="9" name="Picture 8">
            <a:extLst>
              <a:ext uri="{FF2B5EF4-FFF2-40B4-BE49-F238E27FC236}">
                <a16:creationId xmlns:a16="http://schemas.microsoft.com/office/drawing/2014/main" id="{D586185F-7260-D8DD-EB59-A287E2AE4DA3}"/>
              </a:ext>
            </a:extLst>
          </p:cNvPr>
          <p:cNvPicPr>
            <a:picLocks noChangeAspect="1"/>
          </p:cNvPicPr>
          <p:nvPr/>
        </p:nvPicPr>
        <p:blipFill>
          <a:blip r:embed="rId6"/>
          <a:stretch>
            <a:fillRect/>
          </a:stretch>
        </p:blipFill>
        <p:spPr>
          <a:xfrm>
            <a:off x="1677987" y="7187118"/>
            <a:ext cx="8077200" cy="5393812"/>
          </a:xfrm>
          <a:prstGeom prst="rect">
            <a:avLst/>
          </a:prstGeom>
        </p:spPr>
      </p:pic>
      <p:grpSp>
        <p:nvGrpSpPr>
          <p:cNvPr id="17" name="Group 16">
            <a:extLst>
              <a:ext uri="{FF2B5EF4-FFF2-40B4-BE49-F238E27FC236}">
                <a16:creationId xmlns:a16="http://schemas.microsoft.com/office/drawing/2014/main" id="{51A7D039-ADFF-FEB1-7E06-8C8C750DDF6A}"/>
              </a:ext>
            </a:extLst>
          </p:cNvPr>
          <p:cNvGrpSpPr/>
          <p:nvPr/>
        </p:nvGrpSpPr>
        <p:grpSpPr>
          <a:xfrm>
            <a:off x="11546660" y="9270649"/>
            <a:ext cx="11796124" cy="3815187"/>
            <a:chOff x="11546660" y="9270649"/>
            <a:chExt cx="11796124" cy="3815187"/>
          </a:xfrm>
        </p:grpSpPr>
        <p:grpSp>
          <p:nvGrpSpPr>
            <p:cNvPr id="14" name="Group 13">
              <a:extLst>
                <a:ext uri="{FF2B5EF4-FFF2-40B4-BE49-F238E27FC236}">
                  <a16:creationId xmlns:a16="http://schemas.microsoft.com/office/drawing/2014/main" id="{0D716BD0-E5D6-2AE2-3C69-80BFE0906A1C}"/>
                </a:ext>
              </a:extLst>
            </p:cNvPr>
            <p:cNvGrpSpPr/>
            <p:nvPr/>
          </p:nvGrpSpPr>
          <p:grpSpPr>
            <a:xfrm>
              <a:off x="11546660" y="9270649"/>
              <a:ext cx="5664200" cy="3815187"/>
              <a:chOff x="12904923" y="8855997"/>
              <a:chExt cx="5448301" cy="3815186"/>
            </a:xfrm>
          </p:grpSpPr>
          <p:pic>
            <p:nvPicPr>
              <p:cNvPr id="10" name="Picture 9">
                <a:extLst>
                  <a:ext uri="{FF2B5EF4-FFF2-40B4-BE49-F238E27FC236}">
                    <a16:creationId xmlns:a16="http://schemas.microsoft.com/office/drawing/2014/main" id="{1BA41C9D-AA0E-8022-4F21-23B4955A8A1E}"/>
                  </a:ext>
                </a:extLst>
              </p:cNvPr>
              <p:cNvPicPr>
                <a:picLocks noChangeAspect="1"/>
              </p:cNvPicPr>
              <p:nvPr/>
            </p:nvPicPr>
            <p:blipFill>
              <a:blip r:embed="rId7"/>
              <a:stretch>
                <a:fillRect/>
              </a:stretch>
            </p:blipFill>
            <p:spPr>
              <a:xfrm>
                <a:off x="12904924" y="8855997"/>
                <a:ext cx="5448300" cy="741787"/>
              </a:xfrm>
              <a:prstGeom prst="rect">
                <a:avLst/>
              </a:prstGeom>
            </p:spPr>
          </p:pic>
          <p:pic>
            <p:nvPicPr>
              <p:cNvPr id="12" name="Picture 11">
                <a:extLst>
                  <a:ext uri="{FF2B5EF4-FFF2-40B4-BE49-F238E27FC236}">
                    <a16:creationId xmlns:a16="http://schemas.microsoft.com/office/drawing/2014/main" id="{42AF5E6A-524D-592B-C226-E6F704E78EF2}"/>
                  </a:ext>
                </a:extLst>
              </p:cNvPr>
              <p:cNvPicPr>
                <a:picLocks noChangeAspect="1"/>
              </p:cNvPicPr>
              <p:nvPr/>
            </p:nvPicPr>
            <p:blipFill>
              <a:blip r:embed="rId8"/>
              <a:stretch>
                <a:fillRect/>
              </a:stretch>
            </p:blipFill>
            <p:spPr>
              <a:xfrm>
                <a:off x="12904923" y="9597783"/>
                <a:ext cx="5448300" cy="3073400"/>
              </a:xfrm>
              <a:prstGeom prst="rect">
                <a:avLst/>
              </a:prstGeom>
            </p:spPr>
          </p:pic>
        </p:grpSp>
        <p:pic>
          <p:nvPicPr>
            <p:cNvPr id="13" name="Picture 12">
              <a:extLst>
                <a:ext uri="{FF2B5EF4-FFF2-40B4-BE49-F238E27FC236}">
                  <a16:creationId xmlns:a16="http://schemas.microsoft.com/office/drawing/2014/main" id="{105C3965-4AB6-1435-8C2F-A8637A7F62C3}"/>
                </a:ext>
              </a:extLst>
            </p:cNvPr>
            <p:cNvPicPr>
              <a:picLocks noChangeAspect="1"/>
            </p:cNvPicPr>
            <p:nvPr/>
          </p:nvPicPr>
          <p:blipFill>
            <a:blip r:embed="rId9"/>
            <a:stretch>
              <a:fillRect/>
            </a:stretch>
          </p:blipFill>
          <p:spPr>
            <a:xfrm>
              <a:off x="17932584" y="9270649"/>
              <a:ext cx="5410200" cy="1868096"/>
            </a:xfrm>
            <a:prstGeom prst="rect">
              <a:avLst/>
            </a:prstGeom>
          </p:spPr>
        </p:pic>
      </p:grpSp>
    </p:spTree>
    <p:extLst>
      <p:ext uri="{BB962C8B-B14F-4D97-AF65-F5344CB8AC3E}">
        <p14:creationId xmlns:p14="http://schemas.microsoft.com/office/powerpoint/2010/main" val="176131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2268751"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(11)</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Invariants </a:t>
            </a:r>
          </a:p>
        </p:txBody>
      </p:sp>
      <p:pic>
        <p:nvPicPr>
          <p:cNvPr id="2" name="Picture 1">
            <a:extLst>
              <a:ext uri="{FF2B5EF4-FFF2-40B4-BE49-F238E27FC236}">
                <a16:creationId xmlns:a16="http://schemas.microsoft.com/office/drawing/2014/main" id="{662F5618-9C3C-2288-A339-3280A0C656D7}"/>
              </a:ext>
            </a:extLst>
          </p:cNvPr>
          <p:cNvPicPr>
            <a:picLocks noChangeAspect="1"/>
          </p:cNvPicPr>
          <p:nvPr/>
        </p:nvPicPr>
        <p:blipFill>
          <a:blip r:embed="rId3"/>
          <a:stretch>
            <a:fillRect/>
          </a:stretch>
        </p:blipFill>
        <p:spPr>
          <a:xfrm>
            <a:off x="3201987" y="3816069"/>
            <a:ext cx="17336497" cy="9140108"/>
          </a:xfrm>
          <a:prstGeom prst="rect">
            <a:avLst/>
          </a:prstGeom>
        </p:spPr>
      </p:pic>
    </p:spTree>
    <p:extLst>
      <p:ext uri="{BB962C8B-B14F-4D97-AF65-F5344CB8AC3E}">
        <p14:creationId xmlns:p14="http://schemas.microsoft.com/office/powerpoint/2010/main" val="2302297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2268751"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(12)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209800"/>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Invariants (cont.) </a:t>
            </a:r>
          </a:p>
        </p:txBody>
      </p:sp>
      <p:grpSp>
        <p:nvGrpSpPr>
          <p:cNvPr id="13" name="Group 12">
            <a:extLst>
              <a:ext uri="{FF2B5EF4-FFF2-40B4-BE49-F238E27FC236}">
                <a16:creationId xmlns:a16="http://schemas.microsoft.com/office/drawing/2014/main" id="{D85CA845-C16B-73F5-2E36-125C622865B1}"/>
              </a:ext>
            </a:extLst>
          </p:cNvPr>
          <p:cNvGrpSpPr/>
          <p:nvPr/>
        </p:nvGrpSpPr>
        <p:grpSpPr>
          <a:xfrm>
            <a:off x="6935787" y="2743200"/>
            <a:ext cx="14325600" cy="10059882"/>
            <a:chOff x="8441558" y="6446326"/>
            <a:chExt cx="9934151" cy="5800843"/>
          </a:xfrm>
        </p:grpSpPr>
        <p:pic>
          <p:nvPicPr>
            <p:cNvPr id="11" name="Picture 10">
              <a:extLst>
                <a:ext uri="{FF2B5EF4-FFF2-40B4-BE49-F238E27FC236}">
                  <a16:creationId xmlns:a16="http://schemas.microsoft.com/office/drawing/2014/main" id="{43A5161A-F409-AD1F-7CC3-291A41D9EB66}"/>
                </a:ext>
              </a:extLst>
            </p:cNvPr>
            <p:cNvPicPr>
              <a:picLocks noChangeAspect="1"/>
            </p:cNvPicPr>
            <p:nvPr/>
          </p:nvPicPr>
          <p:blipFill>
            <a:blip r:embed="rId3"/>
            <a:stretch>
              <a:fillRect/>
            </a:stretch>
          </p:blipFill>
          <p:spPr>
            <a:xfrm>
              <a:off x="8441558" y="6446326"/>
              <a:ext cx="7772400" cy="823347"/>
            </a:xfrm>
            <a:prstGeom prst="rect">
              <a:avLst/>
            </a:prstGeom>
          </p:spPr>
        </p:pic>
        <p:pic>
          <p:nvPicPr>
            <p:cNvPr id="12" name="Picture 11">
              <a:extLst>
                <a:ext uri="{FF2B5EF4-FFF2-40B4-BE49-F238E27FC236}">
                  <a16:creationId xmlns:a16="http://schemas.microsoft.com/office/drawing/2014/main" id="{353DA501-3536-F410-E5C9-142597500E25}"/>
                </a:ext>
              </a:extLst>
            </p:cNvPr>
            <p:cNvPicPr>
              <a:picLocks noChangeAspect="1"/>
            </p:cNvPicPr>
            <p:nvPr/>
          </p:nvPicPr>
          <p:blipFill>
            <a:blip r:embed="rId4"/>
            <a:stretch>
              <a:fillRect/>
            </a:stretch>
          </p:blipFill>
          <p:spPr>
            <a:xfrm>
              <a:off x="8441558" y="7324842"/>
              <a:ext cx="9934151" cy="4922327"/>
            </a:xfrm>
            <a:prstGeom prst="rect">
              <a:avLst/>
            </a:prstGeom>
          </p:spPr>
        </p:pic>
      </p:grpSp>
    </p:spTree>
    <p:extLst>
      <p:ext uri="{BB962C8B-B14F-4D97-AF65-F5344CB8AC3E}">
        <p14:creationId xmlns:p14="http://schemas.microsoft.com/office/powerpoint/2010/main" val="15181736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2268751"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err="1">
                <a:latin typeface="Helvetica"/>
                <a:cs typeface="Helvetica"/>
              </a:rPr>
              <a:t>HiRTOS</a:t>
            </a:r>
            <a:r>
              <a:rPr lang="en-US" dirty="0">
                <a:latin typeface="Helvetica"/>
                <a:cs typeface="Helvetica"/>
              </a:rPr>
              <a:t> Thread Scheduler TLA+ Model (12)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cs typeface="Helvetica" pitchFamily="34" charset="0"/>
              </a:rPr>
              <a:t>Liveness Properties </a:t>
            </a:r>
          </a:p>
        </p:txBody>
      </p:sp>
      <p:pic>
        <p:nvPicPr>
          <p:cNvPr id="14" name="Picture 13">
            <a:extLst>
              <a:ext uri="{FF2B5EF4-FFF2-40B4-BE49-F238E27FC236}">
                <a16:creationId xmlns:a16="http://schemas.microsoft.com/office/drawing/2014/main" id="{058B2255-C9BE-6FF0-2825-2F48D12BC05E}"/>
              </a:ext>
            </a:extLst>
          </p:cNvPr>
          <p:cNvPicPr>
            <a:picLocks noChangeAspect="1"/>
          </p:cNvPicPr>
          <p:nvPr/>
        </p:nvPicPr>
        <p:blipFill>
          <a:blip r:embed="rId3"/>
          <a:stretch>
            <a:fillRect/>
          </a:stretch>
        </p:blipFill>
        <p:spPr>
          <a:xfrm>
            <a:off x="1792503" y="4495800"/>
            <a:ext cx="22011817" cy="5105400"/>
          </a:xfrm>
          <a:prstGeom prst="rect">
            <a:avLst/>
          </a:prstGeom>
        </p:spPr>
      </p:pic>
    </p:spTree>
    <p:extLst>
      <p:ext uri="{BB962C8B-B14F-4D97-AF65-F5344CB8AC3E}">
        <p14:creationId xmlns:p14="http://schemas.microsoft.com/office/powerpoint/2010/main" val="33445873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rPr>
              <a:t>Lessons Learned</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Light-weight use of formal methods even without doing formal </a:t>
            </a:r>
          </a:p>
          <a:p>
            <a:pPr marL="0" indent="0">
              <a:buNone/>
            </a:pPr>
            <a:r>
              <a:rPr lang="en-US" dirty="0">
                <a:latin typeface="Helvetica"/>
                <a:cs typeface="Helvetica"/>
              </a:rPr>
              <a:t>  proofs can still be useful and practical in the real world</a:t>
            </a:r>
          </a:p>
          <a:p>
            <a:pPr lvl="1"/>
            <a:r>
              <a:rPr lang="en-US" dirty="0">
                <a:latin typeface="Helvetica"/>
                <a:cs typeface="Helvetica"/>
              </a:rPr>
              <a:t>Programming-by-contract can be done more methodical and rigorous by </a:t>
            </a:r>
          </a:p>
          <a:p>
            <a:pPr marL="914400" lvl="1" indent="0">
              <a:buNone/>
            </a:pPr>
            <a:r>
              <a:rPr lang="en-US" dirty="0">
                <a:latin typeface="Helvetica"/>
                <a:cs typeface="Helvetica"/>
              </a:rPr>
              <a:t>   doing mathematical modeling before writing code</a:t>
            </a:r>
          </a:p>
          <a:p>
            <a:pPr lvl="1"/>
            <a:r>
              <a:rPr lang="en-US" dirty="0">
                <a:latin typeface="Helvetica"/>
                <a:cs typeface="Helvetica"/>
              </a:rPr>
              <a:t>Cleaner/simpler data structures can be designed. For example,</a:t>
            </a:r>
          </a:p>
          <a:p>
            <a:pPr marL="914400" lvl="1" indent="0">
              <a:buNone/>
            </a:pPr>
            <a:r>
              <a:rPr lang="en-US" dirty="0">
                <a:latin typeface="Helvetica"/>
                <a:cs typeface="Helvetica"/>
              </a:rPr>
              <a:t>   </a:t>
            </a:r>
            <a:r>
              <a:rPr lang="en-US" dirty="0" err="1">
                <a:latin typeface="Helvetica"/>
                <a:cs typeface="Helvetica"/>
              </a:rPr>
              <a:t>HiRTOS</a:t>
            </a:r>
            <a:r>
              <a:rPr lang="en-US" dirty="0">
                <a:latin typeface="Helvetica"/>
                <a:cs typeface="Helvetica"/>
              </a:rPr>
              <a:t> pointer-less data structures were inspired by Z modeling.</a:t>
            </a:r>
          </a:p>
          <a:p>
            <a:r>
              <a:rPr lang="en-US" dirty="0">
                <a:latin typeface="Helvetica"/>
                <a:cs typeface="Helvetica"/>
              </a:rPr>
              <a:t>Potential benefits from writing formal models at a level of abstraction closer to code:</a:t>
            </a:r>
          </a:p>
          <a:p>
            <a:pPr lvl="1"/>
            <a:r>
              <a:rPr lang="en-US" dirty="0">
                <a:latin typeface="Helvetica"/>
                <a:cs typeface="Helvetica"/>
              </a:rPr>
              <a:t>Code could be generated automatically from a “closer-to-code” Z model. </a:t>
            </a:r>
          </a:p>
          <a:p>
            <a:pPr lvl="1"/>
            <a:r>
              <a:rPr lang="en-US" dirty="0">
                <a:latin typeface="Helvetica"/>
                <a:cs typeface="Helvetica"/>
              </a:rPr>
              <a:t>Model-checking of a “closer-to-code” TLA+ model can be an effective </a:t>
            </a:r>
          </a:p>
          <a:p>
            <a:pPr marL="914400" lvl="1" indent="0">
              <a:buNone/>
            </a:pPr>
            <a:r>
              <a:rPr lang="en-US" dirty="0">
                <a:latin typeface="Helvetica"/>
                <a:cs typeface="Helvetica"/>
              </a:rPr>
              <a:t>   alternative to unit testing, especially for concurrent code</a:t>
            </a:r>
          </a:p>
          <a:p>
            <a:pPr marL="0" indent="0">
              <a:buNone/>
            </a:pPr>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pPr marL="0" indent="0">
              <a:buNone/>
            </a:pPr>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121753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rPr>
              <a:t>Lessons Learned (2)</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What could have been done better and possible next steps:</a:t>
            </a:r>
          </a:p>
          <a:p>
            <a:pPr lvl="1"/>
            <a:r>
              <a:rPr lang="en-US" dirty="0">
                <a:latin typeface="Helvetica"/>
                <a:cs typeface="Helvetica"/>
              </a:rPr>
              <a:t>Do Formal Verification of SPARK code using </a:t>
            </a:r>
            <a:r>
              <a:rPr lang="en-US" dirty="0" err="1">
                <a:latin typeface="Helvetica"/>
                <a:cs typeface="Helvetica"/>
              </a:rPr>
              <a:t>gnatprove</a:t>
            </a:r>
            <a:endParaRPr lang="en-US" dirty="0">
              <a:latin typeface="Helvetica"/>
              <a:cs typeface="Helvetica"/>
            </a:endParaRPr>
          </a:p>
          <a:p>
            <a:pPr lvl="1"/>
            <a:r>
              <a:rPr lang="en-US" dirty="0">
                <a:latin typeface="Helvetica"/>
                <a:cs typeface="Helvetica"/>
              </a:rPr>
              <a:t>Generate SPARK Ada code for data structures from mathematical data </a:t>
            </a:r>
          </a:p>
          <a:p>
            <a:pPr marL="914400" lvl="1" indent="0">
              <a:buNone/>
            </a:pPr>
            <a:r>
              <a:rPr lang="en-US" dirty="0">
                <a:latin typeface="Helvetica"/>
                <a:cs typeface="Helvetica"/>
              </a:rPr>
              <a:t>   structures written in Z or TLA+ </a:t>
            </a:r>
          </a:p>
          <a:p>
            <a:pPr lvl="1"/>
            <a:r>
              <a:rPr lang="en-US" dirty="0">
                <a:latin typeface="Helvetica"/>
                <a:cs typeface="Helvetica"/>
              </a:rPr>
              <a:t>Write TLA+/</a:t>
            </a:r>
            <a:r>
              <a:rPr lang="en-US" dirty="0" err="1">
                <a:latin typeface="Helvetica"/>
                <a:cs typeface="Helvetica"/>
              </a:rPr>
              <a:t>PlusCal</a:t>
            </a:r>
            <a:r>
              <a:rPr lang="en-US" dirty="0">
                <a:latin typeface="Helvetica"/>
                <a:cs typeface="Helvetica"/>
              </a:rPr>
              <a:t> model before writing Ada code and perhaps generate</a:t>
            </a:r>
          </a:p>
          <a:p>
            <a:pPr marL="914400" lvl="1" indent="0">
              <a:buNone/>
            </a:pPr>
            <a:r>
              <a:rPr lang="en-US" dirty="0">
                <a:latin typeface="Helvetica"/>
                <a:cs typeface="Helvetica"/>
              </a:rPr>
              <a:t>   partial SPARK Ada code from the </a:t>
            </a:r>
            <a:r>
              <a:rPr lang="en-US" dirty="0" err="1">
                <a:latin typeface="Helvetica"/>
                <a:cs typeface="Helvetica"/>
              </a:rPr>
              <a:t>PlusCal</a:t>
            </a:r>
            <a:r>
              <a:rPr lang="en-US" dirty="0">
                <a:latin typeface="Helvetica"/>
                <a:cs typeface="Helvetica"/>
              </a:rPr>
              <a:t> model automatically</a:t>
            </a:r>
          </a:p>
          <a:p>
            <a:pPr lvl="1"/>
            <a:r>
              <a:rPr lang="en-US" dirty="0">
                <a:latin typeface="Helvetica"/>
                <a:cs typeface="Helvetica"/>
              </a:rPr>
              <a:t>Runtime checking of some safety invariants and liveness properties could be offloaded to a low-priority “safety patrol” thread to leverage idle CPU cycles.</a:t>
            </a:r>
          </a:p>
          <a:p>
            <a:pPr marL="0" indent="0">
              <a:buNone/>
            </a:pPr>
            <a:endParaRPr lang="en-US" dirty="0">
              <a:latin typeface="Helvetica"/>
              <a:cs typeface="Helvetica"/>
            </a:endParaRPr>
          </a:p>
          <a:p>
            <a:pPr marL="914400" lvl="1" indent="0">
              <a:buNone/>
            </a:pPr>
            <a:endParaRPr lang="en-US" dirty="0">
              <a:latin typeface="Helvetica"/>
              <a:cs typeface="Helvetica"/>
            </a:endParaRPr>
          </a:p>
          <a:p>
            <a:pPr marL="914400" lvl="1" indent="0">
              <a:buNone/>
            </a:pPr>
            <a:r>
              <a:rPr lang="en-US" dirty="0">
                <a:latin typeface="Helvetica"/>
                <a:cs typeface="Helvetica"/>
              </a:rPr>
              <a:t> </a:t>
            </a:r>
          </a:p>
          <a:p>
            <a:pPr marL="0" indent="0">
              <a:buNone/>
            </a:pPr>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pPr marL="0" indent="0">
              <a:buNone/>
            </a:pPr>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640838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r>
              <a:rPr lang="en-US" dirty="0">
                <a:latin typeface="Helvetica"/>
              </a:rPr>
              <a:t>Lessons Learned (3)</a:t>
            </a:r>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278636" y="2818659"/>
            <a:ext cx="21859545" cy="10135341"/>
          </a:xfrm>
        </p:spPr>
        <p:txBody>
          <a:bodyPr vert="horz" lIns="243840" tIns="121920" rIns="243840" bIns="121920" rtlCol="0" anchor="t">
            <a:normAutofit fontScale="92500"/>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dirty="0">
                <a:latin typeface="Helvetica"/>
                <a:cs typeface="Helvetica"/>
              </a:rPr>
              <a:t>Avoiding the use of pointers makes code safer, provided that a fully</a:t>
            </a:r>
          </a:p>
          <a:p>
            <a:pPr marL="0" indent="0">
              <a:buNone/>
            </a:pPr>
            <a:r>
              <a:rPr lang="en-US" dirty="0">
                <a:latin typeface="Helvetica"/>
                <a:cs typeface="Helvetica"/>
              </a:rPr>
              <a:t>   strong-typed language like Ada is used.</a:t>
            </a:r>
          </a:p>
          <a:p>
            <a:r>
              <a:rPr lang="en-US" dirty="0">
                <a:latin typeface="Helvetica"/>
                <a:cs typeface="Helvetica"/>
              </a:rPr>
              <a:t>Programming by contract is a very powerful technique to catch bugs</a:t>
            </a:r>
          </a:p>
          <a:p>
            <a:pPr marL="0" indent="0">
              <a:buNone/>
            </a:pPr>
            <a:r>
              <a:rPr lang="en-US" dirty="0">
                <a:latin typeface="Helvetica"/>
                <a:cs typeface="Helvetica"/>
              </a:rPr>
              <a:t>   earlier, during initial development and during maintenance.</a:t>
            </a:r>
          </a:p>
          <a:p>
            <a:r>
              <a:rPr lang="en-US" dirty="0">
                <a:latin typeface="Helvetica"/>
                <a:cs typeface="Helvetica"/>
              </a:rPr>
              <a:t>Adding more thorough contracts increases runtime overhead unless they are compiled out from production code:</a:t>
            </a:r>
          </a:p>
          <a:p>
            <a:pPr lvl="1"/>
            <a:r>
              <a:rPr lang="en-US" dirty="0">
                <a:latin typeface="Helvetica"/>
                <a:cs typeface="Helvetica"/>
              </a:rPr>
              <a:t>But they can only be safely compiled out if formally verified with </a:t>
            </a:r>
            <a:r>
              <a:rPr lang="en-US" dirty="0" err="1">
                <a:latin typeface="Helvetica"/>
                <a:cs typeface="Helvetica"/>
              </a:rPr>
              <a:t>gnatprove</a:t>
            </a:r>
            <a:endParaRPr lang="en-US" dirty="0">
              <a:latin typeface="Helvetica"/>
              <a:cs typeface="Helvetica"/>
            </a:endParaRPr>
          </a:p>
          <a:p>
            <a:pPr lvl="1"/>
            <a:r>
              <a:rPr lang="en-US" dirty="0">
                <a:latin typeface="Helvetica"/>
                <a:cs typeface="Helvetica"/>
              </a:rPr>
              <a:t>How awesome would be if the GNAT compiler had an “-</a:t>
            </a:r>
            <a:r>
              <a:rPr lang="en-US" dirty="0" err="1">
                <a:latin typeface="Helvetica"/>
                <a:cs typeface="Helvetica"/>
              </a:rPr>
              <a:t>Ocontracts</a:t>
            </a:r>
            <a:r>
              <a:rPr lang="en-US" dirty="0">
                <a:latin typeface="Helvetica"/>
                <a:cs typeface="Helvetica"/>
              </a:rPr>
              <a:t>”  switch, to</a:t>
            </a:r>
          </a:p>
          <a:p>
            <a:pPr marL="914400" lvl="1" indent="0">
              <a:buNone/>
            </a:pPr>
            <a:r>
              <a:rPr lang="en-US" dirty="0">
                <a:latin typeface="Helvetica"/>
                <a:cs typeface="Helvetica"/>
              </a:rPr>
              <a:t>   make GNAT run </a:t>
            </a:r>
            <a:r>
              <a:rPr lang="en-US" dirty="0" err="1">
                <a:latin typeface="Helvetica"/>
                <a:cs typeface="Helvetica"/>
              </a:rPr>
              <a:t>gnatprove</a:t>
            </a:r>
            <a:r>
              <a:rPr lang="en-US" dirty="0">
                <a:latin typeface="Helvetica"/>
                <a:cs typeface="Helvetica"/>
              </a:rPr>
              <a:t> automatically and optimize away those contracts that </a:t>
            </a:r>
          </a:p>
          <a:p>
            <a:pPr marL="914400" lvl="1" indent="0">
              <a:buNone/>
            </a:pPr>
            <a:r>
              <a:rPr lang="en-US" dirty="0">
                <a:latin typeface="Helvetica"/>
                <a:cs typeface="Helvetica"/>
              </a:rPr>
              <a:t>   </a:t>
            </a:r>
            <a:r>
              <a:rPr lang="en-US" dirty="0" err="1">
                <a:latin typeface="Helvetica"/>
                <a:cs typeface="Helvetica"/>
              </a:rPr>
              <a:t>gnatprove</a:t>
            </a:r>
            <a:r>
              <a:rPr lang="en-US" dirty="0">
                <a:latin typeface="Helvetica"/>
                <a:cs typeface="Helvetica"/>
              </a:rPr>
              <a:t> is able to prove</a:t>
            </a:r>
          </a:p>
          <a:p>
            <a:pPr marL="0" indent="0">
              <a:buNone/>
            </a:pPr>
            <a:endParaRPr lang="en-US" dirty="0">
              <a:latin typeface="Helvetica"/>
              <a:cs typeface="Helvetica"/>
            </a:endParaRPr>
          </a:p>
          <a:p>
            <a:pPr marL="0" indent="0">
              <a:buNone/>
            </a:pPr>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410870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AACB416-E7B7-2A6C-333C-1F42ED35FEFA}"/>
              </a:ext>
            </a:extLst>
          </p:cNvPr>
          <p:cNvSpPr txBox="1">
            <a:spLocks/>
          </p:cNvSpPr>
          <p:nvPr/>
        </p:nvSpPr>
        <p:spPr>
          <a:xfrm>
            <a:off x="1278636" y="532659"/>
            <a:ext cx="21859545" cy="2286000"/>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endParaRPr lang="en-US" dirty="0"/>
          </a:p>
        </p:txBody>
      </p:sp>
      <p:sp>
        <p:nvSpPr>
          <p:cNvPr id="5" name="Content Placeholder 1">
            <a:extLst>
              <a:ext uri="{FF2B5EF4-FFF2-40B4-BE49-F238E27FC236}">
                <a16:creationId xmlns:a16="http://schemas.microsoft.com/office/drawing/2014/main" id="{FC37505F-48E3-037E-473F-10672BABFB96}"/>
              </a:ext>
            </a:extLst>
          </p:cNvPr>
          <p:cNvSpPr txBox="1">
            <a:spLocks/>
          </p:cNvSpPr>
          <p:nvPr/>
        </p:nvSpPr>
        <p:spPr>
          <a:xfrm>
            <a:off x="1754187" y="4724400"/>
            <a:ext cx="21859545" cy="6553199"/>
          </a:xfrm>
        </p:spPr>
        <p:txBody>
          <a:bodyPr vert="horz" lIns="243840" tIns="121920" rIns="243840" bIns="121920" rtlCol="0" anchor="t">
            <a:norm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i="1" dirty="0">
                <a:latin typeface="Helvetica"/>
                <a:cs typeface="Helvetica"/>
              </a:rPr>
              <a:t>“We shall do a much better programming job, provided that we approach the task with a full appreciation of its tremendous difficulty, provided that we stick to modest and elegant programming languages, provided that we respect the intrinsic limitations of the human mind and approach the task as Very Humble Programmers.”</a:t>
            </a:r>
          </a:p>
          <a:p>
            <a:pPr marL="0" indent="0">
              <a:buNone/>
            </a:pPr>
            <a:r>
              <a:rPr lang="en-US" i="1" dirty="0">
                <a:latin typeface="Helvetica"/>
                <a:cs typeface="Helvetica"/>
              </a:rPr>
              <a:t>                                                               </a:t>
            </a:r>
            <a:r>
              <a:rPr lang="en-US" dirty="0" err="1">
                <a:latin typeface="Helvetica"/>
                <a:cs typeface="Helvetica"/>
              </a:rPr>
              <a:t>Edsger</a:t>
            </a:r>
            <a:r>
              <a:rPr lang="en-US" dirty="0">
                <a:latin typeface="Helvetica"/>
                <a:cs typeface="Helvetica"/>
              </a:rPr>
              <a:t> W. Dijkstra, 1972</a:t>
            </a:r>
            <a:endParaRPr lang="en-US" i="1" dirty="0">
              <a:latin typeface="Helvetica"/>
              <a:cs typeface="Helvetica"/>
            </a:endParaRPr>
          </a:p>
          <a:p>
            <a:pPr marL="0" indent="0">
              <a:buNone/>
            </a:pPr>
            <a:endParaRPr lang="en-US" dirty="0">
              <a:latin typeface="Helvetica"/>
              <a:cs typeface="Helvetica"/>
            </a:endParaRPr>
          </a:p>
          <a:p>
            <a:pPr marL="0" indent="0">
              <a:buNone/>
            </a:pPr>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pPr marL="0" indent="0">
              <a:buNone/>
            </a:pPr>
            <a:endParaRPr lang="en-US" dirty="0">
              <a:latin typeface="Helvetica"/>
              <a:cs typeface="Helvetica"/>
            </a:endParaRPr>
          </a:p>
          <a:p>
            <a:endParaRPr lang="en-US" dirty="0"/>
          </a:p>
          <a:p>
            <a:pPr marL="0" indent="0">
              <a:buNone/>
            </a:pPr>
            <a:endParaRPr lang="en-US" dirty="0">
              <a:cs typeface="Helvetica" pitchFamily="34" charset="0"/>
            </a:endParaRPr>
          </a:p>
        </p:txBody>
      </p:sp>
    </p:spTree>
    <p:extLst>
      <p:ext uri="{BB962C8B-B14F-4D97-AF65-F5344CB8AC3E}">
        <p14:creationId xmlns:p14="http://schemas.microsoft.com/office/powerpoint/2010/main" val="2331540213"/>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N_Corporate Template_20xx_Mac" id="{15874106-DCD0-7342-B376-7785405F0A9F}" vid="{3BEBCF33-ABE0-EE4B-9A7D-4F204A82C0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A3E9F7280FED439F61B57FF8937FEA" ma:contentTypeVersion="9" ma:contentTypeDescription="Create a new document." ma:contentTypeScope="" ma:versionID="3aaad252b3a7042b3b026efeacfa375c">
  <xsd:schema xmlns:xsd="http://www.w3.org/2001/XMLSchema" xmlns:xs="http://www.w3.org/2001/XMLSchema" xmlns:p="http://schemas.microsoft.com/office/2006/metadata/properties" xmlns:ns2="5304e90e-7ba9-41b6-9056-f7b3cef0da5e" xmlns:ns3="9126721b-ec10-4598-8036-93cd16cd3b19" targetNamespace="http://schemas.microsoft.com/office/2006/metadata/properties" ma:root="true" ma:fieldsID="8489c9c62b933d142189b41842d9b7b5" ns2:_="" ns3:_="">
    <xsd:import namespace="5304e90e-7ba9-41b6-9056-f7b3cef0da5e"/>
    <xsd:import namespace="9126721b-ec10-4598-8036-93cd16cd3b1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04e90e-7ba9-41b6-9056-f7b3cef0d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26721b-ec10-4598-8036-93cd16cd3b1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C50DF3-A7B6-4356-AA1A-8A18B844DB2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0747B4B-60D3-404C-8577-630FC96D1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04e90e-7ba9-41b6-9056-f7b3cef0da5e"/>
    <ds:schemaRef ds:uri="9126721b-ec10-4598-8036-93cd16cd3b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489DBC7-BE63-4A21-BED2-20F8C31E30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49126</TotalTime>
  <Words>2898</Words>
  <Application>Microsoft Macintosh PowerPoint</Application>
  <PresentationFormat>Custom</PresentationFormat>
  <Paragraphs>383</Paragraphs>
  <Slides>45</Slides>
  <Notes>34</Notes>
  <HiddenSlides>15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Helvetica</vt:lpstr>
      <vt:lpstr>Helvetica Neue</vt:lpstr>
      <vt:lpstr>Office Theme</vt:lpstr>
      <vt:lpstr>HiRTOS: A Multi-Core RTOS written in SPARK Ada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German Rivera</dc:creator>
  <cp:keywords/>
  <dc:description/>
  <cp:lastModifiedBy>Microsoft Office User</cp:lastModifiedBy>
  <cp:revision>123</cp:revision>
  <dcterms:created xsi:type="dcterms:W3CDTF">2023-12-08T16:36:51Z</dcterms:created>
  <dcterms:modified xsi:type="dcterms:W3CDTF">2024-06-13T13:11:00Z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0x010100CAA3E9F7280FED439F61B57FF8937FEA</vt:lpwstr>
  </property>
  <property fmtid="{D5CDD505-2E9C-101B-9397-08002B2CF9AE}" pid="3" name="MSIP_Label_68494b15-2884-42b7-a283-b08ec0f18ca1_Enabled">
    <vt:lpwstr>true</vt:lpwstr>
  </property>
  <property fmtid="{D5CDD505-2E9C-101B-9397-08002B2CF9AE}" pid="4" name="MSIP_Label_68494b15-2884-42b7-a283-b08ec0f18ca1_SetDate">
    <vt:lpwstr>2024-06-04T13:00:45Z</vt:lpwstr>
  </property>
  <property fmtid="{D5CDD505-2E9C-101B-9397-08002B2CF9AE}" pid="5" name="MSIP_Label_68494b15-2884-42b7-a283-b08ec0f18ca1_Method">
    <vt:lpwstr>Privileged</vt:lpwstr>
  </property>
  <property fmtid="{D5CDD505-2E9C-101B-9397-08002B2CF9AE}" pid="6" name="MSIP_Label_68494b15-2884-42b7-a283-b08ec0f18ca1_Name">
    <vt:lpwstr>Public</vt:lpwstr>
  </property>
  <property fmtid="{D5CDD505-2E9C-101B-9397-08002B2CF9AE}" pid="7" name="MSIP_Label_68494b15-2884-42b7-a283-b08ec0f18ca1_SiteId">
    <vt:lpwstr>9026c5f4-86d0-4b9f-bd39-b7d4d0fb4674</vt:lpwstr>
  </property>
  <property fmtid="{D5CDD505-2E9C-101B-9397-08002B2CF9AE}" pid="8" name="MSIP_Label_68494b15-2884-42b7-a283-b08ec0f18ca1_ActionId">
    <vt:lpwstr>1d0c9818-de34-438b-93c2-da817992f5c3</vt:lpwstr>
  </property>
  <property fmtid="{D5CDD505-2E9C-101B-9397-08002B2CF9AE}" pid="9" name="MSIP_Label_68494b15-2884-42b7-a283-b08ec0f18ca1_ContentBits">
    <vt:lpwstr>0</vt:lpwstr>
  </property>
</Properties>
</file>